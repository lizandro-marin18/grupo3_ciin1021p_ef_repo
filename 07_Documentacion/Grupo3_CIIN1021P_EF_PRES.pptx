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harts/chart2.xml" ContentType="application/vnd.openxmlformats-officedocument.drawingml.chart+xml"/>
  <Override PartName="/ppt/notesSlides/notesSlide19.xml" ContentType="application/vnd.openxmlformats-officedocument.presentationml.notesSlide+xml"/>
  <Override PartName="/ppt/charts/chart3.xml" ContentType="application/vnd.openxmlformats-officedocument.drawingml.chart+xml"/>
  <Override PartName="/ppt/notesSlides/notesSlide20.xml" ContentType="application/vnd.openxmlformats-officedocument.presentationml.notesSlide+xml"/>
  <Override PartName="/ppt/charts/chart4.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6"/>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7" r:id="rId21"/>
    <p:sldId id="276" r:id="rId22"/>
    <p:sldId id="278" r:id="rId23"/>
    <p:sldId id="279" r:id="rId24"/>
    <p:sldId id="280" r:id="rId2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arte 1" id="{3AD19427-2316-0350-FCC6-53989C293E85}">
          <p14:sldIdLst>
            <p14:sldId id="256"/>
            <p14:sldId id="258"/>
            <p14:sldId id="259"/>
            <p14:sldId id="260"/>
            <p14:sldId id="261"/>
            <p14:sldId id="262"/>
            <p14:sldId id="263"/>
            <p14:sldId id="264"/>
            <p14:sldId id="265"/>
            <p14:sldId id="266"/>
          </p14:sldIdLst>
        </p14:section>
        <p14:section name="Parte 2" id="{14E02D18-3008-59BB-3239-99BEB4873554}">
          <p14:sldIdLst>
            <p14:sldId id="267"/>
            <p14:sldId id="268"/>
            <p14:sldId id="269"/>
            <p14:sldId id="270"/>
            <p14:sldId id="271"/>
            <p14:sldId id="272"/>
            <p14:sldId id="273"/>
          </p14:sldIdLst>
        </p14:section>
        <p14:section name="Parte 3" id="{97120C07-F82A-466E-8E4B-C6B40F225B29}">
          <p14:sldIdLst>
            <p14:sldId id="274"/>
            <p14:sldId id="275"/>
            <p14:sldId id="277"/>
            <p14:sldId id="276"/>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85" d="100"/>
          <a:sy n="85" d="100"/>
        </p:scale>
        <p:origin x="56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0"/>
        <c:ser>
          <c:idx val="0"/>
          <c:order val="0"/>
          <c:tx>
            <c:strRef>
              <c:f>Sheet1!$B$1</c:f>
              <c:strCache>
                <c:ptCount val="1"/>
                <c:pt idx="0">
                  <c:v>Ventas netas (S/)</c:v>
                </c:pt>
              </c:strCache>
            </c:strRef>
          </c:tx>
          <c:spPr>
            <a:solidFill>
              <a:srgbClr val="D7263D"/>
            </a:solidFill>
            <a:effectLst/>
          </c:spPr>
          <c:invertIfNegative val="0"/>
          <c:dLbls>
            <c:numFmt formatCode="#,##0" sourceLinked="0"/>
            <c:spPr>
              <a:noFill/>
              <a:ln>
                <a:noFill/>
              </a:ln>
              <a:effectLst/>
            </c:spPr>
            <c:txPr>
              <a:bodyPr/>
              <a:lstStyle/>
              <a:p>
                <a:pPr>
                  <a:defRPr sz="1200" b="0" i="0" u="none" strike="noStrike">
                    <a:solidFill>
                      <a:srgbClr val="111111"/>
                    </a:solidFill>
                    <a:latin typeface="+mn-lt"/>
                  </a:defRPr>
                </a:pPr>
                <a:endParaRPr lang="es-P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2025-T4</c:v>
                </c:pt>
                <c:pt idx="1">
                  <c:v>2026-T1</c:v>
                </c:pt>
                <c:pt idx="2">
                  <c:v>2026-T2</c:v>
                </c:pt>
                <c:pt idx="3">
                  <c:v>2026-T3</c:v>
                </c:pt>
              </c:strCache>
            </c:strRef>
          </c:cat>
          <c:val>
            <c:numRef>
              <c:f>Sheet1!$B$2:$B$5</c:f>
              <c:numCache>
                <c:formatCode>General</c:formatCode>
                <c:ptCount val="4"/>
                <c:pt idx="0">
                  <c:v>324230</c:v>
                </c:pt>
                <c:pt idx="1">
                  <c:v>460019</c:v>
                </c:pt>
                <c:pt idx="2">
                  <c:v>428617</c:v>
                </c:pt>
                <c:pt idx="3">
                  <c:v>483028</c:v>
                </c:pt>
              </c:numCache>
            </c:numRef>
          </c:val>
          <c:extLst>
            <c:ext xmlns:c16="http://schemas.microsoft.com/office/drawing/2014/chart" uri="{C3380CC4-5D6E-409C-BE32-E72D297353CC}">
              <c16:uniqueId val="{00000000-8862-47F2-95FC-E6FA74873D68}"/>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11111"/>
                </a:solidFill>
                <a:latin typeface="+mn-lt"/>
              </a:defRPr>
            </a:pPr>
            <a:endParaRPr lang="es-PE"/>
          </a:p>
        </c:txPr>
        <c:crossAx val="2094734552"/>
        <c:crosses val="autoZero"/>
        <c:auto val="1"/>
        <c:lblAlgn val="ctr"/>
        <c:lblOffset val="100"/>
        <c:noMultiLvlLbl val="1"/>
      </c:catAx>
      <c:valAx>
        <c:axId val="2094734552"/>
        <c:scaling>
          <c:orientation val="minMax"/>
          <c:max val="560000"/>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0"/>
        <c:ser>
          <c:idx val="0"/>
          <c:order val="0"/>
          <c:tx>
            <c:strRef>
              <c:f>Sheet1!$B$1</c:f>
              <c:strCache>
                <c:ptCount val="1"/>
                <c:pt idx="0">
                  <c:v>SQL Server</c:v>
                </c:pt>
              </c:strCache>
            </c:strRef>
          </c:tx>
          <c:spPr>
            <a:solidFill>
              <a:srgbClr val="111111"/>
            </a:solidFill>
            <a:effectLst/>
          </c:spPr>
          <c:invertIfNegative val="0"/>
          <c:dLbls>
            <c:numFmt formatCode="0.00" sourceLinked="0"/>
            <c:spPr>
              <a:noFill/>
              <a:ln>
                <a:noFill/>
              </a:ln>
              <a:effectLst/>
            </c:spPr>
            <c:txPr>
              <a:bodyPr/>
              <a:lstStyle/>
              <a:p>
                <a:pPr>
                  <a:defRPr sz="1200" b="0" i="0" u="none" strike="noStrike">
                    <a:solidFill>
                      <a:srgbClr val="111111"/>
                    </a:solidFill>
                    <a:latin typeface="+mn-lt"/>
                  </a:defRPr>
                </a:pPr>
                <a:endParaRPr lang="es-P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Ventas y pagos</c:v>
                </c:pt>
                <c:pt idx="1">
                  <c:v>Reseñas y catálogo</c:v>
                </c:pt>
              </c:strCache>
            </c:strRef>
          </c:cat>
          <c:val>
            <c:numRef>
              <c:f>Sheet1!$B$2:$B$3</c:f>
              <c:numCache>
                <c:formatCode>General</c:formatCode>
                <c:ptCount val="2"/>
                <c:pt idx="0">
                  <c:v>4.3499999999999996</c:v>
                </c:pt>
                <c:pt idx="1">
                  <c:v>2.5499999999999998</c:v>
                </c:pt>
              </c:numCache>
            </c:numRef>
          </c:val>
          <c:extLst>
            <c:ext xmlns:c16="http://schemas.microsoft.com/office/drawing/2014/chart" uri="{C3380CC4-5D6E-409C-BE32-E72D297353CC}">
              <c16:uniqueId val="{00000000-2615-48A4-9695-20474E0F87FD}"/>
            </c:ext>
          </c:extLst>
        </c:ser>
        <c:ser>
          <c:idx val="1"/>
          <c:order val="1"/>
          <c:tx>
            <c:strRef>
              <c:f>Sheet1!$C$1</c:f>
              <c:strCache>
                <c:ptCount val="1"/>
                <c:pt idx="0">
                  <c:v>MongoDB</c:v>
                </c:pt>
              </c:strCache>
            </c:strRef>
          </c:tx>
          <c:spPr>
            <a:solidFill>
              <a:srgbClr val="1B998B"/>
            </a:solidFill>
            <a:effectLst/>
          </c:spPr>
          <c:invertIfNegative val="0"/>
          <c:dLbls>
            <c:numFmt formatCode="0.00" sourceLinked="0"/>
            <c:spPr>
              <a:noFill/>
              <a:ln>
                <a:noFill/>
              </a:ln>
              <a:effectLst/>
            </c:spPr>
            <c:txPr>
              <a:bodyPr/>
              <a:lstStyle/>
              <a:p>
                <a:pPr>
                  <a:defRPr sz="1200" b="0" i="0" u="none" strike="noStrike">
                    <a:solidFill>
                      <a:srgbClr val="111111"/>
                    </a:solidFill>
                    <a:latin typeface="+mn-lt"/>
                  </a:defRPr>
                </a:pPr>
                <a:endParaRPr lang="es-P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Ventas y pagos</c:v>
                </c:pt>
                <c:pt idx="1">
                  <c:v>Reseñas y catálogo</c:v>
                </c:pt>
              </c:strCache>
            </c:strRef>
          </c:cat>
          <c:val>
            <c:numRef>
              <c:f>Sheet1!$C$2:$C$3</c:f>
              <c:numCache>
                <c:formatCode>General</c:formatCode>
                <c:ptCount val="2"/>
                <c:pt idx="0">
                  <c:v>3.2</c:v>
                </c:pt>
                <c:pt idx="1">
                  <c:v>4.7</c:v>
                </c:pt>
              </c:numCache>
            </c:numRef>
          </c:val>
          <c:extLst>
            <c:ext xmlns:c16="http://schemas.microsoft.com/office/drawing/2014/chart" uri="{C3380CC4-5D6E-409C-BE32-E72D297353CC}">
              <c16:uniqueId val="{00000001-2615-48A4-9695-20474E0F87FD}"/>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11111"/>
                </a:solidFill>
                <a:latin typeface="+mn-lt"/>
              </a:defRPr>
            </a:pPr>
            <a:endParaRPr lang="es-PE"/>
          </a:p>
        </c:txPr>
        <c:crossAx val="2094734552"/>
        <c:crosses val="autoZero"/>
        <c:auto val="1"/>
        <c:lblAlgn val="ctr"/>
        <c:lblOffset val="100"/>
        <c:noMultiLvlLbl val="1"/>
      </c:catAx>
      <c:valAx>
        <c:axId val="2094734552"/>
        <c:scaling>
          <c:orientation val="minMax"/>
          <c:max val="5.5"/>
          <c:min val="0"/>
        </c:scaling>
        <c:delete val="1"/>
        <c:axPos val="l"/>
        <c:numFmt formatCode="General" sourceLinked="0"/>
        <c:majorTickMark val="out"/>
        <c:minorTickMark val="none"/>
        <c:tickLblPos val="nextTo"/>
        <c:crossAx val="2094734554"/>
        <c:crosses val="autoZero"/>
        <c:crossBetween val="between"/>
      </c:valAx>
      <c:spPr>
        <a:noFill/>
        <a:ln>
          <a:noFill/>
        </a:ln>
        <a:effectLst/>
      </c:spPr>
    </c:plotArea>
    <c:legend>
      <c:legendPos val="b"/>
      <c:overlay val="0"/>
      <c:txPr>
        <a:bodyPr/>
        <a:lstStyle/>
        <a:p>
          <a:pPr>
            <a:defRPr sz="1300">
              <a:solidFill>
                <a:srgbClr val="111111"/>
              </a:solidFill>
              <a:latin typeface="+mn-lt"/>
              <a:cs typeface="+mn-lt"/>
            </a:defRPr>
          </a:pPr>
          <a:endParaRPr lang="es-PE"/>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barChart>
        <c:barDir val="col"/>
        <c:grouping val="clustered"/>
        <c:varyColors val="0"/>
        <c:ser>
          <c:idx val="0"/>
          <c:order val="0"/>
          <c:tx>
            <c:strRef>
              <c:f>Sheet1!$B$1</c:f>
              <c:strCache>
                <c:ptCount val="1"/>
                <c:pt idx="0">
                  <c:v>Ventas netas (S/)</c:v>
                </c:pt>
              </c:strCache>
            </c:strRef>
          </c:tx>
          <c:spPr>
            <a:solidFill>
              <a:srgbClr val="D7263D"/>
            </a:solidFill>
            <a:effectLst/>
          </c:spPr>
          <c:invertIfNegative val="0"/>
          <c:dLbls>
            <c:numFmt formatCode="#,##0" sourceLinked="0"/>
            <c:spPr>
              <a:noFill/>
              <a:ln>
                <a:noFill/>
              </a:ln>
              <a:effectLst/>
            </c:spPr>
            <c:txPr>
              <a:bodyPr/>
              <a:lstStyle/>
              <a:p>
                <a:pPr>
                  <a:defRPr sz="1200" b="0" i="0" u="none" strike="noStrike">
                    <a:solidFill>
                      <a:srgbClr val="111111"/>
                    </a:solidFill>
                    <a:latin typeface="+mn-lt"/>
                  </a:defRPr>
                </a:pPr>
                <a:endParaRPr lang="es-PE"/>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Lunes</c:v>
                </c:pt>
                <c:pt idx="1">
                  <c:v>Martes</c:v>
                </c:pt>
                <c:pt idx="2">
                  <c:v>Miércoles</c:v>
                </c:pt>
                <c:pt idx="3">
                  <c:v>Jueves</c:v>
                </c:pt>
                <c:pt idx="4">
                  <c:v>Viernes</c:v>
                </c:pt>
                <c:pt idx="5">
                  <c:v>Sábado</c:v>
                </c:pt>
                <c:pt idx="6">
                  <c:v>Domingo</c:v>
                </c:pt>
              </c:strCache>
            </c:strRef>
          </c:cat>
          <c:val>
            <c:numRef>
              <c:f>Sheet1!$B$2:$B$8</c:f>
              <c:numCache>
                <c:formatCode>General</c:formatCode>
                <c:ptCount val="7"/>
                <c:pt idx="0">
                  <c:v>150499</c:v>
                </c:pt>
                <c:pt idx="1">
                  <c:v>148856</c:v>
                </c:pt>
                <c:pt idx="2">
                  <c:v>160849</c:v>
                </c:pt>
                <c:pt idx="3">
                  <c:v>162221</c:v>
                </c:pt>
                <c:pt idx="4">
                  <c:v>220458</c:v>
                </c:pt>
                <c:pt idx="5">
                  <c:v>299372</c:v>
                </c:pt>
                <c:pt idx="6">
                  <c:v>347408</c:v>
                </c:pt>
              </c:numCache>
            </c:numRef>
          </c:val>
          <c:extLst>
            <c:ext xmlns:c16="http://schemas.microsoft.com/office/drawing/2014/chart" uri="{C3380CC4-5D6E-409C-BE32-E72D297353CC}">
              <c16:uniqueId val="{00000000-FF1F-4C74-AD8B-AB7746897A8C}"/>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11111"/>
                </a:solidFill>
                <a:latin typeface="+mn-lt"/>
              </a:defRPr>
            </a:pPr>
            <a:endParaRPr lang="es-PE"/>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5E5E5"/>
              </a:solidFill>
              <a:prstDash val="solid"/>
              <a:round/>
            </a:ln>
          </c:spPr>
        </c:majorGridlines>
        <c:numFmt formatCode="#,##0"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5A5A"/>
                </a:solidFill>
                <a:latin typeface="+mn-lt"/>
              </a:defRPr>
            </a:pPr>
            <a:endParaRPr lang="es-PE"/>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autoTitleDeleted val="1"/>
    <c:plotArea>
      <c:layout>
        <c:manualLayout>
          <c:layoutTarget val="inner"/>
          <c:xMode val="edge"/>
          <c:yMode val="edge"/>
          <c:x val="0.19558500309412541"/>
          <c:y val="0.14575957260661565"/>
          <c:w val="0.80441499690587459"/>
          <c:h val="0.59363796280784054"/>
        </c:manualLayout>
      </c:layout>
      <c:barChart>
        <c:barDir val="col"/>
        <c:grouping val="clustered"/>
        <c:varyColors val="0"/>
        <c:dLbls>
          <c:showLegendKey val="0"/>
          <c:showVal val="0"/>
          <c:showCatName val="0"/>
          <c:showSerName val="0"/>
          <c:showPercent val="0"/>
          <c:showBubbleSize val="0"/>
        </c:dLbls>
        <c:gapWidth val="4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111111"/>
                </a:solidFill>
                <a:latin typeface="+mn-lt"/>
              </a:defRPr>
            </a:pPr>
            <a:endParaRPr lang="es-PE"/>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5E5E5"/>
              </a:solidFill>
              <a:prstDash val="solid"/>
              <a:round/>
            </a:ln>
          </c:spPr>
        </c:majorGridlines>
        <c:title>
          <c:tx>
            <c:rich>
              <a:bodyPr/>
              <a:lstStyle/>
              <a:p>
                <a:pPr>
                  <a:defRPr sz="1200" b="0" i="0" u="none" strike="noStrike">
                    <a:solidFill>
                      <a:srgbClr val="5A5A5A"/>
                    </a:solidFill>
                    <a:latin typeface="+mn-lt"/>
                  </a:defRPr>
                </a:pPr>
                <a:r>
                  <a:rPr lang="es-PE" sz="1200" b="0" i="0" u="none" strike="noStrike">
                    <a:solidFill>
                      <a:srgbClr val="5A5A5A"/>
                    </a:solidFill>
                    <a:latin typeface="+mn-lt"/>
                  </a:rPr>
                  <a:t>Segundos</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A5A5A"/>
                </a:solidFill>
                <a:latin typeface="+mn-lt"/>
              </a:defRPr>
            </a:pPr>
            <a:endParaRPr lang="es-PE"/>
          </a:p>
        </c:txPr>
        <c:crossAx val="2094734554"/>
        <c:crosses val="autoZero"/>
        <c:crossBetween val="between"/>
      </c:valAx>
      <c:spPr>
        <a:noFill/>
        <a:ln w="25400">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814407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[Deivys Florián · 15 s]
Buenas tardes. Somos el Grupo 3 y les vamos a presentar el sistema de base de datos que armamos para la cevichería La Esquina, de Cajamarca: un sistema automatizado, seguro y con inteligencia de negocios para decidir con datos.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[Deivys Florián · 30 s]
La Esquina vende por salón, para llevar, delivery propio y por dos aplicaciones, PedidosYa y Rappi. El profesor nos autorizó adaptar el desafío DataSalud a este negocio. El problema era el mismo que en el caso original: las ventas, los pagos, el personal y las reseñas vivían separados, nadie sabía quién cambiaba qué dato, los DNI, correos y salarios no tenían protección por roles, y la gerencia no podía ver qué platos y canales dejan más ganancia.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[Deivys Florián · 20 s]
Nuestro objetivo general es proponer un sistema integrado de base de datos que automatice los procesos con T-SQL, apoye las decisiones con inteligencia de negocios y maneje datos estructurados y semiestructurados con Big Data, siempre con seguridad y trazabilidad conforme a la Ley 29733. Para la gerencia lo traducimos en un tablero de al menos cinco KPIs que se actualice con un solo ETL en menos de cinco segundos.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[Deivys Florián · 30 s]
Lo bajamos a cuatro objetivos medibles. El uno, automatizar con T-SQL: la meta era dos procedimientos, dos triggers y una función, y llegamos a cuatro, cinco y tres. El dos, decisiones con BI: la meta era un hecho, tres dimensiones y tres KPIs; hicimos un hecho, siete dimensiones y once KPIs, con un ETL de 1.52 segundos. El tres, Spark: cuatro fuentes y tres volúmenes. Y el cuatro, un flujo único y reproducible, con repositorio y matriz de trazabilidad.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[Deivys Florián · 40 s]
Trabajamos con nueve conjuntos de datos y 69 847 filas al inicio. Como no teníamos datos reales de un negocio, los generamos: la base del personal y de los pedidos salió de Mockaroo y luego un script en Python, con semilla fija, los amplió a más de cinco mil filas en cada dataset transaccional. El periodo va del 1 de octubre de 2025 al 27 de septiembre de 2026. Los más grandes son el detalle de pedidos, con 35 519 filas, y los pedidos, con 12 038. También hay un CSV que imita las exportaciones de PedidosYa y Rappi, un JSON con 5 200 reseñas y una tabla de feriados.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[Deivys Florián · 40 s]
A esos datos les inyectamos los problemas típicos de un negocio real, a propósito, para poder contarlos y verificar que la limpieza funciona: nulos, duplicados, formatos mal escritos, montos negativos y líneas de detalle sin pedido. En total son 5 078 casos. Los más grandes son 2 755 nombres de plato mal escritos en el CSV de las apps y 1 080 pedidos sin cliente. Después de la carga validada quedaron 11 982 pedidos de 12 038, 35 467 líneas de 35 519 y 5 501 clientes de 5 545. Ahora Haziel les muestra dónde guardamos todo esto.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[Haziel Salazar · 40 s]
Gracias, Deivys. Los datos limpios van a una base en SQL Server con ocho tablas: tres maestras, que son Cliente, Empleado y Plato; tres transaccionales, que son Pedido, Detalle de pedido y Asistencia; y dos de control, el log de auditoría y el log de errores. Un pedido tiene varias líneas de detalle, y de ahí sale el margen por plato.</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[Haziel Salazar · 110 s]
Las reglas de negocio las pusimos dentro del motor: cuatro procedimientos, cinco triggers y tres funciones, todos con TRY/CATCH y transacciones, y con savepoints en el ingreso de pedidos, de modo que si una línea falla solo se revierte esa línea. El resultado de la carga masiva: de 12 038 pedidos crudos se aceptaron 11 982; se rechazaron 18 por monto cero o negativo, todos con registro en el log, y 52 líneas huérfanas. Les muestro un ejemplo. [DEMO] Intento insertar un pedido con monto menos diez: el trigger lo revierte y lanza el error 51030, y queda un registro de intento bloqueado en el log de auditoría. Elegimos esta lógica en la base y no en la aplicación porque así la regla se cumple venga el dato de donde venga, incluso desde SSMS.
DEMO: Ejecutar en SSMS el caso P3 de 05_Pruebas_Validacion.sql (INSERT en Pedido con monto -10) y luego SELECT TOP 5 * FROM Log_Auditoria ORDER BY id_log DESC. Plan B: las dos capturas de la diapositiva.</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[Elmer Vásquez · 70 s]
Yo les cuento cómo protegimos esos datos. Creamos seis roles con privilegios distintos: el administrador gestiona el negocio pero no puede tocar el log de auditoría; el analista hace BI sin ver DNI, correos ni salarios; el auditor lee solo el log; el vendedor registra ventas únicamente con el procedimiento validado; el cliente ve solo su historial, con seguridad por fila; y cocina ve platos y cantidades. Además enmascaramos los datos sensibles y tenemos un respaldo completo, diferencial y de log, con una restauración probada. Esto cubre los artículos 8, 9, 11, 16 y 17 de la Ley 29733 y siete controles de ISO 27001. Sin estas medidas, cualquier usuario con permiso de lectura vería 5 468 DNI y 5 335 correos. [DEMO] Con el rol de analista intento leer los salarios y el motor me lo niega.
DEMO: En SSMS: EXECUTE AS USER = 'u_analista'; SELECT TOP 3 * FROM dbo.Empleado; (permiso denegado); luego REVERT. Opción 2: EXECUTE AS USER = 'u_vendedor' e intentar DELETE sobre Pedido (denegado). Todo está en las pruebas T1 a T5 de 06_Roles_Privilegios_RLS.sql. Plan B: Figura 8 del informe.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[Elmer Vásquez · 45 s]
Identificamos siete riesgos y todos tienen mitigación y un resultado. Los dos críticos son perder o alterar la tabla de auditoría, que bloqueamos con un DENY y un trigger que prohíbe modificarla y que probamos con el error 51040, y exponer datos personales en el entorno analítico, donde el almacén no guarda DNI, correo ni salario. También cubrimos formatos sucios en los CSV, la carga de los respaldos en horas punta, los límites de memoria para Spark y una falla de Power BI o SQL Server en la sustentación, para la que tenemos un plan alterno.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[Elmer Vásquez · 15 s]
Con la base lista pasamos a la parte dos. El objetivo de decisión es incrementar las ventas y el margen de La Esquina priorizando lo que más rinde, y para eso la gerencia necesita responder tres preguntas: qué vender, cuándo reforzar y por qué canal.</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[Elmer Vásquez · 50 s]
Para responder esas preguntas armamos un Data Warehouse en estrella con la metodología de Kimball: una tabla de hechos de ventas, donde cada fila es una línea de pedido, y siete dimensiones. El ETL en Python extrae de SQL Server y del CSV de las apps, limpia, normaliza y carga: quitó 60 duplicados, normalizó 2 755 nombres de plato y pseudonimizó el DNI. El resultado son 40 867 hechos, cero llaves nulas, cero discrepancias con los montos originales, y todo en 1.52 segundos. Elegimos Kimball porque da un resultado útil en las ocho semanas del ciclo y porque sus dimensiones compartidas integran SQL Server y las apps sin rediseñar nada.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[Neda Merino · 35 s]
Gracias, Elmer. Sobre ese almacén calculamos once KPIs gobernados, cada uno con su fuente, fórmula y responsable. Entre octubre de 2025 y septiembre de 2026 la cevichería vendió S/ 1 695 894 netos en 17 382 pedidos, con un ticket promedio de S/ 97.57 y un margen bruto de 64.8 %. El 62.3 % de los clientes identificados vuelve a comprar. Y las aplicaciones aportan el 12.2 % de las ventas, pero cobran S/ 57 130 en comisiones.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[Neda Merino · 40 s]
Este es el tablero en Power BI, construido sobre el almacén. [DEMO] Aquí vemos las ventas por mes, los ocho platos más vendidos, las ventas por canal, el mapa de calor por día y turno, y las ventas por categoría. Cada página responde una de las tres preguntas de la gerencia.
DEMO: Abrir DASHBOARD.pbix, mostrar las tarjetas, cambiar un segmentador (canal o trimestre) y volver. Plan B: la imagen de la diapositiva y dashboard_Hoja1-3.png.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[Neda Merino · 40 s]
Sobre el almacén ejecutamos cinco operaciones OLAP. En el roll-up resumimos los días en trimestres: el tercer trimestre de 2026 es el mejor, con S/ 483 028. En el drill-down bajamos de la categoría Ceviches a sus platos, y el Tiradito Nikkei lidera con S/ 135 945. El slice fija el canal PedidosYa, el dice cruza el primer trimestre con ceviches y arroces pagados con Yape o Plin, que suman S/ 86 153, y el pivot cruza día y turno. Cada una tiene su consulta en T-SQL con ROLLUP, CUBE y GROUPING SETS.
DEMO: En el tablero, hacer drill-down de Ceviches a platos (jerarquía categoría → plato).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[Neda Merino · 35 s]
El tablero responde las tres preguntas. Qué vender: los ceviches son el 40.1 % de las ventas, y como los márgenes por categoría son parecidos, entre 62.7 % y 67.8 %, lo que manda es el volumen. Cuándo: el 58.2 % de las ventas de los canales propios es de viernes a domingo, y el domingo al almuerzo llega a S/ 176 406. Por qué canal: las apps se llevan el 21.7 % de la venta bruta en comisión y su margen es 60 %, frente a 65.4 % en los canales propios.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[Neda Merino · 30 s]
De eso salen cinco estrategias. Impulsar los ceviches y el Tiradito Nikkei. Hacer promociones de lunes a jueves en la tarde y la noche, que son los turnos más débiles. Priorizar salón y delivery propio, que dejan más margen. Revisar las comisiones de las apps. Y reforzar el personal el domingo al almuerzo. Ahora Amir nos muestra qué pasa cuando los datos crecen.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[Amir Sáenz · 30 s]
Gracias, Neda. Antes de Spark, una decisión de arquitectura. Comparamos SQL Server y MongoDB con cuatro criterios ponderados: modelo de datos, consistencia, escalabilidad y latencia. Para ventas y pagos gana SQL Server, 4.35 contra 3.20, porque los cobros necesitan transacciones. Para reseñas y catálogo gana MongoDB, 4.70 contra 2.55, porque cada reseña trae campos distintos. Por eso la arquitectura es híbrida, y ya ejecutamos el CRUD completo en MongoDB con las 5 200 reseñas.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9219503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[Amir Sáenz · 30 s]
Con Spark procesamos cuatro fuentes: el almacén, el CSV de las apps, el JSON de reseñas y la asistencia del personal. En este primer gráfico, calculado con DataFrames, el domingo vende S/ 347 408, más del doble que el promedio de lunes a jueves, y viernes, sábado y domingo concentran el 58.2 % de las ventas.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[Amir Sáenz · 45 s]
El tercer gráfico compara una misma agregación en cuatro motores, con la tabla de hechos multiplicada por uno, diez y cincuenta. Con el volumen real, 40 867 filas, SQL Server tarda 0.031 segundos y Spark 0.707: es 23 veces más lento por el costo de arrancar. Al crecer, la brecha baja a 3.9 veces con más de dos millones de filas, y Spark ya supera a SQLite. Nuestra conclusión es clara: con el volumen actual la solución es SQL Server con Power BI, y Spark queda lista para cuando La Esquina crezca a una cadena.</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[Amir Sáenz · 30 s]
Este segundo gráfico cruza el JSON de reseñas con las ventas por plato. La correlación es 0.66: los platos mejor valorados tienden a vender más. Aquí Spark se luce porque une una fuente semiestructurada con una estructurada sin tener que aplanar nada antes.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[Amir Sáenz · 30 s]
Tuvimos tres dilemas. Utilidad frente a privacidad: para saber quiénes vuelven necesitamos vincular pedidos con personas, así que guardamos el DNI como hash y dejamos fuera nombre, correo y teléfono. Sesgo en los indicadores: el cliente de paso y las fechas imputadas distorsionan la lealtad, así que lo declaramos y lo excluimos del KPI. Y medición del personal: cruzar ventas con asistencia podría usarse para sancionar, así que el almacén no tiene salario ni DNI de los trabajadores y el log no se puede alterar. Si esto escalara a nivel nacional, cambiaríamos el hash por tokenización, inscribiríamos el banco de datos ante la Autoridad de Protección de Datos y pondríamos umbrales mínimos de agregación.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[Amir Sáenz · 30 s]
Para cerrar: llevamos las reglas de negocio al motor con cuatro procedimientos, cinco triggers y tres funciones; protegimos los datos con seis roles, enmascaramiento y respaldo conforme a la Ley 29733; construimos un almacén de 40 867 hechos con once KPIs y cinco operaciones OLAP; y con eso salieron estrategias concretas para La Esquina. SQL Server con Power BI es la solución para el volumen actual, Spark queda lista para crecer, y los tres dilemas éticos están resueltos con criterios claros.</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[Amir Sáenz · 5 s]
Muchas gracias. El repositorio completo está en GitHub y estamos listos para sus preguntas.</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chemeClr val="bg1"/>
        </a:solidFill>
        <a:effectLst/>
      </p:bgPr>
    </p:bg>
    <p:spTree>
      <p:nvGrpSpPr>
        <p:cNvPr id="1" name=""/>
        <p:cNvGrpSpPr/>
        <p:nvPr/>
      </p:nvGrpSpPr>
      <p:grpSpPr>
        <a:xfrm>
          <a:off x="0" y="0"/>
          <a:ext cx="0" cy="0"/>
          <a:chOff x="0" y="0"/>
          <a:chExt cx="0" cy="0"/>
        </a:xfrm>
      </p:grpSpPr>
      <p:pic>
        <p:nvPicPr>
          <p:cNvPr id="2" name="Image 0" descr="Logo UPN"/>
          <p:cNvPicPr>
            <a:picLocks noChangeAspect="1"/>
          </p:cNvPicPr>
          <p:nvPr/>
        </p:nvPicPr>
        <p:blipFill>
          <a:blip r:embed="rId2"/>
          <a:stretch>
            <a:fillRect/>
          </a:stretch>
        </p:blipFill>
        <p:spPr>
          <a:xfrm>
            <a:off x="457200" y="274320"/>
            <a:ext cx="1005840" cy="582185"/>
          </a:xfrm>
          <a:prstGeom prst="rect">
            <a:avLst/>
          </a:prstGeom>
        </p:spPr>
      </p:pic>
      <p:sp>
        <p:nvSpPr>
          <p:cNvPr id="3" name="Text 0"/>
          <p:cNvSpPr>
            <a:spLocks noGrp="1"/>
          </p:cNvSpPr>
          <p:nvPr>
            <p:ph type="title" idx="101" hasCustomPrompt="1"/>
          </p:nvPr>
        </p:nvSpPr>
        <p:spPr>
          <a:xfrm>
            <a:off x="457200" y="1005840"/>
            <a:ext cx="11247120" cy="777240"/>
          </a:xfrm>
          <a:prstGeom prst="rect">
            <a:avLst/>
          </a:prstGeom>
          <a:noFill/>
          <a:ln/>
        </p:spPr>
        <p:txBody>
          <a:bodyPr wrap="square" rtlCol="0"/>
          <a:lstStyle>
            <a:lvl1pPr marL="0" indent="0" algn="l">
              <a:buNone/>
              <a:defRPr lang="en-US" sz="32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3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‹Nº›</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a:effectLst/>
      </p:bgPr>
    </p:bg>
    <p:spTree>
      <p:nvGrpSpPr>
        <p:cNvPr id="1" name=""/>
        <p:cNvGrpSpPr/>
        <p:nvPr/>
      </p:nvGrpSpPr>
      <p:grpSpPr>
        <a:xfrm>
          <a:off x="0" y="0"/>
          <a:ext cx="0" cy="0"/>
          <a:chOff x="0" y="0"/>
          <a:chExt cx="0" cy="0"/>
        </a:xfrm>
      </p:grpSpPr>
      <p:pic>
        <p:nvPicPr>
          <p:cNvPr id="2" name="Image 0" descr="Logo UPN"/>
          <p:cNvPicPr>
            <a:picLocks noChangeAspect="1"/>
          </p:cNvPicPr>
          <p:nvPr/>
        </p:nvPicPr>
        <p:blipFill>
          <a:blip r:embed="rId2"/>
          <a:stretch>
            <a:fillRect/>
          </a:stretch>
        </p:blipFill>
        <p:spPr>
          <a:xfrm>
            <a:off x="457200" y="274320"/>
            <a:ext cx="1005840" cy="582185"/>
          </a:xfrm>
          <a:prstGeom prst="rect">
            <a:avLst/>
          </a:prstGeom>
        </p:spPr>
      </p:pic>
      <p:sp>
        <p:nvSpPr>
          <p:cNvPr id="3" name="Text 0"/>
          <p:cNvSpPr>
            <a:spLocks noGrp="1"/>
          </p:cNvSpPr>
          <p:nvPr>
            <p:ph type="title" idx="101" hasCustomPrompt="1"/>
          </p:nvPr>
        </p:nvSpPr>
        <p:spPr>
          <a:xfrm>
            <a:off x="822960" y="2468880"/>
            <a:ext cx="10515600" cy="1737360"/>
          </a:xfrm>
          <a:prstGeom prst="rect">
            <a:avLst/>
          </a:prstGeom>
          <a:noFill/>
          <a:ln/>
        </p:spPr>
        <p:txBody>
          <a:bodyPr wrap="square" rtlCol="0"/>
          <a:lstStyle>
            <a:lvl1pPr marL="0" indent="0" algn="l">
              <a:buNone/>
              <a:defRPr lang="en-US" sz="44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lang="en-US" b="0"/>
              <a:t>‹Nº›</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ARKTOP">
    <p:bg>
      <p:bgPr>
        <a:solidFill>
          <a:schemeClr val="tx1"/>
        </a:solidFill>
        <a:effectLst/>
      </p:bgPr>
    </p:bg>
    <p:spTree>
      <p:nvGrpSpPr>
        <p:cNvPr id="1" name=""/>
        <p:cNvGrpSpPr/>
        <p:nvPr/>
      </p:nvGrpSpPr>
      <p:grpSpPr>
        <a:xfrm>
          <a:off x="0" y="0"/>
          <a:ext cx="0" cy="0"/>
          <a:chOff x="0" y="0"/>
          <a:chExt cx="0" cy="0"/>
        </a:xfrm>
      </p:grpSpPr>
      <p:pic>
        <p:nvPicPr>
          <p:cNvPr id="2" name="Image 0" descr="Logo UPN"/>
          <p:cNvPicPr>
            <a:picLocks noChangeAspect="1"/>
          </p:cNvPicPr>
          <p:nvPr/>
        </p:nvPicPr>
        <p:blipFill>
          <a:blip r:embed="rId2"/>
          <a:stretch>
            <a:fillRect/>
          </a:stretch>
        </p:blipFill>
        <p:spPr>
          <a:xfrm>
            <a:off x="457200" y="274320"/>
            <a:ext cx="1005840" cy="582185"/>
          </a:xfrm>
          <a:prstGeom prst="rect">
            <a:avLst/>
          </a:prstGeom>
        </p:spPr>
      </p:pic>
      <p:sp>
        <p:nvSpPr>
          <p:cNvPr id="3" name="Text 0"/>
          <p:cNvSpPr>
            <a:spLocks noGrp="1"/>
          </p:cNvSpPr>
          <p:nvPr>
            <p:ph type="title" idx="101" hasCustomPrompt="1"/>
          </p:nvPr>
        </p:nvSpPr>
        <p:spPr>
          <a:xfrm>
            <a:off x="822960" y="1097280"/>
            <a:ext cx="10515600" cy="822960"/>
          </a:xfrm>
          <a:prstGeom prst="rect">
            <a:avLst/>
          </a:prstGeom>
          <a:noFill/>
          <a:ln/>
        </p:spPr>
        <p:txBody>
          <a:bodyPr wrap="square" rtlCol="0"/>
          <a:lstStyle>
            <a:lvl1pPr marL="0" indent="0" algn="l">
              <a:buNone/>
              <a:defRPr lang="en-US" sz="40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lang="en-US" b="0"/>
              <a:t>‹Nº›</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‹Nº›</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txBox="1"/>
          <p:nvPr/>
        </p:nvSpPr>
        <p:spPr>
          <a:xfrm>
            <a:off x="822960" y="1828800"/>
            <a:ext cx="10515600" cy="457200"/>
          </a:xfrm>
          <a:prstGeom prst="rect">
            <a:avLst/>
          </a:prstGeom>
          <a:noFill/>
          <a:ln/>
        </p:spPr>
        <p:txBody>
          <a:bodyPr wrap="square" lIns="0" tIns="0" rIns="0" bIns="0" rtlCol="0" anchor="t"/>
          <a:lstStyle/>
          <a:p>
            <a:pPr marL="0" indent="0">
              <a:buNone/>
            </a:pPr>
            <a:r>
              <a:rPr lang="en-US" sz="1700" b="1" kern="0" spc="300" dirty="0">
                <a:solidFill>
                  <a:schemeClr val="accent1"/>
                </a:solidFill>
                <a:latin typeface="Calibri" pitchFamily="34" charset="0"/>
                <a:ea typeface="Calibri" pitchFamily="34" charset="-122"/>
                <a:cs typeface="Calibri" pitchFamily="34" charset="-120"/>
              </a:rPr>
              <a:t>BASE DE DATOS AVANZADAS Y BIG DATA · CIIN1021P </a:t>
            </a:r>
            <a:endParaRPr lang="en-US" sz="1700" dirty="0"/>
          </a:p>
        </p:txBody>
      </p:sp>
      <p:sp>
        <p:nvSpPr>
          <p:cNvPr id="4" name="Text 0"/>
          <p:cNvSpPr>
            <a:spLocks noGrp="1"/>
          </p:cNvSpPr>
          <p:nvPr>
            <p:ph type="title" idx="101" hasCustomPrompt="1"/>
          </p:nvPr>
        </p:nvSpPr>
        <p:spPr>
          <a:xfrm>
            <a:off x="822960" y="2468880"/>
            <a:ext cx="10515600" cy="1737360"/>
          </a:xfrm>
          <a:prstGeom prst="rect">
            <a:avLst/>
          </a:prstGeom>
          <a:noFill/>
          <a:ln/>
        </p:spPr>
        <p:txBody>
          <a:bodyPr wrap="square" lIns="0" tIns="0" rIns="0" bIns="0" rtlCol="0" anchor="t"/>
          <a:lstStyle/>
          <a:p>
            <a:pPr marL="0" indent="0" algn="l">
              <a:buNone/>
            </a:pPr>
            <a:r>
              <a:rPr lang="en-US" sz="4400" b="1" dirty="0">
                <a:solidFill>
                  <a:schemeClr val="bg1"/>
                </a:solidFill>
                <a:latin typeface="Cambria" pitchFamily="34" charset="0"/>
                <a:ea typeface="Cambria" pitchFamily="34" charset="-122"/>
                <a:cs typeface="Cambria" pitchFamily="34" charset="-120"/>
              </a:rPr>
              <a:t>Base de datos integrada para la cevichería La Esquina</a:t>
            </a:r>
            <a:endParaRPr lang="en-US" sz="4400" dirty="0"/>
          </a:p>
        </p:txBody>
      </p:sp>
      <p:sp>
        <p:nvSpPr>
          <p:cNvPr id="5" name="Text 2"/>
          <p:cNvSpPr txBox="1"/>
          <p:nvPr/>
        </p:nvSpPr>
        <p:spPr>
          <a:xfrm>
            <a:off x="822960" y="4297680"/>
            <a:ext cx="10058400" cy="457200"/>
          </a:xfrm>
          <a:prstGeom prst="rect">
            <a:avLst/>
          </a:prstGeom>
          <a:noFill/>
          <a:ln/>
        </p:spPr>
        <p:txBody>
          <a:bodyPr wrap="square" lIns="0" tIns="0" rIns="0" bIns="0" rtlCol="0" anchor="t"/>
          <a:lstStyle/>
          <a:p>
            <a:pPr marL="0" indent="0">
              <a:buNone/>
            </a:pPr>
            <a:r>
              <a:rPr lang="en-US" sz="2200" dirty="0">
                <a:solidFill>
                  <a:schemeClr val="bg1"/>
                </a:solidFill>
                <a:latin typeface="Calibri" pitchFamily="34" charset="0"/>
                <a:ea typeface="Calibri" pitchFamily="34" charset="-122"/>
                <a:cs typeface="Calibri" pitchFamily="34" charset="-120"/>
              </a:rPr>
              <a:t>Automatización, seguridad e inteligencia de negocios</a:t>
            </a:r>
            <a:endParaRPr lang="en-US" sz="2200" dirty="0"/>
          </a:p>
        </p:txBody>
      </p:sp>
      <p:sp>
        <p:nvSpPr>
          <p:cNvPr id="6" name="Text 3"/>
          <p:cNvSpPr txBox="1"/>
          <p:nvPr/>
        </p:nvSpPr>
        <p:spPr>
          <a:xfrm>
            <a:off x="822960" y="5577840"/>
            <a:ext cx="10515600" cy="365760"/>
          </a:xfrm>
          <a:prstGeom prst="rect">
            <a:avLst/>
          </a:prstGeom>
          <a:noFill/>
          <a:ln/>
        </p:spPr>
        <p:txBody>
          <a:bodyPr wrap="square" lIns="0" tIns="0" rIns="0" bIns="0" rtlCol="0" anchor="t"/>
          <a:lstStyle/>
          <a:p>
            <a:pPr marL="0" indent="0">
              <a:buNone/>
            </a:pPr>
            <a:r>
              <a:rPr lang="en-US" sz="1600" dirty="0">
                <a:solidFill>
                  <a:schemeClr val="accent3"/>
                </a:solidFill>
                <a:latin typeface="Calibri" pitchFamily="34" charset="0"/>
                <a:ea typeface="Calibri" pitchFamily="34" charset="-122"/>
                <a:cs typeface="Calibri" pitchFamily="34" charset="-120"/>
              </a:rPr>
              <a:t>Grupo 3 · Deivys Florián · Haziel Salazar · Elmer Vásquez · Neda Merino · Amir Sáenz</a:t>
            </a:r>
            <a:endParaRPr lang="en-US" sz="1600" dirty="0"/>
          </a:p>
        </p:txBody>
      </p:sp>
      <p:sp>
        <p:nvSpPr>
          <p:cNvPr id="7" name="Text 4"/>
          <p:cNvSpPr txBox="1"/>
          <p:nvPr/>
        </p:nvSpPr>
        <p:spPr>
          <a:xfrm>
            <a:off x="822960" y="5943600"/>
            <a:ext cx="10058400" cy="365760"/>
          </a:xfrm>
          <a:prstGeom prst="rect">
            <a:avLst/>
          </a:prstGeom>
          <a:noFill/>
          <a:ln/>
        </p:spPr>
        <p:txBody>
          <a:bodyPr wrap="square" lIns="0" tIns="0" rIns="0" bIns="0" rtlCol="0" anchor="t"/>
          <a:lstStyle/>
          <a:p>
            <a:pPr marL="0" indent="0">
              <a:buNone/>
            </a:pPr>
            <a:r>
              <a:rPr lang="en-US" sz="1600" dirty="0">
                <a:solidFill>
                  <a:schemeClr val="accent3"/>
                </a:solidFill>
                <a:latin typeface="Calibri" pitchFamily="34" charset="0"/>
                <a:ea typeface="Calibri" pitchFamily="34" charset="-122"/>
                <a:cs typeface="Calibri" pitchFamily="34" charset="-120"/>
              </a:rPr>
              <a:t>Universidad Privada del Norte · Octubre 2026</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lang="en-US" b="0"/>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1005840"/>
            <a:ext cx="1124712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La organización y el problema</a:t>
            </a:r>
            <a:endParaRPr lang="en-US" sz="3200" dirty="0"/>
          </a:p>
        </p:txBody>
      </p:sp>
      <p:sp>
        <p:nvSpPr>
          <p:cNvPr id="3" name="Text 1"/>
          <p:cNvSpPr txBox="1"/>
          <p:nvPr/>
        </p:nvSpPr>
        <p:spPr>
          <a:xfrm>
            <a:off x="5760720" y="457200"/>
            <a:ext cx="5943600" cy="274320"/>
          </a:xfrm>
          <a:prstGeom prst="rect">
            <a:avLst/>
          </a:prstGeom>
          <a:noFill/>
          <a:ln/>
        </p:spPr>
        <p:txBody>
          <a:bodyPr wrap="square" lIns="0" tIns="0" rIns="0" bIns="0" rtlCol="0" anchor="t"/>
          <a:lstStyle/>
          <a:p>
            <a:pPr marL="0" indent="0" algn="r">
              <a:buNone/>
            </a:pPr>
            <a:r>
              <a:rPr lang="en-US" sz="1200" b="1" kern="0" spc="200" dirty="0">
                <a:solidFill>
                  <a:schemeClr val="accent1"/>
                </a:solidFill>
                <a:latin typeface="Calibri" pitchFamily="34" charset="0"/>
                <a:ea typeface="Calibri" pitchFamily="34" charset="-122"/>
                <a:cs typeface="Calibri" pitchFamily="34" charset="-120"/>
              </a:rPr>
              <a:t>PARTE 1 · EL PROBLEMA Y LA BASE DE DATOS</a:t>
            </a:r>
            <a:endParaRPr lang="en-US" sz="1200" dirty="0"/>
          </a:p>
        </p:txBody>
      </p:sp>
      <p:sp>
        <p:nvSpPr>
          <p:cNvPr id="5" name="Tarjeta organización"/>
          <p:cNvSpPr/>
          <p:nvPr/>
        </p:nvSpPr>
        <p:spPr>
          <a:xfrm>
            <a:off x="457200" y="2011680"/>
            <a:ext cx="4297680" cy="4114800"/>
          </a:xfrm>
          <a:prstGeom prst="roundRect">
            <a:avLst>
              <a:gd name="adj" fmla="val 2667"/>
            </a:avLst>
          </a:prstGeom>
          <a:solidFill>
            <a:schemeClr val="tx1"/>
          </a:solidFill>
          <a:ln w="12700">
            <a:solidFill>
              <a:schemeClr val="tx1"/>
            </a:solidFill>
            <a:prstDash val="solid"/>
          </a:ln>
        </p:spPr>
      </p:sp>
      <p:sp>
        <p:nvSpPr>
          <p:cNvPr id="6" name="Icono local fondo"/>
          <p:cNvSpPr/>
          <p:nvPr/>
        </p:nvSpPr>
        <p:spPr>
          <a:xfrm>
            <a:off x="777240" y="2286000"/>
            <a:ext cx="731520" cy="731520"/>
          </a:xfrm>
          <a:prstGeom prst="ellipse">
            <a:avLst/>
          </a:prstGeom>
          <a:solidFill>
            <a:srgbClr val="D7263D"/>
          </a:solidFill>
          <a:ln w="12700">
            <a:solidFill>
              <a:srgbClr val="D7263D"/>
            </a:solidFill>
            <a:prstDash val="solid"/>
          </a:ln>
        </p:spPr>
      </p:sp>
      <p:pic>
        <p:nvPicPr>
          <p:cNvPr id="7" name="Image 0" descr="Icono local"/>
          <p:cNvPicPr>
            <a:picLocks noChangeAspect="1"/>
          </p:cNvPicPr>
          <p:nvPr/>
        </p:nvPicPr>
        <p:blipFill>
          <a:blip r:embed="rId3"/>
          <a:stretch>
            <a:fillRect/>
          </a:stretch>
        </p:blipFill>
        <p:spPr>
          <a:xfrm>
            <a:off x="967435" y="2476195"/>
            <a:ext cx="351130" cy="351130"/>
          </a:xfrm>
          <a:prstGeom prst="rect">
            <a:avLst/>
          </a:prstGeom>
        </p:spPr>
      </p:pic>
      <p:sp>
        <p:nvSpPr>
          <p:cNvPr id="8" name="Text 4"/>
          <p:cNvSpPr txBox="1"/>
          <p:nvPr/>
        </p:nvSpPr>
        <p:spPr>
          <a:xfrm>
            <a:off x="777240" y="3200400"/>
            <a:ext cx="3657600" cy="457200"/>
          </a:xfrm>
          <a:prstGeom prst="rect">
            <a:avLst/>
          </a:prstGeom>
          <a:noFill/>
          <a:ln/>
        </p:spPr>
        <p:txBody>
          <a:bodyPr wrap="square" lIns="0" tIns="0" rIns="0" bIns="0" rtlCol="0" anchor="t"/>
          <a:lstStyle/>
          <a:p>
            <a:pPr marL="0" indent="0">
              <a:buNone/>
            </a:pPr>
            <a:r>
              <a:rPr lang="en-US" sz="2400" b="1" dirty="0">
                <a:solidFill>
                  <a:schemeClr val="bg1"/>
                </a:solidFill>
                <a:latin typeface="Cambria" pitchFamily="34" charset="0"/>
                <a:ea typeface="Cambria" pitchFamily="34" charset="-122"/>
                <a:cs typeface="Cambria" pitchFamily="34" charset="-120"/>
              </a:rPr>
              <a:t>Cevichería La Esquina</a:t>
            </a:r>
            <a:endParaRPr lang="en-US" sz="2400" dirty="0"/>
          </a:p>
        </p:txBody>
      </p:sp>
      <p:sp>
        <p:nvSpPr>
          <p:cNvPr id="9" name="Text 5"/>
          <p:cNvSpPr txBox="1"/>
          <p:nvPr/>
        </p:nvSpPr>
        <p:spPr>
          <a:xfrm>
            <a:off x="777240" y="3703320"/>
            <a:ext cx="3657600" cy="320040"/>
          </a:xfrm>
          <a:prstGeom prst="rect">
            <a:avLst/>
          </a:prstGeom>
          <a:noFill/>
          <a:ln/>
        </p:spPr>
        <p:txBody>
          <a:bodyPr wrap="square" lIns="0" tIns="0" rIns="0" bIns="0" rtlCol="0" anchor="t"/>
          <a:lstStyle/>
          <a:p>
            <a:pPr marL="0" indent="0">
              <a:buNone/>
            </a:pPr>
            <a:r>
              <a:rPr lang="en-US" sz="1600" dirty="0">
                <a:solidFill>
                  <a:schemeClr val="accent3"/>
                </a:solidFill>
                <a:latin typeface="Calibri" pitchFamily="34" charset="0"/>
                <a:ea typeface="Calibri" pitchFamily="34" charset="-122"/>
                <a:cs typeface="Calibri" pitchFamily="34" charset="-120"/>
              </a:rPr>
              <a:t>Cajamarca</a:t>
            </a:r>
            <a:endParaRPr lang="en-US" sz="1600" dirty="0"/>
          </a:p>
        </p:txBody>
      </p:sp>
      <p:sp>
        <p:nvSpPr>
          <p:cNvPr id="10" name="Text 6"/>
          <p:cNvSpPr txBox="1"/>
          <p:nvPr/>
        </p:nvSpPr>
        <p:spPr>
          <a:xfrm>
            <a:off x="777240" y="4206240"/>
            <a:ext cx="3657600" cy="822960"/>
          </a:xfrm>
          <a:prstGeom prst="rect">
            <a:avLst/>
          </a:prstGeom>
          <a:noFill/>
          <a:ln/>
        </p:spPr>
        <p:txBody>
          <a:bodyPr wrap="square" lIns="0" tIns="0" rIns="0" bIns="0" rtlCol="0" anchor="t"/>
          <a:lstStyle/>
          <a:p>
            <a:pPr marL="0" indent="0">
              <a:buNone/>
            </a:pPr>
            <a:r>
              <a:rPr lang="en-US" sz="1500" dirty="0">
                <a:solidFill>
                  <a:schemeClr val="bg1"/>
                </a:solidFill>
                <a:latin typeface="Calibri" pitchFamily="34" charset="0"/>
                <a:ea typeface="Calibri" pitchFamily="34" charset="-122"/>
                <a:cs typeface="Calibri" pitchFamily="34" charset="-120"/>
              </a:rPr>
              <a:t>Vende por salón, para llevar, delivery propio, PedidosYa y Rappi</a:t>
            </a:r>
            <a:endParaRPr lang="en-US" sz="1500" dirty="0"/>
          </a:p>
        </p:txBody>
      </p:sp>
      <p:sp>
        <p:nvSpPr>
          <p:cNvPr id="12" name="Icono problema 1 fondo"/>
          <p:cNvSpPr/>
          <p:nvPr/>
        </p:nvSpPr>
        <p:spPr>
          <a:xfrm>
            <a:off x="5212080" y="2057400"/>
            <a:ext cx="731520" cy="731520"/>
          </a:xfrm>
          <a:prstGeom prst="ellipse">
            <a:avLst/>
          </a:prstGeom>
          <a:solidFill>
            <a:srgbClr val="D7263D"/>
          </a:solidFill>
          <a:ln w="12700">
            <a:solidFill>
              <a:srgbClr val="D7263D"/>
            </a:solidFill>
            <a:prstDash val="solid"/>
          </a:ln>
        </p:spPr>
      </p:sp>
      <p:pic>
        <p:nvPicPr>
          <p:cNvPr id="13" name="Image 1" descr="Icono problema 1"/>
          <p:cNvPicPr>
            <a:picLocks noChangeAspect="1"/>
          </p:cNvPicPr>
          <p:nvPr/>
        </p:nvPicPr>
        <p:blipFill>
          <a:blip r:embed="rId4"/>
          <a:stretch>
            <a:fillRect/>
          </a:stretch>
        </p:blipFill>
        <p:spPr>
          <a:xfrm>
            <a:off x="5402275" y="2247595"/>
            <a:ext cx="351130" cy="351130"/>
          </a:xfrm>
          <a:prstGeom prst="rect">
            <a:avLst/>
          </a:prstGeom>
        </p:spPr>
      </p:pic>
      <p:sp>
        <p:nvSpPr>
          <p:cNvPr id="14" name="Text 9"/>
          <p:cNvSpPr txBox="1"/>
          <p:nvPr/>
        </p:nvSpPr>
        <p:spPr>
          <a:xfrm>
            <a:off x="6217920" y="2011680"/>
            <a:ext cx="5486400" cy="411480"/>
          </a:xfrm>
          <a:prstGeom prst="rect">
            <a:avLst/>
          </a:prstGeom>
          <a:noFill/>
          <a:ln/>
        </p:spPr>
        <p:txBody>
          <a:bodyPr wrap="square" lIns="0" tIns="0" rIns="0" bIns="0" rtlCol="0" anchor="t"/>
          <a:lstStyle/>
          <a:p>
            <a:pPr marL="0" indent="0">
              <a:buNone/>
            </a:pPr>
            <a:r>
              <a:rPr lang="en-US" sz="2000" b="1" dirty="0">
                <a:solidFill>
                  <a:schemeClr val="tx1"/>
                </a:solidFill>
                <a:latin typeface="Calibri" pitchFamily="34" charset="0"/>
                <a:ea typeface="Calibri" pitchFamily="34" charset="-122"/>
                <a:cs typeface="Calibri" pitchFamily="34" charset="-120"/>
              </a:rPr>
              <a:t>Fuentes separadas</a:t>
            </a:r>
            <a:endParaRPr lang="en-US" sz="2000" dirty="0"/>
          </a:p>
        </p:txBody>
      </p:sp>
      <p:sp>
        <p:nvSpPr>
          <p:cNvPr id="15" name="Text 10"/>
          <p:cNvSpPr txBox="1"/>
          <p:nvPr/>
        </p:nvSpPr>
        <p:spPr>
          <a:xfrm>
            <a:off x="6217920" y="2450592"/>
            <a:ext cx="5486400" cy="457200"/>
          </a:xfrm>
          <a:prstGeom prst="rect">
            <a:avLst/>
          </a:prstGeom>
          <a:noFill/>
          <a:ln/>
        </p:spPr>
        <p:txBody>
          <a:bodyPr wrap="square" lIns="0" tIns="0" rIns="0" bIns="0" rtlCol="0" anchor="t"/>
          <a:lstStyle/>
          <a:p>
            <a:pPr marL="0" indent="0">
              <a:buNone/>
            </a:pPr>
            <a:r>
              <a:rPr lang="en-US" sz="1600" dirty="0">
                <a:solidFill>
                  <a:schemeClr val="tx2"/>
                </a:solidFill>
                <a:latin typeface="Calibri" pitchFamily="34" charset="0"/>
                <a:ea typeface="Calibri" pitchFamily="34" charset="-122"/>
                <a:cs typeface="Calibri" pitchFamily="34" charset="-120"/>
              </a:rPr>
              <a:t>Ventas, pagos, personal y reseñas viven por separado</a:t>
            </a:r>
            <a:endParaRPr lang="en-US" sz="1600" dirty="0"/>
          </a:p>
        </p:txBody>
      </p:sp>
      <p:sp>
        <p:nvSpPr>
          <p:cNvPr id="16" name="Icono problema 2 fondo"/>
          <p:cNvSpPr/>
          <p:nvPr/>
        </p:nvSpPr>
        <p:spPr>
          <a:xfrm>
            <a:off x="5212080" y="3108960"/>
            <a:ext cx="731520" cy="731520"/>
          </a:xfrm>
          <a:prstGeom prst="ellipse">
            <a:avLst/>
          </a:prstGeom>
          <a:solidFill>
            <a:srgbClr val="D7263D"/>
          </a:solidFill>
          <a:ln w="12700">
            <a:solidFill>
              <a:srgbClr val="D7263D"/>
            </a:solidFill>
            <a:prstDash val="solid"/>
          </a:ln>
        </p:spPr>
      </p:sp>
      <p:pic>
        <p:nvPicPr>
          <p:cNvPr id="17" name="Image 2" descr="Icono problema 2"/>
          <p:cNvPicPr>
            <a:picLocks noChangeAspect="1"/>
          </p:cNvPicPr>
          <p:nvPr/>
        </p:nvPicPr>
        <p:blipFill>
          <a:blip r:embed="rId5"/>
          <a:stretch>
            <a:fillRect/>
          </a:stretch>
        </p:blipFill>
        <p:spPr>
          <a:xfrm>
            <a:off x="5402275" y="3299155"/>
            <a:ext cx="351130" cy="351130"/>
          </a:xfrm>
          <a:prstGeom prst="rect">
            <a:avLst/>
          </a:prstGeom>
        </p:spPr>
      </p:pic>
      <p:sp>
        <p:nvSpPr>
          <p:cNvPr id="18" name="Text 12"/>
          <p:cNvSpPr txBox="1"/>
          <p:nvPr/>
        </p:nvSpPr>
        <p:spPr>
          <a:xfrm>
            <a:off x="6217920" y="3063240"/>
            <a:ext cx="5486400" cy="411480"/>
          </a:xfrm>
          <a:prstGeom prst="rect">
            <a:avLst/>
          </a:prstGeom>
          <a:noFill/>
          <a:ln/>
        </p:spPr>
        <p:txBody>
          <a:bodyPr wrap="square" lIns="0" tIns="0" rIns="0" bIns="0" rtlCol="0" anchor="t"/>
          <a:lstStyle/>
          <a:p>
            <a:pPr marL="0" indent="0">
              <a:buNone/>
            </a:pPr>
            <a:r>
              <a:rPr lang="en-US" sz="2000" b="1" dirty="0">
                <a:solidFill>
                  <a:schemeClr val="tx1"/>
                </a:solidFill>
                <a:latin typeface="Calibri" pitchFamily="34" charset="0"/>
                <a:ea typeface="Calibri" pitchFamily="34" charset="-122"/>
                <a:cs typeface="Calibri" pitchFamily="34" charset="-120"/>
              </a:rPr>
              <a:t>Sin trazabilidad</a:t>
            </a:r>
            <a:endParaRPr lang="en-US" sz="2000" dirty="0"/>
          </a:p>
        </p:txBody>
      </p:sp>
      <p:sp>
        <p:nvSpPr>
          <p:cNvPr id="19" name="Text 13"/>
          <p:cNvSpPr txBox="1"/>
          <p:nvPr/>
        </p:nvSpPr>
        <p:spPr>
          <a:xfrm>
            <a:off x="6217920" y="3502152"/>
            <a:ext cx="5486400" cy="457200"/>
          </a:xfrm>
          <a:prstGeom prst="rect">
            <a:avLst/>
          </a:prstGeom>
          <a:noFill/>
          <a:ln/>
        </p:spPr>
        <p:txBody>
          <a:bodyPr wrap="square" lIns="0" tIns="0" rIns="0" bIns="0" rtlCol="0" anchor="t"/>
          <a:lstStyle/>
          <a:p>
            <a:pPr marL="0" indent="0">
              <a:buNone/>
            </a:pPr>
            <a:r>
              <a:rPr lang="en-US" sz="1600" dirty="0">
                <a:solidFill>
                  <a:schemeClr val="tx2"/>
                </a:solidFill>
                <a:latin typeface="Calibri" pitchFamily="34" charset="0"/>
                <a:ea typeface="Calibri" pitchFamily="34" charset="-122"/>
                <a:cs typeface="Calibri" pitchFamily="34" charset="-120"/>
              </a:rPr>
              <a:t>Nadie registra quién cambió qué dato ni cuándo</a:t>
            </a:r>
            <a:endParaRPr lang="en-US" sz="1600" dirty="0"/>
          </a:p>
        </p:txBody>
      </p:sp>
      <p:sp>
        <p:nvSpPr>
          <p:cNvPr id="20" name="Icono problema 3 fondo"/>
          <p:cNvSpPr/>
          <p:nvPr/>
        </p:nvSpPr>
        <p:spPr>
          <a:xfrm>
            <a:off x="5212080" y="4160520"/>
            <a:ext cx="731520" cy="731520"/>
          </a:xfrm>
          <a:prstGeom prst="ellipse">
            <a:avLst/>
          </a:prstGeom>
          <a:solidFill>
            <a:srgbClr val="D7263D"/>
          </a:solidFill>
          <a:ln w="12700">
            <a:solidFill>
              <a:srgbClr val="D7263D"/>
            </a:solidFill>
            <a:prstDash val="solid"/>
          </a:ln>
        </p:spPr>
      </p:sp>
      <p:pic>
        <p:nvPicPr>
          <p:cNvPr id="21" name="Image 3" descr="Icono problema 3"/>
          <p:cNvPicPr>
            <a:picLocks noChangeAspect="1"/>
          </p:cNvPicPr>
          <p:nvPr/>
        </p:nvPicPr>
        <p:blipFill>
          <a:blip r:embed="rId6"/>
          <a:stretch>
            <a:fillRect/>
          </a:stretch>
        </p:blipFill>
        <p:spPr>
          <a:xfrm>
            <a:off x="5402275" y="4350715"/>
            <a:ext cx="351130" cy="351130"/>
          </a:xfrm>
          <a:prstGeom prst="rect">
            <a:avLst/>
          </a:prstGeom>
        </p:spPr>
      </p:pic>
      <p:sp>
        <p:nvSpPr>
          <p:cNvPr id="22" name="Text 15"/>
          <p:cNvSpPr txBox="1"/>
          <p:nvPr/>
        </p:nvSpPr>
        <p:spPr>
          <a:xfrm>
            <a:off x="6217920" y="4114800"/>
            <a:ext cx="5486400" cy="411480"/>
          </a:xfrm>
          <a:prstGeom prst="rect">
            <a:avLst/>
          </a:prstGeom>
          <a:noFill/>
          <a:ln/>
        </p:spPr>
        <p:txBody>
          <a:bodyPr wrap="square" lIns="0" tIns="0" rIns="0" bIns="0" rtlCol="0" anchor="t"/>
          <a:lstStyle/>
          <a:p>
            <a:pPr marL="0" indent="0">
              <a:buNone/>
            </a:pPr>
            <a:r>
              <a:rPr lang="en-US" sz="2000" b="1" dirty="0">
                <a:solidFill>
                  <a:schemeClr val="tx1"/>
                </a:solidFill>
                <a:latin typeface="Calibri" pitchFamily="34" charset="0"/>
                <a:ea typeface="Calibri" pitchFamily="34" charset="-122"/>
                <a:cs typeface="Calibri" pitchFamily="34" charset="-120"/>
              </a:rPr>
              <a:t>Datos personales al descubierto</a:t>
            </a:r>
            <a:endParaRPr lang="en-US" sz="2000" dirty="0"/>
          </a:p>
        </p:txBody>
      </p:sp>
      <p:sp>
        <p:nvSpPr>
          <p:cNvPr id="23" name="Text 16"/>
          <p:cNvSpPr txBox="1"/>
          <p:nvPr/>
        </p:nvSpPr>
        <p:spPr>
          <a:xfrm>
            <a:off x="6217920" y="4553712"/>
            <a:ext cx="5486400" cy="457200"/>
          </a:xfrm>
          <a:prstGeom prst="rect">
            <a:avLst/>
          </a:prstGeom>
          <a:noFill/>
          <a:ln/>
        </p:spPr>
        <p:txBody>
          <a:bodyPr wrap="square" lIns="0" tIns="0" rIns="0" bIns="0" rtlCol="0" anchor="t"/>
          <a:lstStyle/>
          <a:p>
            <a:pPr marL="0" indent="0">
              <a:buNone/>
            </a:pPr>
            <a:r>
              <a:rPr lang="en-US" sz="1600" dirty="0">
                <a:solidFill>
                  <a:schemeClr val="tx2"/>
                </a:solidFill>
                <a:latin typeface="Calibri" pitchFamily="34" charset="0"/>
                <a:ea typeface="Calibri" pitchFamily="34" charset="-122"/>
                <a:cs typeface="Calibri" pitchFamily="34" charset="-120"/>
              </a:rPr>
              <a:t>DNI, correos y salarios sin protección por roles</a:t>
            </a:r>
            <a:endParaRPr lang="en-US" sz="1600" dirty="0"/>
          </a:p>
        </p:txBody>
      </p:sp>
      <p:sp>
        <p:nvSpPr>
          <p:cNvPr id="24" name="Icono problema 4 fondo"/>
          <p:cNvSpPr/>
          <p:nvPr/>
        </p:nvSpPr>
        <p:spPr>
          <a:xfrm>
            <a:off x="5212080" y="5212080"/>
            <a:ext cx="731520" cy="731520"/>
          </a:xfrm>
          <a:prstGeom prst="ellipse">
            <a:avLst/>
          </a:prstGeom>
          <a:solidFill>
            <a:srgbClr val="D7263D"/>
          </a:solidFill>
          <a:ln w="12700">
            <a:solidFill>
              <a:srgbClr val="D7263D"/>
            </a:solidFill>
            <a:prstDash val="solid"/>
          </a:ln>
        </p:spPr>
      </p:sp>
      <p:pic>
        <p:nvPicPr>
          <p:cNvPr id="25" name="Image 4" descr="Icono problema 4"/>
          <p:cNvPicPr>
            <a:picLocks noChangeAspect="1"/>
          </p:cNvPicPr>
          <p:nvPr/>
        </p:nvPicPr>
        <p:blipFill>
          <a:blip r:embed="rId7"/>
          <a:stretch>
            <a:fillRect/>
          </a:stretch>
        </p:blipFill>
        <p:spPr>
          <a:xfrm>
            <a:off x="5402275" y="5402275"/>
            <a:ext cx="351130" cy="351130"/>
          </a:xfrm>
          <a:prstGeom prst="rect">
            <a:avLst/>
          </a:prstGeom>
        </p:spPr>
      </p:pic>
      <p:sp>
        <p:nvSpPr>
          <p:cNvPr id="26" name="Text 18"/>
          <p:cNvSpPr txBox="1"/>
          <p:nvPr/>
        </p:nvSpPr>
        <p:spPr>
          <a:xfrm>
            <a:off x="6217920" y="5166360"/>
            <a:ext cx="5486400" cy="411480"/>
          </a:xfrm>
          <a:prstGeom prst="rect">
            <a:avLst/>
          </a:prstGeom>
          <a:noFill/>
          <a:ln/>
        </p:spPr>
        <p:txBody>
          <a:bodyPr wrap="square" lIns="0" tIns="0" rIns="0" bIns="0" rtlCol="0" anchor="t"/>
          <a:lstStyle/>
          <a:p>
            <a:pPr marL="0" indent="0">
              <a:buNone/>
            </a:pPr>
            <a:r>
              <a:rPr lang="en-US" sz="2000" b="1" dirty="0">
                <a:solidFill>
                  <a:schemeClr val="tx1"/>
                </a:solidFill>
                <a:latin typeface="Calibri" pitchFamily="34" charset="0"/>
                <a:ea typeface="Calibri" pitchFamily="34" charset="-122"/>
                <a:cs typeface="Calibri" pitchFamily="34" charset="-120"/>
              </a:rPr>
              <a:t>Gerencia a ciegas</a:t>
            </a:r>
            <a:endParaRPr lang="en-US" sz="2000" dirty="0"/>
          </a:p>
        </p:txBody>
      </p:sp>
      <p:sp>
        <p:nvSpPr>
          <p:cNvPr id="27" name="Text 19"/>
          <p:cNvSpPr txBox="1"/>
          <p:nvPr/>
        </p:nvSpPr>
        <p:spPr>
          <a:xfrm>
            <a:off x="6217920" y="5605272"/>
            <a:ext cx="5486400" cy="457200"/>
          </a:xfrm>
          <a:prstGeom prst="rect">
            <a:avLst/>
          </a:prstGeom>
          <a:noFill/>
          <a:ln/>
        </p:spPr>
        <p:txBody>
          <a:bodyPr wrap="square" lIns="0" tIns="0" rIns="0" bIns="0" rtlCol="0" anchor="t"/>
          <a:lstStyle/>
          <a:p>
            <a:pPr marL="0" indent="0">
              <a:buNone/>
            </a:pPr>
            <a:r>
              <a:rPr lang="en-US" sz="1600" dirty="0">
                <a:solidFill>
                  <a:schemeClr val="tx2"/>
                </a:solidFill>
                <a:latin typeface="Calibri" pitchFamily="34" charset="0"/>
                <a:ea typeface="Calibri" pitchFamily="34" charset="-122"/>
                <a:cs typeface="Calibri" pitchFamily="34" charset="-120"/>
              </a:rPr>
              <a:t>No se ve qué platos y canales dejan más ganancia</a:t>
            </a:r>
            <a:endParaRPr lang="en-US" sz="1600" dirty="0"/>
          </a:p>
        </p:txBody>
      </p:sp>
      <p:sp>
        <p:nvSpPr>
          <p:cNvPr id="4"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1005840"/>
            <a:ext cx="1124712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Objetivo general</a:t>
            </a:r>
            <a:endParaRPr lang="en-US" sz="3200" dirty="0"/>
          </a:p>
        </p:txBody>
      </p:sp>
      <p:sp>
        <p:nvSpPr>
          <p:cNvPr id="3" name="Text 1"/>
          <p:cNvSpPr txBox="1"/>
          <p:nvPr/>
        </p:nvSpPr>
        <p:spPr>
          <a:xfrm>
            <a:off x="5760720" y="457200"/>
            <a:ext cx="5943600" cy="274320"/>
          </a:xfrm>
          <a:prstGeom prst="rect">
            <a:avLst/>
          </a:prstGeom>
          <a:noFill/>
          <a:ln/>
        </p:spPr>
        <p:txBody>
          <a:bodyPr wrap="square" lIns="0" tIns="0" rIns="0" bIns="0" rtlCol="0" anchor="t"/>
          <a:lstStyle/>
          <a:p>
            <a:pPr marL="0" indent="0" algn="r">
              <a:buNone/>
            </a:pPr>
            <a:r>
              <a:rPr lang="en-US" sz="1200" b="1" kern="0" spc="200" dirty="0">
                <a:solidFill>
                  <a:schemeClr val="accent1"/>
                </a:solidFill>
                <a:latin typeface="Calibri" pitchFamily="34" charset="0"/>
                <a:ea typeface="Calibri" pitchFamily="34" charset="-122"/>
                <a:cs typeface="Calibri" pitchFamily="34" charset="-120"/>
              </a:rPr>
              <a:t>PARTE 1 · EL PROBLEMA Y LA BASE DE DATOS</a:t>
            </a:r>
            <a:endParaRPr lang="en-US" sz="1200" dirty="0"/>
          </a:p>
        </p:txBody>
      </p:sp>
      <p:sp>
        <p:nvSpPr>
          <p:cNvPr id="5" name="Objetivo general"/>
          <p:cNvSpPr/>
          <p:nvPr/>
        </p:nvSpPr>
        <p:spPr>
          <a:xfrm>
            <a:off x="457200" y="2011680"/>
            <a:ext cx="6949440" cy="4114800"/>
          </a:xfrm>
          <a:prstGeom prst="roundRect">
            <a:avLst>
              <a:gd name="adj" fmla="val 2667"/>
            </a:avLst>
          </a:prstGeom>
          <a:solidFill>
            <a:schemeClr val="tx1"/>
          </a:solidFill>
          <a:ln w="12700">
            <a:solidFill>
              <a:schemeClr val="tx1"/>
            </a:solidFill>
            <a:prstDash val="solid"/>
          </a:ln>
        </p:spPr>
      </p:sp>
      <p:sp>
        <p:nvSpPr>
          <p:cNvPr id="6" name="Text 3"/>
          <p:cNvSpPr txBox="1"/>
          <p:nvPr/>
        </p:nvSpPr>
        <p:spPr>
          <a:xfrm>
            <a:off x="822960" y="2286000"/>
            <a:ext cx="1828800" cy="365760"/>
          </a:xfrm>
          <a:prstGeom prst="rect">
            <a:avLst/>
          </a:prstGeom>
          <a:noFill/>
          <a:ln/>
        </p:spPr>
        <p:txBody>
          <a:bodyPr wrap="square" lIns="0" tIns="0" rIns="0" bIns="0" rtlCol="0" anchor="t"/>
          <a:lstStyle/>
          <a:p>
            <a:pPr marL="0" indent="0">
              <a:buNone/>
            </a:pPr>
            <a:r>
              <a:rPr lang="en-US" sz="1600" b="1" kern="0" spc="300" dirty="0">
                <a:solidFill>
                  <a:schemeClr val="accent1"/>
                </a:solidFill>
                <a:latin typeface="Calibri" pitchFamily="34" charset="0"/>
                <a:ea typeface="Calibri" pitchFamily="34" charset="-122"/>
                <a:cs typeface="Calibri" pitchFamily="34" charset="-120"/>
              </a:rPr>
              <a:t>OG</a:t>
            </a:r>
            <a:endParaRPr lang="en-US" sz="1600" dirty="0"/>
          </a:p>
        </p:txBody>
      </p:sp>
      <p:sp>
        <p:nvSpPr>
          <p:cNvPr id="7" name="Text 4"/>
          <p:cNvSpPr txBox="1"/>
          <p:nvPr/>
        </p:nvSpPr>
        <p:spPr>
          <a:xfrm>
            <a:off x="822960" y="2743200"/>
            <a:ext cx="6217920" cy="3108960"/>
          </a:xfrm>
          <a:prstGeom prst="rect">
            <a:avLst/>
          </a:prstGeom>
          <a:noFill/>
          <a:ln/>
        </p:spPr>
        <p:txBody>
          <a:bodyPr wrap="square" lIns="0" tIns="0" rIns="0" bIns="0" rtlCol="0" anchor="t"/>
          <a:lstStyle/>
          <a:p>
            <a:pPr marL="0" indent="0">
              <a:buNone/>
            </a:pPr>
            <a:r>
              <a:rPr lang="en-US" sz="2200" b="1" dirty="0">
                <a:solidFill>
                  <a:schemeClr val="bg1"/>
                </a:solidFill>
                <a:latin typeface="Cambria" pitchFamily="34" charset="0"/>
                <a:ea typeface="Cambria" pitchFamily="34" charset="-122"/>
                <a:cs typeface="Cambria" pitchFamily="34" charset="-120"/>
              </a:rPr>
              <a:t>Proponer un sistema integrado de base de datos para la cevichería La Esquina que automatice los procesos con T-SQL, sustente la toma de decisiones con inteligencia de negocios y gestione datos estructurados y semiestructurados con Big Data, garantizando seguridad y trazabilidad conforme a la Ley N.° 29733.</a:t>
            </a:r>
            <a:endParaRPr lang="en-US" sz="2200" dirty="0"/>
          </a:p>
        </p:txBody>
      </p:sp>
      <p:sp>
        <p:nvSpPr>
          <p:cNvPr id="8" name="Text 5"/>
          <p:cNvSpPr txBox="1"/>
          <p:nvPr/>
        </p:nvSpPr>
        <p:spPr>
          <a:xfrm>
            <a:off x="7772400" y="2011680"/>
            <a:ext cx="3931920" cy="365760"/>
          </a:xfrm>
          <a:prstGeom prst="rect">
            <a:avLst/>
          </a:prstGeom>
          <a:noFill/>
          <a:ln/>
        </p:spPr>
        <p:txBody>
          <a:bodyPr wrap="square" lIns="0" tIns="0" rIns="0" bIns="0" rtlCol="0" anchor="t"/>
          <a:lstStyle/>
          <a:p>
            <a:pPr marL="0" indent="0">
              <a:buNone/>
            </a:pPr>
            <a:r>
              <a:rPr lang="en-US" sz="1600" b="1" kern="0" spc="200" dirty="0">
                <a:solidFill>
                  <a:schemeClr val="tx2"/>
                </a:solidFill>
                <a:latin typeface="Calibri" pitchFamily="34" charset="0"/>
                <a:ea typeface="Calibri" pitchFamily="34" charset="-122"/>
                <a:cs typeface="Calibri" pitchFamily="34" charset="-120"/>
              </a:rPr>
              <a:t>Para la gerencia</a:t>
            </a:r>
            <a:endParaRPr lang="en-US" sz="1600" dirty="0"/>
          </a:p>
        </p:txBody>
      </p:sp>
      <p:sp>
        <p:nvSpPr>
          <p:cNvPr id="9" name="Dato ≥ 5 KPIs"/>
          <p:cNvSpPr/>
          <p:nvPr/>
        </p:nvSpPr>
        <p:spPr>
          <a:xfrm>
            <a:off x="7772400" y="2468880"/>
            <a:ext cx="3931920" cy="1737360"/>
          </a:xfrm>
          <a:prstGeom prst="roundRect">
            <a:avLst>
              <a:gd name="adj" fmla="val 6316"/>
            </a:avLst>
          </a:prstGeom>
          <a:solidFill>
            <a:schemeClr val="bg2"/>
          </a:solidFill>
          <a:ln w="12700">
            <a:solidFill>
              <a:schemeClr val="bg2"/>
            </a:solidFill>
            <a:prstDash val="solid"/>
          </a:ln>
        </p:spPr>
      </p:sp>
      <p:sp>
        <p:nvSpPr>
          <p:cNvPr id="10" name="Text 7"/>
          <p:cNvSpPr txBox="1"/>
          <p:nvPr/>
        </p:nvSpPr>
        <p:spPr>
          <a:xfrm>
            <a:off x="8001000" y="2578608"/>
            <a:ext cx="3474720" cy="868680"/>
          </a:xfrm>
          <a:prstGeom prst="rect">
            <a:avLst/>
          </a:prstGeom>
          <a:noFill/>
          <a:ln/>
        </p:spPr>
        <p:txBody>
          <a:bodyPr wrap="square" lIns="0" tIns="0" rIns="0" bIns="0" rtlCol="0" anchor="ctr"/>
          <a:lstStyle/>
          <a:p>
            <a:pPr marL="0" indent="0">
              <a:buNone/>
            </a:pPr>
            <a:r>
              <a:rPr lang="en-US" sz="3400" b="1" dirty="0">
                <a:solidFill>
                  <a:schemeClr val="accent1"/>
                </a:solidFill>
                <a:latin typeface="Cambria" pitchFamily="34" charset="0"/>
                <a:ea typeface="Cambria" pitchFamily="34" charset="-122"/>
                <a:cs typeface="Cambria" pitchFamily="34" charset="-120"/>
              </a:rPr>
              <a:t>≥ 5 KPIs</a:t>
            </a:r>
            <a:endParaRPr lang="en-US" sz="3400" dirty="0"/>
          </a:p>
        </p:txBody>
      </p:sp>
      <p:sp>
        <p:nvSpPr>
          <p:cNvPr id="11" name="Text 8"/>
          <p:cNvSpPr txBox="1"/>
          <p:nvPr/>
        </p:nvSpPr>
        <p:spPr>
          <a:xfrm>
            <a:off x="8001000" y="3447288"/>
            <a:ext cx="3474720" cy="685800"/>
          </a:xfrm>
          <a:prstGeom prst="rect">
            <a:avLst/>
          </a:prstGeom>
          <a:noFill/>
          <a:ln/>
        </p:spPr>
        <p:txBody>
          <a:bodyPr wrap="square" lIns="0" tIns="0" rIns="0" bIns="0" rtlCol="0" anchor="t"/>
          <a:lstStyle/>
          <a:p>
            <a:pPr marL="0" indent="0">
              <a:buNone/>
            </a:pPr>
            <a:r>
              <a:rPr lang="en-US" sz="1400" dirty="0">
                <a:solidFill>
                  <a:schemeClr val="tx2"/>
                </a:solidFill>
                <a:latin typeface="Calibri" pitchFamily="34" charset="0"/>
                <a:ea typeface="Calibri" pitchFamily="34" charset="-122"/>
                <a:cs typeface="Calibri" pitchFamily="34" charset="-120"/>
              </a:rPr>
              <a:t>de ventas de los últimos 12 meses en un solo tablero</a:t>
            </a:r>
            <a:endParaRPr lang="en-US" sz="1400" dirty="0"/>
          </a:p>
        </p:txBody>
      </p:sp>
      <p:sp>
        <p:nvSpPr>
          <p:cNvPr id="12" name="Dato &lt; 5 s"/>
          <p:cNvSpPr/>
          <p:nvPr/>
        </p:nvSpPr>
        <p:spPr>
          <a:xfrm>
            <a:off x="7772400" y="4389120"/>
            <a:ext cx="3931920" cy="1737360"/>
          </a:xfrm>
          <a:prstGeom prst="roundRect">
            <a:avLst>
              <a:gd name="adj" fmla="val 6316"/>
            </a:avLst>
          </a:prstGeom>
          <a:solidFill>
            <a:schemeClr val="bg2"/>
          </a:solidFill>
          <a:ln w="12700">
            <a:solidFill>
              <a:schemeClr val="bg2"/>
            </a:solidFill>
            <a:prstDash val="solid"/>
          </a:ln>
        </p:spPr>
      </p:sp>
      <p:sp>
        <p:nvSpPr>
          <p:cNvPr id="13" name="Text 10"/>
          <p:cNvSpPr txBox="1"/>
          <p:nvPr/>
        </p:nvSpPr>
        <p:spPr>
          <a:xfrm>
            <a:off x="8001000" y="4498848"/>
            <a:ext cx="3474720" cy="868680"/>
          </a:xfrm>
          <a:prstGeom prst="rect">
            <a:avLst/>
          </a:prstGeom>
          <a:noFill/>
          <a:ln/>
        </p:spPr>
        <p:txBody>
          <a:bodyPr wrap="square" lIns="0" tIns="0" rIns="0" bIns="0" rtlCol="0" anchor="ctr"/>
          <a:lstStyle/>
          <a:p>
            <a:pPr marL="0" indent="0">
              <a:buNone/>
            </a:pPr>
            <a:r>
              <a:rPr lang="en-US" sz="3400" b="1" dirty="0">
                <a:solidFill>
                  <a:schemeClr val="accent2"/>
                </a:solidFill>
                <a:latin typeface="Cambria" pitchFamily="34" charset="0"/>
                <a:ea typeface="Cambria" pitchFamily="34" charset="-122"/>
                <a:cs typeface="Cambria" pitchFamily="34" charset="-120"/>
              </a:rPr>
              <a:t>&lt; 5 s</a:t>
            </a:r>
            <a:endParaRPr lang="en-US" sz="3400" dirty="0"/>
          </a:p>
        </p:txBody>
      </p:sp>
      <p:sp>
        <p:nvSpPr>
          <p:cNvPr id="14" name="Text 11"/>
          <p:cNvSpPr txBox="1"/>
          <p:nvPr/>
        </p:nvSpPr>
        <p:spPr>
          <a:xfrm>
            <a:off x="8001000" y="5367528"/>
            <a:ext cx="3474720" cy="685800"/>
          </a:xfrm>
          <a:prstGeom prst="rect">
            <a:avLst/>
          </a:prstGeom>
          <a:noFill/>
          <a:ln/>
        </p:spPr>
        <p:txBody>
          <a:bodyPr wrap="square" lIns="0" tIns="0" rIns="0" bIns="0" rtlCol="0" anchor="t"/>
          <a:lstStyle/>
          <a:p>
            <a:pPr marL="0" indent="0">
              <a:buNone/>
            </a:pPr>
            <a:r>
              <a:rPr lang="en-US" sz="1400" dirty="0">
                <a:solidFill>
                  <a:schemeClr val="tx2"/>
                </a:solidFill>
                <a:latin typeface="Calibri" pitchFamily="34" charset="0"/>
                <a:ea typeface="Calibri" pitchFamily="34" charset="-122"/>
                <a:cs typeface="Calibri" pitchFamily="34" charset="-120"/>
              </a:rPr>
              <a:t>para actualizar todo con un solo ETL (logrado: 1.52 s)</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1005840"/>
            <a:ext cx="1124712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Objetivos específicos</a:t>
            </a:r>
            <a:endParaRPr lang="en-US" sz="3200" dirty="0"/>
          </a:p>
        </p:txBody>
      </p:sp>
      <p:sp>
        <p:nvSpPr>
          <p:cNvPr id="3" name="Text 1"/>
          <p:cNvSpPr txBox="1"/>
          <p:nvPr/>
        </p:nvSpPr>
        <p:spPr>
          <a:xfrm>
            <a:off x="5760720" y="457200"/>
            <a:ext cx="5943600" cy="274320"/>
          </a:xfrm>
          <a:prstGeom prst="rect">
            <a:avLst/>
          </a:prstGeom>
          <a:noFill/>
          <a:ln/>
        </p:spPr>
        <p:txBody>
          <a:bodyPr wrap="square" lIns="0" tIns="0" rIns="0" bIns="0" rtlCol="0" anchor="t"/>
          <a:lstStyle/>
          <a:p>
            <a:pPr marL="0" indent="0" algn="r">
              <a:buNone/>
            </a:pPr>
            <a:r>
              <a:rPr lang="en-US" sz="1200" b="1" kern="0" spc="200" dirty="0">
                <a:solidFill>
                  <a:schemeClr val="accent1"/>
                </a:solidFill>
                <a:latin typeface="Calibri" pitchFamily="34" charset="0"/>
                <a:ea typeface="Calibri" pitchFamily="34" charset="-122"/>
                <a:cs typeface="Calibri" pitchFamily="34" charset="-120"/>
              </a:rPr>
              <a:t>PARTE 1 · EL PROBLEMA Y LA BASE DE DATOS</a:t>
            </a:r>
            <a:endParaRPr lang="en-US" sz="1200" dirty="0"/>
          </a:p>
        </p:txBody>
      </p:sp>
      <p:sp>
        <p:nvSpPr>
          <p:cNvPr id="5" name="Tarjeta OE1"/>
          <p:cNvSpPr/>
          <p:nvPr/>
        </p:nvSpPr>
        <p:spPr>
          <a:xfrm>
            <a:off x="457200" y="2011680"/>
            <a:ext cx="5532120" cy="1920240"/>
          </a:xfrm>
          <a:prstGeom prst="roundRect">
            <a:avLst>
              <a:gd name="adj" fmla="val 5714"/>
            </a:avLst>
          </a:prstGeom>
          <a:solidFill>
            <a:schemeClr val="bg2"/>
          </a:solidFill>
          <a:ln w="12700">
            <a:solidFill>
              <a:schemeClr val="bg2"/>
            </a:solidFill>
            <a:prstDash val="solid"/>
          </a:ln>
        </p:spPr>
      </p:sp>
      <p:sp>
        <p:nvSpPr>
          <p:cNvPr id="6" name="Text 3"/>
          <p:cNvSpPr txBox="1"/>
          <p:nvPr/>
        </p:nvSpPr>
        <p:spPr>
          <a:xfrm>
            <a:off x="731520" y="2148840"/>
            <a:ext cx="822960" cy="365760"/>
          </a:xfrm>
          <a:prstGeom prst="rect">
            <a:avLst/>
          </a:prstGeom>
          <a:noFill/>
          <a:ln/>
        </p:spPr>
        <p:txBody>
          <a:bodyPr wrap="square" lIns="0" tIns="0" rIns="0" bIns="0" rtlCol="0" anchor="t"/>
          <a:lstStyle/>
          <a:p>
            <a:pPr marL="0" indent="0">
              <a:buNone/>
            </a:pPr>
            <a:r>
              <a:rPr lang="en-US" sz="1800" b="1" dirty="0">
                <a:solidFill>
                  <a:schemeClr val="accent1"/>
                </a:solidFill>
                <a:latin typeface="Calibri" pitchFamily="34" charset="0"/>
                <a:ea typeface="Calibri" pitchFamily="34" charset="-122"/>
                <a:cs typeface="Calibri" pitchFamily="34" charset="-120"/>
              </a:rPr>
              <a:t>OE1</a:t>
            </a:r>
            <a:endParaRPr lang="en-US" sz="1800" dirty="0"/>
          </a:p>
        </p:txBody>
      </p:sp>
      <p:sp>
        <p:nvSpPr>
          <p:cNvPr id="7" name="Text 4"/>
          <p:cNvSpPr txBox="1"/>
          <p:nvPr/>
        </p:nvSpPr>
        <p:spPr>
          <a:xfrm>
            <a:off x="1554480" y="2148840"/>
            <a:ext cx="4297680" cy="502920"/>
          </a:xfrm>
          <a:prstGeom prst="rect">
            <a:avLst/>
          </a:prstGeom>
          <a:noFill/>
          <a:ln/>
        </p:spPr>
        <p:txBody>
          <a:bodyPr wrap="square" lIns="0" tIns="0" rIns="0" bIns="0" rtlCol="0" anchor="t"/>
          <a:lstStyle/>
          <a:p>
            <a:pPr marL="0" indent="0">
              <a:buNone/>
            </a:pPr>
            <a:r>
              <a:rPr lang="en-US" sz="1600" b="1" dirty="0">
                <a:solidFill>
                  <a:schemeClr val="tx1"/>
                </a:solidFill>
                <a:latin typeface="Calibri" pitchFamily="34" charset="0"/>
                <a:ea typeface="Calibri" pitchFamily="34" charset="-122"/>
                <a:cs typeface="Calibri" pitchFamily="34" charset="-120"/>
              </a:rPr>
              <a:t>Automatizar los procesos de base de datos con T-SQL</a:t>
            </a:r>
            <a:endParaRPr lang="en-US" sz="1600" dirty="0"/>
          </a:p>
        </p:txBody>
      </p:sp>
      <p:sp>
        <p:nvSpPr>
          <p:cNvPr id="8" name="Text 5"/>
          <p:cNvSpPr txBox="1"/>
          <p:nvPr/>
        </p:nvSpPr>
        <p:spPr>
          <a:xfrm>
            <a:off x="731520" y="2724912"/>
            <a:ext cx="5029200" cy="320040"/>
          </a:xfrm>
          <a:prstGeom prst="rect">
            <a:avLst/>
          </a:prstGeom>
          <a:noFill/>
          <a:ln/>
        </p:spPr>
        <p:txBody>
          <a:bodyPr wrap="square" lIns="0" tIns="0" rIns="0" bIns="0" rtlCol="0" anchor="t"/>
          <a:lstStyle/>
          <a:p>
            <a:pPr marL="0" indent="0">
              <a:buNone/>
            </a:pPr>
            <a:endParaRPr lang="en-US" sz="1300" dirty="0"/>
          </a:p>
        </p:txBody>
      </p:sp>
      <p:sp>
        <p:nvSpPr>
          <p:cNvPr id="10" name="Text 7"/>
          <p:cNvSpPr txBox="1"/>
          <p:nvPr/>
        </p:nvSpPr>
        <p:spPr>
          <a:xfrm>
            <a:off x="716280" y="3063240"/>
            <a:ext cx="5044440" cy="640080"/>
          </a:xfrm>
          <a:prstGeom prst="rect">
            <a:avLst/>
          </a:prstGeom>
          <a:noFill/>
          <a:ln/>
        </p:spPr>
        <p:txBody>
          <a:bodyPr wrap="square" lIns="0" tIns="0" rIns="0" bIns="0" rtlCol="0" anchor="ctr"/>
          <a:lstStyle/>
          <a:p>
            <a:pPr marL="0" indent="0">
              <a:buNone/>
            </a:pPr>
            <a:r>
              <a:rPr lang="en-US" sz="1400" dirty="0">
                <a:solidFill>
                  <a:schemeClr val="tx2"/>
                </a:solidFill>
                <a:latin typeface="Calibri" pitchFamily="34" charset="0"/>
                <a:ea typeface="Calibri" pitchFamily="34" charset="-122"/>
                <a:cs typeface="Calibri" pitchFamily="34" charset="-120"/>
              </a:rPr>
              <a:t>procedimientos · triggers · funciones</a:t>
            </a:r>
            <a:endParaRPr lang="en-US" sz="1400" dirty="0"/>
          </a:p>
        </p:txBody>
      </p:sp>
      <p:sp>
        <p:nvSpPr>
          <p:cNvPr id="11" name="Tarjeta OE2"/>
          <p:cNvSpPr/>
          <p:nvPr/>
        </p:nvSpPr>
        <p:spPr>
          <a:xfrm>
            <a:off x="6172200" y="2011680"/>
            <a:ext cx="5532120" cy="1920240"/>
          </a:xfrm>
          <a:prstGeom prst="roundRect">
            <a:avLst>
              <a:gd name="adj" fmla="val 5714"/>
            </a:avLst>
          </a:prstGeom>
          <a:solidFill>
            <a:schemeClr val="bg2"/>
          </a:solidFill>
          <a:ln w="12700">
            <a:solidFill>
              <a:schemeClr val="bg2"/>
            </a:solidFill>
            <a:prstDash val="solid"/>
          </a:ln>
        </p:spPr>
      </p:sp>
      <p:sp>
        <p:nvSpPr>
          <p:cNvPr id="12" name="Text 9"/>
          <p:cNvSpPr txBox="1"/>
          <p:nvPr/>
        </p:nvSpPr>
        <p:spPr>
          <a:xfrm>
            <a:off x="6446520" y="2148840"/>
            <a:ext cx="822960" cy="365760"/>
          </a:xfrm>
          <a:prstGeom prst="rect">
            <a:avLst/>
          </a:prstGeom>
          <a:noFill/>
          <a:ln/>
        </p:spPr>
        <p:txBody>
          <a:bodyPr wrap="square" lIns="0" tIns="0" rIns="0" bIns="0" rtlCol="0" anchor="t"/>
          <a:lstStyle/>
          <a:p>
            <a:pPr marL="0" indent="0">
              <a:buNone/>
            </a:pPr>
            <a:r>
              <a:rPr lang="en-US" sz="1800" b="1" dirty="0">
                <a:solidFill>
                  <a:schemeClr val="accent1"/>
                </a:solidFill>
                <a:latin typeface="Calibri" pitchFamily="34" charset="0"/>
                <a:ea typeface="Calibri" pitchFamily="34" charset="-122"/>
                <a:cs typeface="Calibri" pitchFamily="34" charset="-120"/>
              </a:rPr>
              <a:t>OE2</a:t>
            </a:r>
            <a:endParaRPr lang="en-US" sz="1800" dirty="0"/>
          </a:p>
        </p:txBody>
      </p:sp>
      <p:sp>
        <p:nvSpPr>
          <p:cNvPr id="13" name="Text 10"/>
          <p:cNvSpPr txBox="1"/>
          <p:nvPr/>
        </p:nvSpPr>
        <p:spPr>
          <a:xfrm>
            <a:off x="7269480" y="2148840"/>
            <a:ext cx="4297680" cy="502920"/>
          </a:xfrm>
          <a:prstGeom prst="rect">
            <a:avLst/>
          </a:prstGeom>
          <a:noFill/>
          <a:ln/>
        </p:spPr>
        <p:txBody>
          <a:bodyPr wrap="square" lIns="0" tIns="0" rIns="0" bIns="0" rtlCol="0" anchor="t"/>
          <a:lstStyle/>
          <a:p>
            <a:pPr marL="0" indent="0">
              <a:buNone/>
            </a:pPr>
            <a:r>
              <a:rPr lang="en-US" sz="1600" b="1" dirty="0">
                <a:solidFill>
                  <a:schemeClr val="tx1"/>
                </a:solidFill>
                <a:latin typeface="Calibri" pitchFamily="34" charset="0"/>
                <a:ea typeface="Calibri" pitchFamily="34" charset="-122"/>
                <a:cs typeface="Calibri" pitchFamily="34" charset="-120"/>
              </a:rPr>
              <a:t>Habilitar decisiones con inteligencia de negocios</a:t>
            </a:r>
            <a:endParaRPr lang="en-US" sz="1600" dirty="0"/>
          </a:p>
        </p:txBody>
      </p:sp>
      <p:sp>
        <p:nvSpPr>
          <p:cNvPr id="16" name="Text 13"/>
          <p:cNvSpPr txBox="1"/>
          <p:nvPr/>
        </p:nvSpPr>
        <p:spPr>
          <a:xfrm>
            <a:off x="7178040" y="3063240"/>
            <a:ext cx="4297680" cy="640080"/>
          </a:xfrm>
          <a:prstGeom prst="rect">
            <a:avLst/>
          </a:prstGeom>
          <a:noFill/>
          <a:ln/>
        </p:spPr>
        <p:txBody>
          <a:bodyPr wrap="square" lIns="0" tIns="0" rIns="0" bIns="0" rtlCol="0" anchor="ctr"/>
          <a:lstStyle/>
          <a:p>
            <a:pPr marL="0" indent="0">
              <a:buNone/>
            </a:pPr>
            <a:r>
              <a:rPr lang="en-US" sz="1400" dirty="0">
                <a:solidFill>
                  <a:schemeClr val="tx2"/>
                </a:solidFill>
                <a:latin typeface="Calibri" pitchFamily="34" charset="0"/>
                <a:ea typeface="Calibri" pitchFamily="34" charset="-122"/>
                <a:cs typeface="Calibri" pitchFamily="34" charset="-120"/>
              </a:rPr>
              <a:t>hecho · dimensiones · KPIs (ETL 1.52 s)</a:t>
            </a:r>
            <a:endParaRPr lang="en-US" sz="1400" dirty="0"/>
          </a:p>
        </p:txBody>
      </p:sp>
      <p:sp>
        <p:nvSpPr>
          <p:cNvPr id="17" name="Tarjeta OE3"/>
          <p:cNvSpPr/>
          <p:nvPr/>
        </p:nvSpPr>
        <p:spPr>
          <a:xfrm>
            <a:off x="457200" y="4114800"/>
            <a:ext cx="5532120" cy="1920240"/>
          </a:xfrm>
          <a:prstGeom prst="roundRect">
            <a:avLst>
              <a:gd name="adj" fmla="val 5714"/>
            </a:avLst>
          </a:prstGeom>
          <a:solidFill>
            <a:schemeClr val="bg2"/>
          </a:solidFill>
          <a:ln w="12700">
            <a:solidFill>
              <a:schemeClr val="bg2"/>
            </a:solidFill>
            <a:prstDash val="solid"/>
          </a:ln>
        </p:spPr>
      </p:sp>
      <p:sp>
        <p:nvSpPr>
          <p:cNvPr id="18" name="Text 15"/>
          <p:cNvSpPr txBox="1"/>
          <p:nvPr/>
        </p:nvSpPr>
        <p:spPr>
          <a:xfrm>
            <a:off x="731520" y="4251960"/>
            <a:ext cx="822960" cy="365760"/>
          </a:xfrm>
          <a:prstGeom prst="rect">
            <a:avLst/>
          </a:prstGeom>
          <a:noFill/>
          <a:ln/>
        </p:spPr>
        <p:txBody>
          <a:bodyPr wrap="square" lIns="0" tIns="0" rIns="0" bIns="0" rtlCol="0" anchor="t"/>
          <a:lstStyle/>
          <a:p>
            <a:pPr marL="0" indent="0">
              <a:buNone/>
            </a:pPr>
            <a:r>
              <a:rPr lang="en-US" sz="1800" b="1" dirty="0">
                <a:solidFill>
                  <a:schemeClr val="accent1"/>
                </a:solidFill>
                <a:latin typeface="Calibri" pitchFamily="34" charset="0"/>
                <a:ea typeface="Calibri" pitchFamily="34" charset="-122"/>
                <a:cs typeface="Calibri" pitchFamily="34" charset="-120"/>
              </a:rPr>
              <a:t>OE3</a:t>
            </a:r>
            <a:endParaRPr lang="en-US" sz="1800" dirty="0"/>
          </a:p>
        </p:txBody>
      </p:sp>
      <p:sp>
        <p:nvSpPr>
          <p:cNvPr id="19" name="Text 16"/>
          <p:cNvSpPr txBox="1"/>
          <p:nvPr/>
        </p:nvSpPr>
        <p:spPr>
          <a:xfrm>
            <a:off x="1554480" y="4251960"/>
            <a:ext cx="4297680" cy="502920"/>
          </a:xfrm>
          <a:prstGeom prst="rect">
            <a:avLst/>
          </a:prstGeom>
          <a:noFill/>
          <a:ln/>
        </p:spPr>
        <p:txBody>
          <a:bodyPr wrap="square" lIns="0" tIns="0" rIns="0" bIns="0" rtlCol="0" anchor="t"/>
          <a:lstStyle/>
          <a:p>
            <a:pPr marL="0" indent="0">
              <a:buNone/>
            </a:pPr>
            <a:r>
              <a:rPr lang="en-US" sz="1600" b="1" dirty="0">
                <a:solidFill>
                  <a:schemeClr val="tx1"/>
                </a:solidFill>
                <a:latin typeface="Calibri" pitchFamily="34" charset="0"/>
                <a:ea typeface="Calibri" pitchFamily="34" charset="-122"/>
                <a:cs typeface="Calibri" pitchFamily="34" charset="-120"/>
              </a:rPr>
              <a:t>Procesar Big Data con Apache Spark</a:t>
            </a:r>
            <a:endParaRPr lang="en-US" sz="1600" dirty="0"/>
          </a:p>
        </p:txBody>
      </p:sp>
      <p:sp>
        <p:nvSpPr>
          <p:cNvPr id="22" name="Text 19"/>
          <p:cNvSpPr txBox="1"/>
          <p:nvPr/>
        </p:nvSpPr>
        <p:spPr>
          <a:xfrm>
            <a:off x="731520" y="5166360"/>
            <a:ext cx="5029200" cy="640080"/>
          </a:xfrm>
          <a:prstGeom prst="rect">
            <a:avLst/>
          </a:prstGeom>
          <a:noFill/>
          <a:ln/>
        </p:spPr>
        <p:txBody>
          <a:bodyPr wrap="square" lIns="0" tIns="0" rIns="0" bIns="0" rtlCol="0" anchor="ctr"/>
          <a:lstStyle/>
          <a:p>
            <a:pPr marL="0" indent="0">
              <a:buNone/>
            </a:pPr>
            <a:r>
              <a:rPr lang="en-US" sz="1400" dirty="0">
                <a:solidFill>
                  <a:schemeClr val="tx2"/>
                </a:solidFill>
                <a:latin typeface="Calibri" pitchFamily="34" charset="0"/>
                <a:ea typeface="Calibri" pitchFamily="34" charset="-122"/>
                <a:cs typeface="Calibri" pitchFamily="34" charset="-120"/>
              </a:rPr>
              <a:t>objetos · fuentes · volúmenes</a:t>
            </a:r>
            <a:endParaRPr lang="en-US" sz="1400" dirty="0"/>
          </a:p>
        </p:txBody>
      </p:sp>
      <p:sp>
        <p:nvSpPr>
          <p:cNvPr id="23" name="Tarjeta OE4"/>
          <p:cNvSpPr/>
          <p:nvPr/>
        </p:nvSpPr>
        <p:spPr>
          <a:xfrm>
            <a:off x="6172200" y="4114800"/>
            <a:ext cx="5532120" cy="1920240"/>
          </a:xfrm>
          <a:prstGeom prst="roundRect">
            <a:avLst>
              <a:gd name="adj" fmla="val 5714"/>
            </a:avLst>
          </a:prstGeom>
          <a:solidFill>
            <a:schemeClr val="bg2"/>
          </a:solidFill>
          <a:ln w="12700">
            <a:solidFill>
              <a:schemeClr val="bg2"/>
            </a:solidFill>
            <a:prstDash val="solid"/>
          </a:ln>
        </p:spPr>
      </p:sp>
      <p:sp>
        <p:nvSpPr>
          <p:cNvPr id="24" name="Text 21"/>
          <p:cNvSpPr txBox="1"/>
          <p:nvPr/>
        </p:nvSpPr>
        <p:spPr>
          <a:xfrm>
            <a:off x="6446520" y="4251960"/>
            <a:ext cx="822960" cy="365760"/>
          </a:xfrm>
          <a:prstGeom prst="rect">
            <a:avLst/>
          </a:prstGeom>
          <a:noFill/>
          <a:ln/>
        </p:spPr>
        <p:txBody>
          <a:bodyPr wrap="square" lIns="0" tIns="0" rIns="0" bIns="0" rtlCol="0" anchor="t"/>
          <a:lstStyle/>
          <a:p>
            <a:pPr marL="0" indent="0">
              <a:buNone/>
            </a:pPr>
            <a:r>
              <a:rPr lang="en-US" sz="1800" b="1" dirty="0">
                <a:solidFill>
                  <a:schemeClr val="accent1"/>
                </a:solidFill>
                <a:latin typeface="Calibri" pitchFamily="34" charset="0"/>
                <a:ea typeface="Calibri" pitchFamily="34" charset="-122"/>
                <a:cs typeface="Calibri" pitchFamily="34" charset="-120"/>
              </a:rPr>
              <a:t>OE4</a:t>
            </a:r>
            <a:endParaRPr lang="en-US" sz="1800" dirty="0"/>
          </a:p>
        </p:txBody>
      </p:sp>
      <p:sp>
        <p:nvSpPr>
          <p:cNvPr id="25" name="Text 22"/>
          <p:cNvSpPr txBox="1"/>
          <p:nvPr/>
        </p:nvSpPr>
        <p:spPr>
          <a:xfrm>
            <a:off x="7269480" y="4251960"/>
            <a:ext cx="4297680" cy="502920"/>
          </a:xfrm>
          <a:prstGeom prst="rect">
            <a:avLst/>
          </a:prstGeom>
          <a:noFill/>
          <a:ln/>
        </p:spPr>
        <p:txBody>
          <a:bodyPr wrap="square" lIns="0" tIns="0" rIns="0" bIns="0" rtlCol="0" anchor="t"/>
          <a:lstStyle/>
          <a:p>
            <a:pPr marL="0" indent="0">
              <a:buNone/>
            </a:pPr>
            <a:r>
              <a:rPr lang="en-US" sz="1600" b="1" dirty="0">
                <a:solidFill>
                  <a:schemeClr val="tx1"/>
                </a:solidFill>
                <a:latin typeface="Calibri" pitchFamily="34" charset="0"/>
                <a:ea typeface="Calibri" pitchFamily="34" charset="-122"/>
                <a:cs typeface="Calibri" pitchFamily="34" charset="-120"/>
              </a:rPr>
              <a:t>Integrar todo en un flujo único, seguro y trazable</a:t>
            </a:r>
            <a:endParaRPr lang="en-US" sz="1600" dirty="0"/>
          </a:p>
        </p:txBody>
      </p:sp>
      <p:sp>
        <p:nvSpPr>
          <p:cNvPr id="28" name="Text 25"/>
          <p:cNvSpPr txBox="1"/>
          <p:nvPr/>
        </p:nvSpPr>
        <p:spPr>
          <a:xfrm>
            <a:off x="7178040" y="5166360"/>
            <a:ext cx="4297680" cy="640080"/>
          </a:xfrm>
          <a:prstGeom prst="rect">
            <a:avLst/>
          </a:prstGeom>
          <a:noFill/>
          <a:ln/>
        </p:spPr>
        <p:txBody>
          <a:bodyPr wrap="square" lIns="0" tIns="0" rIns="0" bIns="0" rtlCol="0" anchor="ctr"/>
          <a:lstStyle/>
          <a:p>
            <a:pPr marL="0" indent="0">
              <a:buNone/>
            </a:pPr>
            <a:r>
              <a:rPr lang="en-US" sz="1400" dirty="0">
                <a:solidFill>
                  <a:schemeClr val="tx2"/>
                </a:solidFill>
                <a:latin typeface="Calibri" pitchFamily="34" charset="0"/>
                <a:ea typeface="Calibri" pitchFamily="34" charset="-122"/>
                <a:cs typeface="Calibri" pitchFamily="34" charset="-120"/>
              </a:rPr>
              <a:t>carpetas del repositorio · filas de la matriz</a:t>
            </a:r>
            <a:endParaRPr lang="en-US" sz="1400" dirty="0"/>
          </a:p>
        </p:txBody>
      </p:sp>
      <p:sp>
        <p:nvSpPr>
          <p:cNvPr id="4"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1005840"/>
            <a:ext cx="1124712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Los </a:t>
            </a:r>
            <a:r>
              <a:rPr lang="en-US" sz="3200" b="1" dirty="0" err="1">
                <a:solidFill>
                  <a:schemeClr val="tx1"/>
                </a:solidFill>
                <a:latin typeface="Cambria" pitchFamily="34" charset="0"/>
                <a:ea typeface="Cambria" pitchFamily="34" charset="-122"/>
                <a:cs typeface="Cambria" pitchFamily="34" charset="-120"/>
              </a:rPr>
              <a:t>datos</a:t>
            </a:r>
            <a:endParaRPr lang="en-US" sz="3200" dirty="0"/>
          </a:p>
        </p:txBody>
      </p:sp>
      <p:sp>
        <p:nvSpPr>
          <p:cNvPr id="3" name="Text 1"/>
          <p:cNvSpPr txBox="1"/>
          <p:nvPr/>
        </p:nvSpPr>
        <p:spPr>
          <a:xfrm>
            <a:off x="5760720" y="457200"/>
            <a:ext cx="5943600" cy="274320"/>
          </a:xfrm>
          <a:prstGeom prst="rect">
            <a:avLst/>
          </a:prstGeom>
          <a:noFill/>
          <a:ln/>
        </p:spPr>
        <p:txBody>
          <a:bodyPr wrap="square" lIns="0" tIns="0" rIns="0" bIns="0" rtlCol="0" anchor="t"/>
          <a:lstStyle/>
          <a:p>
            <a:pPr marL="0" indent="0" algn="r">
              <a:buNone/>
            </a:pPr>
            <a:r>
              <a:rPr lang="en-US" sz="1200" b="1" kern="0" spc="200" dirty="0">
                <a:solidFill>
                  <a:schemeClr val="accent1"/>
                </a:solidFill>
                <a:latin typeface="Calibri" pitchFamily="34" charset="0"/>
                <a:ea typeface="Calibri" pitchFamily="34" charset="-122"/>
                <a:cs typeface="Calibri" pitchFamily="34" charset="-120"/>
              </a:rPr>
              <a:t>PARTE 1 · EL PROBLEMA Y LA BASE DE DATOS</a:t>
            </a:r>
            <a:endParaRPr lang="en-US" sz="1200" dirty="0"/>
          </a:p>
        </p:txBody>
      </p:sp>
      <p:sp>
        <p:nvSpPr>
          <p:cNvPr id="5" name="Dato 69 847"/>
          <p:cNvSpPr/>
          <p:nvPr/>
        </p:nvSpPr>
        <p:spPr>
          <a:xfrm>
            <a:off x="457200" y="2011680"/>
            <a:ext cx="4023360" cy="1737360"/>
          </a:xfrm>
          <a:prstGeom prst="roundRect">
            <a:avLst>
              <a:gd name="adj" fmla="val 6316"/>
            </a:avLst>
          </a:prstGeom>
          <a:solidFill>
            <a:schemeClr val="bg2"/>
          </a:solidFill>
          <a:ln w="12700">
            <a:solidFill>
              <a:schemeClr val="bg2"/>
            </a:solidFill>
            <a:prstDash val="solid"/>
          </a:ln>
        </p:spPr>
      </p:sp>
      <p:sp>
        <p:nvSpPr>
          <p:cNvPr id="6" name="Text 3"/>
          <p:cNvSpPr txBox="1"/>
          <p:nvPr/>
        </p:nvSpPr>
        <p:spPr>
          <a:xfrm>
            <a:off x="685800" y="2121408"/>
            <a:ext cx="3566160" cy="868680"/>
          </a:xfrm>
          <a:prstGeom prst="rect">
            <a:avLst/>
          </a:prstGeom>
          <a:noFill/>
          <a:ln/>
        </p:spPr>
        <p:txBody>
          <a:bodyPr wrap="square" lIns="0" tIns="0" rIns="0" bIns="0" rtlCol="0" anchor="ctr"/>
          <a:lstStyle/>
          <a:p>
            <a:pPr marL="0" indent="0">
              <a:buNone/>
            </a:pPr>
            <a:r>
              <a:rPr lang="en-US" sz="4400" b="1" dirty="0">
                <a:solidFill>
                  <a:schemeClr val="accent1"/>
                </a:solidFill>
                <a:latin typeface="Cambria" pitchFamily="34" charset="0"/>
                <a:ea typeface="Cambria" pitchFamily="34" charset="-122"/>
                <a:cs typeface="Cambria" pitchFamily="34" charset="-120"/>
              </a:rPr>
              <a:t>69 847</a:t>
            </a:r>
            <a:endParaRPr lang="en-US" sz="4400" dirty="0"/>
          </a:p>
        </p:txBody>
      </p:sp>
      <p:sp>
        <p:nvSpPr>
          <p:cNvPr id="7" name="Text 4"/>
          <p:cNvSpPr txBox="1"/>
          <p:nvPr/>
        </p:nvSpPr>
        <p:spPr>
          <a:xfrm>
            <a:off x="685800" y="2990088"/>
            <a:ext cx="3566160" cy="685800"/>
          </a:xfrm>
          <a:prstGeom prst="rect">
            <a:avLst/>
          </a:prstGeom>
          <a:noFill/>
          <a:ln/>
        </p:spPr>
        <p:txBody>
          <a:bodyPr wrap="square" lIns="0" tIns="0" rIns="0" bIns="0" rtlCol="0" anchor="t"/>
          <a:lstStyle/>
          <a:p>
            <a:pPr marL="0" indent="0">
              <a:buNone/>
            </a:pPr>
            <a:r>
              <a:rPr lang="en-US" sz="1400" dirty="0">
                <a:solidFill>
                  <a:schemeClr val="tx2"/>
                </a:solidFill>
                <a:latin typeface="Calibri" pitchFamily="34" charset="0"/>
                <a:ea typeface="Calibri" pitchFamily="34" charset="-122"/>
                <a:cs typeface="Calibri" pitchFamily="34" charset="-120"/>
              </a:rPr>
              <a:t>filas de entrada en 9 datasets</a:t>
            </a:r>
            <a:endParaRPr lang="en-US" sz="1400" dirty="0"/>
          </a:p>
        </p:txBody>
      </p:sp>
      <p:sp>
        <p:nvSpPr>
          <p:cNvPr id="8" name="Paso 1"/>
          <p:cNvSpPr/>
          <p:nvPr/>
        </p:nvSpPr>
        <p:spPr>
          <a:xfrm>
            <a:off x="457200" y="3977640"/>
            <a:ext cx="457200" cy="457200"/>
          </a:xfrm>
          <a:prstGeom prst="ellipse">
            <a:avLst/>
          </a:prstGeom>
          <a:solidFill>
            <a:schemeClr val="accent1"/>
          </a:solidFill>
          <a:ln w="12700">
            <a:solidFill>
              <a:schemeClr val="accent1"/>
            </a:solidFill>
            <a:prstDash val="solid"/>
          </a:ln>
        </p:spPr>
      </p:sp>
      <p:sp>
        <p:nvSpPr>
          <p:cNvPr id="9" name="Text 6"/>
          <p:cNvSpPr txBox="1"/>
          <p:nvPr/>
        </p:nvSpPr>
        <p:spPr>
          <a:xfrm>
            <a:off x="457200" y="397764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latin typeface="Calibri" pitchFamily="34" charset="0"/>
                <a:ea typeface="Calibri" pitchFamily="34" charset="-122"/>
                <a:cs typeface="Calibri" pitchFamily="34" charset="-120"/>
              </a:rPr>
              <a:t>1</a:t>
            </a:r>
            <a:endParaRPr lang="en-US" sz="1600" dirty="0"/>
          </a:p>
        </p:txBody>
      </p:sp>
      <p:sp>
        <p:nvSpPr>
          <p:cNvPr id="10" name="Text 7"/>
          <p:cNvSpPr txBox="1"/>
          <p:nvPr/>
        </p:nvSpPr>
        <p:spPr>
          <a:xfrm>
            <a:off x="1097280" y="3913632"/>
            <a:ext cx="3383280" cy="274320"/>
          </a:xfrm>
          <a:prstGeom prst="rect">
            <a:avLst/>
          </a:prstGeom>
          <a:noFill/>
          <a:ln/>
        </p:spPr>
        <p:txBody>
          <a:bodyPr wrap="square" lIns="0" tIns="0" rIns="0" bIns="0" rtlCol="0" anchor="t"/>
          <a:lstStyle/>
          <a:p>
            <a:pPr marL="0" indent="0">
              <a:buNone/>
            </a:pPr>
            <a:r>
              <a:rPr lang="en-US" sz="1500" b="1" dirty="0">
                <a:solidFill>
                  <a:schemeClr val="tx1"/>
                </a:solidFill>
                <a:latin typeface="Calibri" pitchFamily="34" charset="0"/>
                <a:ea typeface="Calibri" pitchFamily="34" charset="-122"/>
                <a:cs typeface="Calibri" pitchFamily="34" charset="-120"/>
              </a:rPr>
              <a:t>Mockaroo</a:t>
            </a:r>
            <a:endParaRPr lang="en-US" sz="1500" dirty="0"/>
          </a:p>
        </p:txBody>
      </p:sp>
      <p:sp>
        <p:nvSpPr>
          <p:cNvPr id="11" name="Text 8"/>
          <p:cNvSpPr txBox="1"/>
          <p:nvPr/>
        </p:nvSpPr>
        <p:spPr>
          <a:xfrm>
            <a:off x="1097280" y="4178808"/>
            <a:ext cx="3383280" cy="502920"/>
          </a:xfrm>
          <a:prstGeom prst="rect">
            <a:avLst/>
          </a:prstGeom>
          <a:noFill/>
          <a:ln/>
        </p:spPr>
        <p:txBody>
          <a:bodyPr wrap="square" lIns="0" tIns="0" rIns="0" bIns="0" rtlCol="0" anchor="t"/>
          <a:lstStyle/>
          <a:p>
            <a:pPr marL="0" indent="0">
              <a:buNone/>
            </a:pPr>
            <a:r>
              <a:rPr lang="en-US" sz="1200" dirty="0">
                <a:solidFill>
                  <a:schemeClr val="tx2"/>
                </a:solidFill>
                <a:latin typeface="Calibri" pitchFamily="34" charset="0"/>
                <a:ea typeface="Calibri" pitchFamily="34" charset="-122"/>
                <a:cs typeface="Calibri" pitchFamily="34" charset="-120"/>
              </a:rPr>
              <a:t>Base del personal y de los pedidos</a:t>
            </a:r>
            <a:endParaRPr lang="en-US" sz="1200" dirty="0"/>
          </a:p>
        </p:txBody>
      </p:sp>
      <p:sp>
        <p:nvSpPr>
          <p:cNvPr id="12" name="Paso 2"/>
          <p:cNvSpPr/>
          <p:nvPr/>
        </p:nvSpPr>
        <p:spPr>
          <a:xfrm>
            <a:off x="457200" y="4754880"/>
            <a:ext cx="457200" cy="457200"/>
          </a:xfrm>
          <a:prstGeom prst="ellipse">
            <a:avLst/>
          </a:prstGeom>
          <a:solidFill>
            <a:schemeClr val="accent1"/>
          </a:solidFill>
          <a:ln w="12700">
            <a:solidFill>
              <a:schemeClr val="accent1"/>
            </a:solidFill>
            <a:prstDash val="solid"/>
          </a:ln>
        </p:spPr>
      </p:sp>
      <p:sp>
        <p:nvSpPr>
          <p:cNvPr id="13" name="Text 10"/>
          <p:cNvSpPr txBox="1"/>
          <p:nvPr/>
        </p:nvSpPr>
        <p:spPr>
          <a:xfrm>
            <a:off x="457200" y="475488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latin typeface="Calibri" pitchFamily="34" charset="0"/>
                <a:ea typeface="Calibri" pitchFamily="34" charset="-122"/>
                <a:cs typeface="Calibri" pitchFamily="34" charset="-120"/>
              </a:rPr>
              <a:t>2</a:t>
            </a:r>
            <a:endParaRPr lang="en-US" sz="1600" dirty="0"/>
          </a:p>
        </p:txBody>
      </p:sp>
      <p:sp>
        <p:nvSpPr>
          <p:cNvPr id="14" name="Text 11"/>
          <p:cNvSpPr txBox="1"/>
          <p:nvPr/>
        </p:nvSpPr>
        <p:spPr>
          <a:xfrm>
            <a:off x="1097280" y="4690872"/>
            <a:ext cx="3383280" cy="274320"/>
          </a:xfrm>
          <a:prstGeom prst="rect">
            <a:avLst/>
          </a:prstGeom>
          <a:noFill/>
          <a:ln/>
        </p:spPr>
        <p:txBody>
          <a:bodyPr wrap="square" lIns="0" tIns="0" rIns="0" bIns="0" rtlCol="0" anchor="t"/>
          <a:lstStyle/>
          <a:p>
            <a:pPr marL="0" indent="0">
              <a:buNone/>
            </a:pPr>
            <a:r>
              <a:rPr lang="en-US" sz="1500" b="1" dirty="0">
                <a:solidFill>
                  <a:schemeClr val="tx1"/>
                </a:solidFill>
                <a:latin typeface="Calibri" pitchFamily="34" charset="0"/>
                <a:ea typeface="Calibri" pitchFamily="34" charset="-122"/>
                <a:cs typeface="Calibri" pitchFamily="34" charset="-120"/>
              </a:rPr>
              <a:t>Script en Python</a:t>
            </a:r>
            <a:endParaRPr lang="en-US" sz="1500" dirty="0"/>
          </a:p>
        </p:txBody>
      </p:sp>
      <p:sp>
        <p:nvSpPr>
          <p:cNvPr id="15" name="Text 12"/>
          <p:cNvSpPr txBox="1"/>
          <p:nvPr/>
        </p:nvSpPr>
        <p:spPr>
          <a:xfrm>
            <a:off x="1097280" y="4956048"/>
            <a:ext cx="3383280" cy="502920"/>
          </a:xfrm>
          <a:prstGeom prst="rect">
            <a:avLst/>
          </a:prstGeom>
          <a:noFill/>
          <a:ln/>
        </p:spPr>
        <p:txBody>
          <a:bodyPr wrap="square" lIns="0" tIns="0" rIns="0" bIns="0" rtlCol="0" anchor="t"/>
          <a:lstStyle/>
          <a:p>
            <a:pPr marL="0" indent="0">
              <a:buNone/>
            </a:pPr>
            <a:r>
              <a:rPr lang="en-US" sz="1200" dirty="0">
                <a:solidFill>
                  <a:schemeClr val="tx2"/>
                </a:solidFill>
                <a:latin typeface="Calibri" pitchFamily="34" charset="0"/>
                <a:ea typeface="Calibri" pitchFamily="34" charset="-122"/>
                <a:cs typeface="Calibri" pitchFamily="34" charset="-120"/>
              </a:rPr>
              <a:t>generar_datos.py con semilla fija: amplía a más de 5 000 filas cada dataset transaccional</a:t>
            </a:r>
            <a:endParaRPr lang="en-US" sz="1200" dirty="0"/>
          </a:p>
        </p:txBody>
      </p:sp>
      <p:sp>
        <p:nvSpPr>
          <p:cNvPr id="16" name="Paso 3"/>
          <p:cNvSpPr/>
          <p:nvPr/>
        </p:nvSpPr>
        <p:spPr>
          <a:xfrm>
            <a:off x="457200" y="5532120"/>
            <a:ext cx="457200" cy="457200"/>
          </a:xfrm>
          <a:prstGeom prst="ellipse">
            <a:avLst/>
          </a:prstGeom>
          <a:solidFill>
            <a:schemeClr val="accent1"/>
          </a:solidFill>
          <a:ln w="12700">
            <a:solidFill>
              <a:schemeClr val="accent1"/>
            </a:solidFill>
            <a:prstDash val="solid"/>
          </a:ln>
        </p:spPr>
      </p:sp>
      <p:sp>
        <p:nvSpPr>
          <p:cNvPr id="17" name="Text 14"/>
          <p:cNvSpPr txBox="1"/>
          <p:nvPr/>
        </p:nvSpPr>
        <p:spPr>
          <a:xfrm>
            <a:off x="457200" y="5532120"/>
            <a:ext cx="457200" cy="457200"/>
          </a:xfrm>
          <a:prstGeom prst="rect">
            <a:avLst/>
          </a:prstGeom>
          <a:noFill/>
          <a:ln/>
        </p:spPr>
        <p:txBody>
          <a:bodyPr wrap="square" lIns="0" tIns="0" rIns="0" bIns="0" rtlCol="0" anchor="ctr"/>
          <a:lstStyle/>
          <a:p>
            <a:pPr marL="0" indent="0" algn="ctr">
              <a:buNone/>
            </a:pPr>
            <a:r>
              <a:rPr lang="en-US" sz="1600" b="1" dirty="0">
                <a:solidFill>
                  <a:schemeClr val="bg1"/>
                </a:solidFill>
                <a:latin typeface="Calibri" pitchFamily="34" charset="0"/>
                <a:ea typeface="Calibri" pitchFamily="34" charset="-122"/>
                <a:cs typeface="Calibri" pitchFamily="34" charset="-120"/>
              </a:rPr>
              <a:t>3</a:t>
            </a:r>
            <a:endParaRPr lang="en-US" sz="1600" dirty="0"/>
          </a:p>
        </p:txBody>
      </p:sp>
      <p:sp>
        <p:nvSpPr>
          <p:cNvPr id="18" name="Text 15"/>
          <p:cNvSpPr txBox="1"/>
          <p:nvPr/>
        </p:nvSpPr>
        <p:spPr>
          <a:xfrm>
            <a:off x="1097280" y="5468112"/>
            <a:ext cx="3383280" cy="274320"/>
          </a:xfrm>
          <a:prstGeom prst="rect">
            <a:avLst/>
          </a:prstGeom>
          <a:noFill/>
          <a:ln/>
        </p:spPr>
        <p:txBody>
          <a:bodyPr wrap="square" lIns="0" tIns="0" rIns="0" bIns="0" rtlCol="0" anchor="t"/>
          <a:lstStyle/>
          <a:p>
            <a:pPr marL="0" indent="0">
              <a:buNone/>
            </a:pPr>
            <a:r>
              <a:rPr lang="en-US" sz="1500" b="1" dirty="0">
                <a:solidFill>
                  <a:schemeClr val="tx1"/>
                </a:solidFill>
                <a:latin typeface="Calibri" pitchFamily="34" charset="0"/>
                <a:ea typeface="Calibri" pitchFamily="34" charset="-122"/>
                <a:cs typeface="Calibri" pitchFamily="34" charset="-120"/>
              </a:rPr>
              <a:t>Problemas inyectados</a:t>
            </a:r>
            <a:endParaRPr lang="en-US" sz="1500" dirty="0"/>
          </a:p>
        </p:txBody>
      </p:sp>
      <p:sp>
        <p:nvSpPr>
          <p:cNvPr id="19" name="Text 16"/>
          <p:cNvSpPr txBox="1"/>
          <p:nvPr/>
        </p:nvSpPr>
        <p:spPr>
          <a:xfrm>
            <a:off x="1097280" y="5733288"/>
            <a:ext cx="3383280" cy="502920"/>
          </a:xfrm>
          <a:prstGeom prst="rect">
            <a:avLst/>
          </a:prstGeom>
          <a:noFill/>
          <a:ln/>
        </p:spPr>
        <p:txBody>
          <a:bodyPr wrap="square" lIns="0" tIns="0" rIns="0" bIns="0" rtlCol="0" anchor="t"/>
          <a:lstStyle/>
          <a:p>
            <a:pPr marL="0" indent="0">
              <a:buNone/>
            </a:pPr>
            <a:r>
              <a:rPr lang="en-US" sz="1200" dirty="0">
                <a:solidFill>
                  <a:schemeClr val="tx2"/>
                </a:solidFill>
                <a:latin typeface="Calibri" pitchFamily="34" charset="0"/>
                <a:ea typeface="Calibri" pitchFamily="34" charset="-122"/>
                <a:cs typeface="Calibri" pitchFamily="34" charset="-120"/>
              </a:rPr>
              <a:t>A propósito, para poder contarlos y verificar la limpieza</a:t>
            </a:r>
            <a:endParaRPr lang="en-US" sz="1200" dirty="0"/>
          </a:p>
        </p:txBody>
      </p:sp>
      <p:graphicFrame>
        <p:nvGraphicFramePr>
          <p:cNvPr id="4" name="Tabla de datasets"/>
          <p:cNvGraphicFramePr>
            <a:graphicFrameLocks noGrp="1"/>
          </p:cNvGraphicFramePr>
          <p:nvPr>
            <p:extLst>
              <p:ext uri="{D42A27DB-BD31-4B8C-83A1-F6EECF244321}">
                <p14:modId xmlns:p14="http://schemas.microsoft.com/office/powerpoint/2010/main" val="1579011935"/>
              </p:ext>
            </p:extLst>
          </p:nvPr>
        </p:nvGraphicFramePr>
        <p:xfrm>
          <a:off x="4937760" y="2011680"/>
          <a:ext cx="6766560" cy="3840480"/>
        </p:xfrm>
        <a:graphic>
          <a:graphicData uri="http://schemas.openxmlformats.org/drawingml/2006/table">
            <a:tbl>
              <a:tblPr/>
              <a:tblGrid>
                <a:gridCol w="47548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tblGrid>
              <a:tr h="38404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Dataset</a:t>
                      </a:r>
                      <a:endParaRPr lang="en-US" sz="14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111111"/>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Filas</a:t>
                      </a:r>
                      <a:endParaRPr lang="en-US" sz="14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111111"/>
                    </a:solidFill>
                  </a:tcPr>
                </a:tc>
                <a:extLst>
                  <a:ext uri="{0D108BD9-81ED-4DB2-BD59-A6C34878D82A}">
                    <a16:rowId xmlns:a16="http://schemas.microsoft.com/office/drawing/2014/main" val="10000"/>
                  </a:ext>
                </a:extLst>
              </a:tr>
              <a:tr h="384048">
                <a:tc>
                  <a:txBody>
                    <a:bodyPr/>
                    <a:lstStyle/>
                    <a:p>
                      <a:pPr marL="0" indent="0">
                        <a:buNone/>
                      </a:pPr>
                      <a:r>
                        <a:rPr lang="en-US" sz="1300" dirty="0">
                          <a:solidFill>
                            <a:srgbClr val="111111"/>
                          </a:solidFill>
                          <a:latin typeface="Calibri" pitchFamily="34" charset="0"/>
                          <a:ea typeface="Calibri" pitchFamily="34" charset="-122"/>
                          <a:cs typeface="Calibri" pitchFamily="34" charset="-120"/>
                        </a:rPr>
                        <a:t>Detalle de pedido</a:t>
                      </a:r>
                      <a:endParaRPr lang="en-US" sz="13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lgn="r">
                        <a:buNone/>
                      </a:pPr>
                      <a:r>
                        <a:rPr lang="en-US" sz="1300" b="1" dirty="0">
                          <a:solidFill>
                            <a:srgbClr val="111111"/>
                          </a:solidFill>
                          <a:latin typeface="Calibri" pitchFamily="34" charset="0"/>
                          <a:ea typeface="Calibri" pitchFamily="34" charset="-122"/>
                          <a:cs typeface="Calibri" pitchFamily="34" charset="-120"/>
                        </a:rPr>
                        <a:t>35 519</a:t>
                      </a:r>
                      <a:endParaRPr lang="en-US" sz="13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300" dirty="0">
                          <a:solidFill>
                            <a:srgbClr val="111111"/>
                          </a:solidFill>
                          <a:latin typeface="Calibri" pitchFamily="34" charset="0"/>
                          <a:ea typeface="Calibri" pitchFamily="34" charset="-122"/>
                          <a:cs typeface="Calibri" pitchFamily="34" charset="-120"/>
                        </a:rPr>
                        <a:t>Pedidos</a:t>
                      </a:r>
                      <a:endParaRPr lang="en-US" sz="13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lgn="r">
                        <a:buNone/>
                      </a:pPr>
                      <a:r>
                        <a:rPr lang="en-US" sz="1300" b="1" dirty="0">
                          <a:solidFill>
                            <a:srgbClr val="111111"/>
                          </a:solidFill>
                          <a:latin typeface="Calibri" pitchFamily="34" charset="0"/>
                          <a:ea typeface="Calibri" pitchFamily="34" charset="-122"/>
                          <a:cs typeface="Calibri" pitchFamily="34" charset="-120"/>
                        </a:rPr>
                        <a:t>12 038</a:t>
                      </a:r>
                      <a:endParaRPr lang="en-US" sz="13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300" dirty="0">
                          <a:solidFill>
                            <a:srgbClr val="111111"/>
                          </a:solidFill>
                          <a:latin typeface="Calibri" pitchFamily="34" charset="0"/>
                          <a:ea typeface="Calibri" pitchFamily="34" charset="-122"/>
                          <a:cs typeface="Calibri" pitchFamily="34" charset="-120"/>
                        </a:rPr>
                        <a:t>Asistencia del personal</a:t>
                      </a:r>
                      <a:endParaRPr lang="en-US" sz="13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lgn="r">
                        <a:buNone/>
                      </a:pPr>
                      <a:r>
                        <a:rPr lang="en-US" sz="1300" b="1" dirty="0">
                          <a:solidFill>
                            <a:srgbClr val="111111"/>
                          </a:solidFill>
                          <a:latin typeface="Calibri" pitchFamily="34" charset="0"/>
                          <a:ea typeface="Calibri" pitchFamily="34" charset="-122"/>
                          <a:cs typeface="Calibri" pitchFamily="34" charset="-120"/>
                        </a:rPr>
                        <a:t>6 000</a:t>
                      </a:r>
                      <a:endParaRPr lang="en-US" sz="13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300" dirty="0">
                          <a:solidFill>
                            <a:srgbClr val="111111"/>
                          </a:solidFill>
                          <a:latin typeface="Calibri" pitchFamily="34" charset="0"/>
                          <a:ea typeface="Calibri" pitchFamily="34" charset="-122"/>
                          <a:cs typeface="Calibri" pitchFamily="34" charset="-120"/>
                        </a:rPr>
                        <a:t>Clientes</a:t>
                      </a:r>
                      <a:endParaRPr lang="en-US" sz="13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lgn="r">
                        <a:buNone/>
                      </a:pPr>
                      <a:r>
                        <a:rPr lang="en-US" sz="1300" b="1" dirty="0">
                          <a:solidFill>
                            <a:srgbClr val="111111"/>
                          </a:solidFill>
                          <a:latin typeface="Calibri" pitchFamily="34" charset="0"/>
                          <a:ea typeface="Calibri" pitchFamily="34" charset="-122"/>
                          <a:cs typeface="Calibri" pitchFamily="34" charset="-120"/>
                        </a:rPr>
                        <a:t>5 545</a:t>
                      </a:r>
                      <a:endParaRPr lang="en-US" sz="13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300" dirty="0">
                          <a:solidFill>
                            <a:srgbClr val="111111"/>
                          </a:solidFill>
                          <a:latin typeface="Calibri" pitchFamily="34" charset="0"/>
                          <a:ea typeface="Calibri" pitchFamily="34" charset="-122"/>
                          <a:cs typeface="Calibri" pitchFamily="34" charset="-120"/>
                        </a:rPr>
                        <a:t>Ventas de apps (CSV externo)</a:t>
                      </a:r>
                      <a:endParaRPr lang="en-US" sz="13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lgn="r">
                        <a:buNone/>
                      </a:pPr>
                      <a:r>
                        <a:rPr lang="en-US" sz="1300" b="1" dirty="0">
                          <a:solidFill>
                            <a:srgbClr val="111111"/>
                          </a:solidFill>
                          <a:latin typeface="Calibri" pitchFamily="34" charset="0"/>
                          <a:ea typeface="Calibri" pitchFamily="34" charset="-122"/>
                          <a:cs typeface="Calibri" pitchFamily="34" charset="-120"/>
                        </a:rPr>
                        <a:t>5 460</a:t>
                      </a:r>
                      <a:endParaRPr lang="en-US" sz="13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300" dirty="0">
                          <a:solidFill>
                            <a:srgbClr val="111111"/>
                          </a:solidFill>
                          <a:latin typeface="Calibri" pitchFamily="34" charset="0"/>
                          <a:ea typeface="Calibri" pitchFamily="34" charset="-122"/>
                          <a:cs typeface="Calibri" pitchFamily="34" charset="-120"/>
                        </a:rPr>
                        <a:t>Reseñas (JSON)</a:t>
                      </a:r>
                      <a:endParaRPr lang="en-US" sz="13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lgn="r">
                        <a:buNone/>
                      </a:pPr>
                      <a:r>
                        <a:rPr lang="en-US" sz="1300" b="1" dirty="0">
                          <a:solidFill>
                            <a:srgbClr val="111111"/>
                          </a:solidFill>
                          <a:latin typeface="Calibri" pitchFamily="34" charset="0"/>
                          <a:ea typeface="Calibri" pitchFamily="34" charset="-122"/>
                          <a:cs typeface="Calibri" pitchFamily="34" charset="-120"/>
                        </a:rPr>
                        <a:t>5 200</a:t>
                      </a:r>
                      <a:endParaRPr lang="en-US" sz="13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buNone/>
                      </a:pPr>
                      <a:r>
                        <a:rPr lang="en-US" sz="1300" dirty="0">
                          <a:solidFill>
                            <a:srgbClr val="111111"/>
                          </a:solidFill>
                          <a:latin typeface="Calibri" pitchFamily="34" charset="0"/>
                          <a:ea typeface="Calibri" pitchFamily="34" charset="-122"/>
                          <a:cs typeface="Calibri" pitchFamily="34" charset="-120"/>
                        </a:rPr>
                        <a:t>Platos (carta)</a:t>
                      </a:r>
                      <a:endParaRPr lang="en-US" sz="13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lgn="r">
                        <a:buNone/>
                      </a:pPr>
                      <a:r>
                        <a:rPr lang="en-US" sz="1300" b="1" dirty="0">
                          <a:solidFill>
                            <a:srgbClr val="111111"/>
                          </a:solidFill>
                          <a:latin typeface="Calibri" pitchFamily="34" charset="0"/>
                          <a:ea typeface="Calibri" pitchFamily="34" charset="-122"/>
                          <a:cs typeface="Calibri" pitchFamily="34" charset="-120"/>
                        </a:rPr>
                        <a:t>40</a:t>
                      </a:r>
                      <a:endParaRPr lang="en-US" sz="13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extLst>
                  <a:ext uri="{0D108BD9-81ED-4DB2-BD59-A6C34878D82A}">
                    <a16:rowId xmlns:a16="http://schemas.microsoft.com/office/drawing/2014/main" val="10007"/>
                  </a:ext>
                </a:extLst>
              </a:tr>
              <a:tr h="384048">
                <a:tc>
                  <a:txBody>
                    <a:bodyPr/>
                    <a:lstStyle/>
                    <a:p>
                      <a:pPr marL="0" indent="0">
                        <a:buNone/>
                      </a:pPr>
                      <a:r>
                        <a:rPr lang="en-US" sz="1300" dirty="0">
                          <a:solidFill>
                            <a:srgbClr val="111111"/>
                          </a:solidFill>
                          <a:latin typeface="Calibri" pitchFamily="34" charset="0"/>
                          <a:ea typeface="Calibri" pitchFamily="34" charset="-122"/>
                          <a:cs typeface="Calibri" pitchFamily="34" charset="-120"/>
                        </a:rPr>
                        <a:t>Personal</a:t>
                      </a:r>
                      <a:endParaRPr lang="en-US" sz="13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lgn="r">
                        <a:buNone/>
                      </a:pPr>
                      <a:r>
                        <a:rPr lang="en-US" sz="1300" b="1" dirty="0">
                          <a:solidFill>
                            <a:srgbClr val="111111"/>
                          </a:solidFill>
                          <a:latin typeface="Calibri" pitchFamily="34" charset="0"/>
                          <a:ea typeface="Calibri" pitchFamily="34" charset="-122"/>
                          <a:cs typeface="Calibri" pitchFamily="34" charset="-120"/>
                        </a:rPr>
                        <a:t>25</a:t>
                      </a:r>
                      <a:endParaRPr lang="en-US" sz="13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extLst>
                  <a:ext uri="{0D108BD9-81ED-4DB2-BD59-A6C34878D82A}">
                    <a16:rowId xmlns:a16="http://schemas.microsoft.com/office/drawing/2014/main" val="10008"/>
                  </a:ext>
                </a:extLst>
              </a:tr>
              <a:tr h="384048">
                <a:tc>
                  <a:txBody>
                    <a:bodyPr/>
                    <a:lstStyle/>
                    <a:p>
                      <a:pPr marL="0" indent="0">
                        <a:buNone/>
                      </a:pPr>
                      <a:r>
                        <a:rPr lang="en-US" sz="1300" dirty="0">
                          <a:solidFill>
                            <a:srgbClr val="111111"/>
                          </a:solidFill>
                          <a:latin typeface="Calibri" pitchFamily="34" charset="0"/>
                          <a:ea typeface="Calibri" pitchFamily="34" charset="-122"/>
                          <a:cs typeface="Calibri" pitchFamily="34" charset="-120"/>
                        </a:rPr>
                        <a:t>Feriados 2026</a:t>
                      </a:r>
                      <a:endParaRPr lang="en-US" sz="13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lgn="r">
                        <a:buNone/>
                      </a:pPr>
                      <a:r>
                        <a:rPr lang="en-US" sz="1300" b="1" dirty="0">
                          <a:solidFill>
                            <a:srgbClr val="111111"/>
                          </a:solidFill>
                          <a:latin typeface="Calibri" pitchFamily="34" charset="0"/>
                          <a:ea typeface="Calibri" pitchFamily="34" charset="-122"/>
                          <a:cs typeface="Calibri" pitchFamily="34" charset="-120"/>
                        </a:rPr>
                        <a:t>20</a:t>
                      </a:r>
                      <a:endParaRPr lang="en-US" sz="13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21" name="Text 17"/>
          <p:cNvSpPr txBox="1"/>
          <p:nvPr/>
        </p:nvSpPr>
        <p:spPr>
          <a:xfrm>
            <a:off x="4937760" y="5989320"/>
            <a:ext cx="6766560" cy="320040"/>
          </a:xfrm>
          <a:prstGeom prst="rect">
            <a:avLst/>
          </a:prstGeom>
          <a:noFill/>
          <a:ln/>
        </p:spPr>
        <p:txBody>
          <a:bodyPr wrap="square" lIns="0" tIns="0" rIns="0" bIns="0" rtlCol="0" anchor="t"/>
          <a:lstStyle/>
          <a:p>
            <a:pPr marL="0" indent="0">
              <a:buNone/>
            </a:pPr>
            <a:r>
              <a:rPr lang="en-US" sz="1300" dirty="0">
                <a:solidFill>
                  <a:schemeClr val="tx2"/>
                </a:solidFill>
                <a:latin typeface="Calibri" pitchFamily="34" charset="0"/>
                <a:ea typeface="Calibri" pitchFamily="34" charset="-122"/>
                <a:cs typeface="Calibri" pitchFamily="34" charset="-120"/>
              </a:rPr>
              <a:t>Periodo de pedidos: 1 de octubre de 2025 al 27 de septiembre de 2026</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1005840"/>
            <a:ext cx="1124712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Problemas de calidad detectados</a:t>
            </a:r>
            <a:endParaRPr lang="en-US" sz="3200" dirty="0"/>
          </a:p>
        </p:txBody>
      </p:sp>
      <p:sp>
        <p:nvSpPr>
          <p:cNvPr id="3" name="Text 1"/>
          <p:cNvSpPr txBox="1"/>
          <p:nvPr/>
        </p:nvSpPr>
        <p:spPr>
          <a:xfrm>
            <a:off x="5760720" y="457200"/>
            <a:ext cx="5943600" cy="274320"/>
          </a:xfrm>
          <a:prstGeom prst="rect">
            <a:avLst/>
          </a:prstGeom>
          <a:noFill/>
          <a:ln/>
        </p:spPr>
        <p:txBody>
          <a:bodyPr wrap="square" lIns="0" tIns="0" rIns="0" bIns="0" rtlCol="0" anchor="t"/>
          <a:lstStyle/>
          <a:p>
            <a:pPr marL="0" indent="0" algn="r">
              <a:buNone/>
            </a:pPr>
            <a:r>
              <a:rPr lang="en-US" sz="1200" b="1" kern="0" spc="200" dirty="0">
                <a:solidFill>
                  <a:schemeClr val="accent1"/>
                </a:solidFill>
                <a:latin typeface="Calibri" pitchFamily="34" charset="0"/>
                <a:ea typeface="Calibri" pitchFamily="34" charset="-122"/>
                <a:cs typeface="Calibri" pitchFamily="34" charset="-120"/>
              </a:rPr>
              <a:t>PARTE 1 · EL PROBLEMA Y LA BASE DE DATOS</a:t>
            </a:r>
            <a:endParaRPr lang="en-US" sz="1200" dirty="0"/>
          </a:p>
        </p:txBody>
      </p:sp>
      <p:graphicFrame>
        <p:nvGraphicFramePr>
          <p:cNvPr id="8" name="Tabla de calidad"/>
          <p:cNvGraphicFramePr>
            <a:graphicFrameLocks noGrp="1"/>
          </p:cNvGraphicFramePr>
          <p:nvPr>
            <p:extLst>
              <p:ext uri="{D42A27DB-BD31-4B8C-83A1-F6EECF244321}">
                <p14:modId xmlns:p14="http://schemas.microsoft.com/office/powerpoint/2010/main" val="1579011935"/>
              </p:ext>
            </p:extLst>
          </p:nvPr>
        </p:nvGraphicFramePr>
        <p:xfrm>
          <a:off x="457200" y="2011680"/>
          <a:ext cx="7406640" cy="3520440"/>
        </p:xfrm>
        <a:graphic>
          <a:graphicData uri="http://schemas.openxmlformats.org/drawingml/2006/table">
            <a:tbl>
              <a:tblPr/>
              <a:tblGrid>
                <a:gridCol w="192024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41148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Tipo</a:t>
                      </a:r>
                      <a:endParaRPr lang="en-US" sz="1400" dirty="0">
                        <a:latin typeface="Calibri" charset="0"/>
                        <a:ea typeface="Calibri" charset="0"/>
                        <a:cs typeface="Calibri" charset="0"/>
                      </a:endParaRPr>
                    </a:p>
                  </a:txBody>
                  <a:tcPr marL="109728" marR="109728" marT="36576" marB="36576"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111111"/>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Dónde y cuántos</a:t>
                      </a:r>
                      <a:endParaRPr lang="en-US" sz="1400" dirty="0">
                        <a:latin typeface="Calibri" charset="0"/>
                        <a:ea typeface="Calibri" charset="0"/>
                        <a:cs typeface="Calibri" charset="0"/>
                      </a:endParaRPr>
                    </a:p>
                  </a:txBody>
                  <a:tcPr marL="109728" marR="109728" marT="36576" marB="36576"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111111"/>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Casos</a:t>
                      </a:r>
                      <a:endParaRPr lang="en-US" sz="1400" dirty="0">
                        <a:latin typeface="Calibri" charset="0"/>
                        <a:ea typeface="Calibri" charset="0"/>
                        <a:cs typeface="Calibri" charset="0"/>
                      </a:endParaRPr>
                    </a:p>
                  </a:txBody>
                  <a:tcPr marL="109728" marR="109728" marT="36576" marB="36576"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111111"/>
                    </a:solidFill>
                  </a:tcPr>
                </a:tc>
                <a:extLst>
                  <a:ext uri="{0D108BD9-81ED-4DB2-BD59-A6C34878D82A}">
                    <a16:rowId xmlns:a16="http://schemas.microsoft.com/office/drawing/2014/main" val="10000"/>
                  </a:ext>
                </a:extLst>
              </a:tr>
              <a:tr h="731520">
                <a:tc>
                  <a:txBody>
                    <a:bodyPr/>
                    <a:lstStyle/>
                    <a:p>
                      <a:pPr marL="0" indent="0">
                        <a:buNone/>
                      </a:pPr>
                      <a:r>
                        <a:rPr lang="en-US" sz="1300" b="1" dirty="0">
                          <a:solidFill>
                            <a:srgbClr val="D7263D"/>
                          </a:solidFill>
                          <a:latin typeface="Calibri" pitchFamily="34" charset="0"/>
                          <a:ea typeface="Calibri" pitchFamily="34" charset="-122"/>
                          <a:cs typeface="Calibri" pitchFamily="34" charset="-120"/>
                        </a:rPr>
                        <a:t>Valores nulos</a:t>
                      </a:r>
                      <a:endParaRPr lang="en-US" sz="1300" dirty="0">
                        <a:latin typeface="Calibri" charset="0"/>
                        <a:ea typeface="Calibri" charset="0"/>
                        <a:cs typeface="Calibri" charset="0"/>
                      </a:endParaRPr>
                    </a:p>
                  </a:txBody>
                  <a:tcPr marL="109728" marR="109728" marT="36576" marB="36576"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1300" dirty="0">
                          <a:solidFill>
                            <a:srgbClr val="111111"/>
                          </a:solidFill>
                          <a:latin typeface="Calibri" pitchFamily="34" charset="0"/>
                          <a:ea typeface="Calibri" pitchFamily="34" charset="-122"/>
                          <a:cs typeface="Calibri" pitchFamily="34" charset="-120"/>
                        </a:rPr>
                        <a:t>Pedido sin cliente 1 080 · calificación de apps 739 · correo 165 · precio de apps 12 · salario 4</a:t>
                      </a:r>
                      <a:endParaRPr lang="en-US" sz="1300" dirty="0">
                        <a:latin typeface="Calibri" charset="0"/>
                        <a:ea typeface="Calibri" charset="0"/>
                        <a:cs typeface="Calibri" charset="0"/>
                      </a:endParaRPr>
                    </a:p>
                  </a:txBody>
                  <a:tcPr marL="109728" marR="109728" marT="36576" marB="36576"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lgn="r">
                        <a:buNone/>
                      </a:pPr>
                      <a:r>
                        <a:rPr lang="en-US" sz="1300" b="1" dirty="0">
                          <a:solidFill>
                            <a:srgbClr val="111111"/>
                          </a:solidFill>
                          <a:latin typeface="Calibri" pitchFamily="34" charset="0"/>
                          <a:ea typeface="Calibri" pitchFamily="34" charset="-122"/>
                          <a:cs typeface="Calibri" pitchFamily="34" charset="-120"/>
                        </a:rPr>
                        <a:t>2 000</a:t>
                      </a:r>
                      <a:endParaRPr lang="en-US" sz="1300" dirty="0">
                        <a:latin typeface="Calibri" charset="0"/>
                        <a:ea typeface="Calibri" charset="0"/>
                        <a:cs typeface="Calibri" charset="0"/>
                      </a:endParaRPr>
                    </a:p>
                  </a:txBody>
                  <a:tcPr marL="109728" marR="109728" marT="36576" marB="36576"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buNone/>
                      </a:pPr>
                      <a:r>
                        <a:rPr lang="en-US" sz="1300" b="1" dirty="0">
                          <a:solidFill>
                            <a:srgbClr val="D7263D"/>
                          </a:solidFill>
                          <a:latin typeface="Calibri" pitchFamily="34" charset="0"/>
                          <a:ea typeface="Calibri" pitchFamily="34" charset="-122"/>
                          <a:cs typeface="Calibri" pitchFamily="34" charset="-120"/>
                        </a:rPr>
                        <a:t>Registros duplicados</a:t>
                      </a:r>
                      <a:endParaRPr lang="en-US" sz="1300" dirty="0">
                        <a:latin typeface="Calibri" charset="0"/>
                        <a:ea typeface="Calibri" charset="0"/>
                        <a:cs typeface="Calibri" charset="0"/>
                      </a:endParaRPr>
                    </a:p>
                  </a:txBody>
                  <a:tcPr marL="109728" marR="109728" marT="36576" marB="36576"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1300" dirty="0">
                          <a:solidFill>
                            <a:srgbClr val="111111"/>
                          </a:solidFill>
                          <a:latin typeface="Calibri" pitchFamily="34" charset="0"/>
                          <a:ea typeface="Calibri" pitchFamily="34" charset="-122"/>
                          <a:cs typeface="Calibri" pitchFamily="34" charset="-120"/>
                        </a:rPr>
                        <a:t>Pedidos 38 · clientes 45 · ventas de apps 60</a:t>
                      </a:r>
                      <a:endParaRPr lang="en-US" sz="1300" dirty="0">
                        <a:latin typeface="Calibri" charset="0"/>
                        <a:ea typeface="Calibri" charset="0"/>
                        <a:cs typeface="Calibri" charset="0"/>
                      </a:endParaRPr>
                    </a:p>
                  </a:txBody>
                  <a:tcPr marL="109728" marR="109728" marT="36576" marB="36576"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lgn="r">
                        <a:buNone/>
                      </a:pPr>
                      <a:r>
                        <a:rPr lang="en-US" sz="1300" b="1" dirty="0">
                          <a:solidFill>
                            <a:srgbClr val="111111"/>
                          </a:solidFill>
                          <a:latin typeface="Calibri" pitchFamily="34" charset="0"/>
                          <a:ea typeface="Calibri" pitchFamily="34" charset="-122"/>
                          <a:cs typeface="Calibri" pitchFamily="34" charset="-120"/>
                        </a:rPr>
                        <a:t>143</a:t>
                      </a:r>
                      <a:endParaRPr lang="en-US" sz="1300" dirty="0">
                        <a:latin typeface="Calibri" charset="0"/>
                        <a:ea typeface="Calibri" charset="0"/>
                        <a:cs typeface="Calibri" charset="0"/>
                      </a:endParaRPr>
                    </a:p>
                  </a:txBody>
                  <a:tcPr marL="109728" marR="109728" marT="36576" marB="36576"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extLst>
                  <a:ext uri="{0D108BD9-81ED-4DB2-BD59-A6C34878D82A}">
                    <a16:rowId xmlns:a16="http://schemas.microsoft.com/office/drawing/2014/main" val="10002"/>
                  </a:ext>
                </a:extLst>
              </a:tr>
              <a:tr h="731520">
                <a:tc>
                  <a:txBody>
                    <a:bodyPr/>
                    <a:lstStyle/>
                    <a:p>
                      <a:pPr marL="0" indent="0">
                        <a:buNone/>
                      </a:pPr>
                      <a:r>
                        <a:rPr lang="en-US" sz="1300" b="1" dirty="0">
                          <a:solidFill>
                            <a:srgbClr val="D7263D"/>
                          </a:solidFill>
                          <a:latin typeface="Calibri" pitchFamily="34" charset="0"/>
                          <a:ea typeface="Calibri" pitchFamily="34" charset="-122"/>
                          <a:cs typeface="Calibri" pitchFamily="34" charset="-120"/>
                        </a:rPr>
                        <a:t>Formato inconsistente</a:t>
                      </a:r>
                      <a:endParaRPr lang="en-US" sz="1300" dirty="0">
                        <a:latin typeface="Calibri" charset="0"/>
                        <a:ea typeface="Calibri" charset="0"/>
                        <a:cs typeface="Calibri" charset="0"/>
                      </a:endParaRPr>
                    </a:p>
                  </a:txBody>
                  <a:tcPr marL="109728" marR="109728" marT="36576" marB="36576"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1300" dirty="0">
                          <a:solidFill>
                            <a:srgbClr val="111111"/>
                          </a:solidFill>
                          <a:latin typeface="Calibri" pitchFamily="34" charset="0"/>
                          <a:ea typeface="Calibri" pitchFamily="34" charset="-122"/>
                          <a:cs typeface="Calibri" pitchFamily="34" charset="-120"/>
                        </a:rPr>
                        <a:t>Nombre de plato mal escrito 2 755 · fechas en texto 78 · DNI de 7 dígitos 32</a:t>
                      </a:r>
                      <a:endParaRPr lang="en-US" sz="1300" dirty="0">
                        <a:latin typeface="Calibri" charset="0"/>
                        <a:ea typeface="Calibri" charset="0"/>
                        <a:cs typeface="Calibri" charset="0"/>
                      </a:endParaRPr>
                    </a:p>
                  </a:txBody>
                  <a:tcPr marL="109728" marR="109728" marT="36576" marB="36576"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lgn="r">
                        <a:buNone/>
                      </a:pPr>
                      <a:r>
                        <a:rPr lang="en-US" sz="1300" b="1" dirty="0">
                          <a:solidFill>
                            <a:srgbClr val="111111"/>
                          </a:solidFill>
                          <a:latin typeface="Calibri" pitchFamily="34" charset="0"/>
                          <a:ea typeface="Calibri" pitchFamily="34" charset="-122"/>
                          <a:cs typeface="Calibri" pitchFamily="34" charset="-120"/>
                        </a:rPr>
                        <a:t>2 865</a:t>
                      </a:r>
                      <a:endParaRPr lang="en-US" sz="1300" dirty="0">
                        <a:latin typeface="Calibri" charset="0"/>
                        <a:ea typeface="Calibri" charset="0"/>
                        <a:cs typeface="Calibri" charset="0"/>
                      </a:endParaRPr>
                    </a:p>
                  </a:txBody>
                  <a:tcPr marL="109728" marR="109728" marT="36576" marB="36576"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buNone/>
                      </a:pPr>
                      <a:r>
                        <a:rPr lang="en-US" sz="1300" b="1" dirty="0">
                          <a:solidFill>
                            <a:srgbClr val="D7263D"/>
                          </a:solidFill>
                          <a:latin typeface="Calibri" pitchFamily="34" charset="0"/>
                          <a:ea typeface="Calibri" pitchFamily="34" charset="-122"/>
                          <a:cs typeface="Calibri" pitchFamily="34" charset="-120"/>
                        </a:rPr>
                        <a:t>Fuera de regla</a:t>
                      </a:r>
                      <a:endParaRPr lang="en-US" sz="1300" dirty="0">
                        <a:latin typeface="Calibri" charset="0"/>
                        <a:ea typeface="Calibri" charset="0"/>
                        <a:cs typeface="Calibri" charset="0"/>
                      </a:endParaRPr>
                    </a:p>
                  </a:txBody>
                  <a:tcPr marL="109728" marR="109728" marT="36576" marB="36576"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1300" dirty="0">
                          <a:solidFill>
                            <a:srgbClr val="111111"/>
                          </a:solidFill>
                          <a:latin typeface="Calibri" pitchFamily="34" charset="0"/>
                          <a:ea typeface="Calibri" pitchFamily="34" charset="-122"/>
                          <a:cs typeface="Calibri" pitchFamily="34" charset="-120"/>
                        </a:rPr>
                        <a:t>Monto de pedido negativo o cero</a:t>
                      </a:r>
                      <a:endParaRPr lang="en-US" sz="1300" dirty="0">
                        <a:latin typeface="Calibri" charset="0"/>
                        <a:ea typeface="Calibri" charset="0"/>
                        <a:cs typeface="Calibri" charset="0"/>
                      </a:endParaRPr>
                    </a:p>
                  </a:txBody>
                  <a:tcPr marL="109728" marR="109728" marT="36576" marB="36576"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lgn="r">
                        <a:buNone/>
                      </a:pPr>
                      <a:r>
                        <a:rPr lang="en-US" sz="1300" b="1" dirty="0">
                          <a:solidFill>
                            <a:srgbClr val="111111"/>
                          </a:solidFill>
                          <a:latin typeface="Calibri" pitchFamily="34" charset="0"/>
                          <a:ea typeface="Calibri" pitchFamily="34" charset="-122"/>
                          <a:cs typeface="Calibri" pitchFamily="34" charset="-120"/>
                        </a:rPr>
                        <a:t>18</a:t>
                      </a:r>
                      <a:endParaRPr lang="en-US" sz="1300" dirty="0">
                        <a:latin typeface="Calibri" charset="0"/>
                        <a:ea typeface="Calibri" charset="0"/>
                        <a:cs typeface="Calibri" charset="0"/>
                      </a:endParaRPr>
                    </a:p>
                  </a:txBody>
                  <a:tcPr marL="109728" marR="109728" marT="36576" marB="36576"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extLst>
                  <a:ext uri="{0D108BD9-81ED-4DB2-BD59-A6C34878D82A}">
                    <a16:rowId xmlns:a16="http://schemas.microsoft.com/office/drawing/2014/main" val="10004"/>
                  </a:ext>
                </a:extLst>
              </a:tr>
              <a:tr h="548640">
                <a:tc>
                  <a:txBody>
                    <a:bodyPr/>
                    <a:lstStyle/>
                    <a:p>
                      <a:pPr marL="0" indent="0">
                        <a:buNone/>
                      </a:pPr>
                      <a:r>
                        <a:rPr lang="en-US" sz="1300" b="1" dirty="0">
                          <a:solidFill>
                            <a:srgbClr val="D7263D"/>
                          </a:solidFill>
                          <a:latin typeface="Calibri" pitchFamily="34" charset="0"/>
                          <a:ea typeface="Calibri" pitchFamily="34" charset="-122"/>
                          <a:cs typeface="Calibri" pitchFamily="34" charset="-120"/>
                        </a:rPr>
                        <a:t>Integridad referencial</a:t>
                      </a:r>
                      <a:endParaRPr lang="en-US" sz="1300" dirty="0">
                        <a:latin typeface="Calibri" charset="0"/>
                        <a:ea typeface="Calibri" charset="0"/>
                        <a:cs typeface="Calibri" charset="0"/>
                      </a:endParaRPr>
                    </a:p>
                  </a:txBody>
                  <a:tcPr marL="109728" marR="109728" marT="36576" marB="36576"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1300" dirty="0">
                          <a:solidFill>
                            <a:srgbClr val="111111"/>
                          </a:solidFill>
                          <a:latin typeface="Calibri" pitchFamily="34" charset="0"/>
                          <a:ea typeface="Calibri" pitchFamily="34" charset="-122"/>
                          <a:cs typeface="Calibri" pitchFamily="34" charset="-120"/>
                        </a:rPr>
                        <a:t>Líneas de detalle sin pedido padre</a:t>
                      </a:r>
                      <a:endParaRPr lang="en-US" sz="1300" dirty="0">
                        <a:latin typeface="Calibri" charset="0"/>
                        <a:ea typeface="Calibri" charset="0"/>
                        <a:cs typeface="Calibri" charset="0"/>
                      </a:endParaRPr>
                    </a:p>
                  </a:txBody>
                  <a:tcPr marL="109728" marR="109728" marT="36576" marB="36576"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lgn="r">
                        <a:buNone/>
                      </a:pPr>
                      <a:r>
                        <a:rPr lang="en-US" sz="1300" b="1" dirty="0">
                          <a:solidFill>
                            <a:srgbClr val="111111"/>
                          </a:solidFill>
                          <a:latin typeface="Calibri" pitchFamily="34" charset="0"/>
                          <a:ea typeface="Calibri" pitchFamily="34" charset="-122"/>
                          <a:cs typeface="Calibri" pitchFamily="34" charset="-120"/>
                        </a:rPr>
                        <a:t>52</a:t>
                      </a:r>
                      <a:endParaRPr lang="en-US" sz="1300" dirty="0">
                        <a:latin typeface="Calibri" charset="0"/>
                        <a:ea typeface="Calibri" charset="0"/>
                        <a:cs typeface="Calibri" charset="0"/>
                      </a:endParaRPr>
                    </a:p>
                  </a:txBody>
                  <a:tcPr marL="109728" marR="109728" marT="36576" marB="36576"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6" name="Dato 5 078"/>
          <p:cNvSpPr/>
          <p:nvPr/>
        </p:nvSpPr>
        <p:spPr>
          <a:xfrm>
            <a:off x="8229600" y="2011680"/>
            <a:ext cx="3474720" cy="1417320"/>
          </a:xfrm>
          <a:prstGeom prst="roundRect">
            <a:avLst>
              <a:gd name="adj" fmla="val 7742"/>
            </a:avLst>
          </a:prstGeom>
          <a:solidFill>
            <a:schemeClr val="bg2"/>
          </a:solidFill>
          <a:ln w="12700">
            <a:solidFill>
              <a:schemeClr val="bg2"/>
            </a:solidFill>
            <a:prstDash val="solid"/>
          </a:ln>
        </p:spPr>
      </p:sp>
      <p:sp>
        <p:nvSpPr>
          <p:cNvPr id="7" name="Text 3"/>
          <p:cNvSpPr txBox="1"/>
          <p:nvPr/>
        </p:nvSpPr>
        <p:spPr>
          <a:xfrm>
            <a:off x="8458200" y="2121408"/>
            <a:ext cx="3017520" cy="708660"/>
          </a:xfrm>
          <a:prstGeom prst="rect">
            <a:avLst/>
          </a:prstGeom>
          <a:noFill/>
          <a:ln/>
        </p:spPr>
        <p:txBody>
          <a:bodyPr wrap="square" lIns="0" tIns="0" rIns="0" bIns="0" rtlCol="0" anchor="ctr"/>
          <a:lstStyle/>
          <a:p>
            <a:pPr marL="0" indent="0">
              <a:buNone/>
            </a:pPr>
            <a:r>
              <a:rPr lang="en-US" sz="3800" b="1" dirty="0">
                <a:solidFill>
                  <a:schemeClr val="accent1"/>
                </a:solidFill>
                <a:latin typeface="Cambria" pitchFamily="34" charset="0"/>
                <a:ea typeface="Cambria" pitchFamily="34" charset="-122"/>
                <a:cs typeface="Cambria" pitchFamily="34" charset="-120"/>
              </a:rPr>
              <a:t>5 078</a:t>
            </a:r>
            <a:endParaRPr lang="en-US" sz="3800" dirty="0"/>
          </a:p>
        </p:txBody>
      </p:sp>
      <p:sp>
        <p:nvSpPr>
          <p:cNvPr id="4" name="Text 4"/>
          <p:cNvSpPr txBox="1"/>
          <p:nvPr/>
        </p:nvSpPr>
        <p:spPr>
          <a:xfrm>
            <a:off x="8458200" y="2830068"/>
            <a:ext cx="3017520" cy="525780"/>
          </a:xfrm>
          <a:prstGeom prst="rect">
            <a:avLst/>
          </a:prstGeom>
          <a:noFill/>
          <a:ln/>
        </p:spPr>
        <p:txBody>
          <a:bodyPr wrap="square" lIns="0" tIns="0" rIns="0" bIns="0" rtlCol="0" anchor="t"/>
          <a:lstStyle/>
          <a:p>
            <a:pPr marL="0" indent="0">
              <a:buNone/>
            </a:pPr>
            <a:r>
              <a:rPr lang="en-US" sz="1400" dirty="0">
                <a:solidFill>
                  <a:schemeClr val="tx2"/>
                </a:solidFill>
                <a:latin typeface="Calibri" pitchFamily="34" charset="0"/>
                <a:ea typeface="Calibri" pitchFamily="34" charset="-122"/>
                <a:cs typeface="Calibri" pitchFamily="34" charset="-120"/>
              </a:rPr>
              <a:t>casos detectados y registrados</a:t>
            </a:r>
            <a:endParaRPr lang="en-US" sz="1400" dirty="0"/>
          </a:p>
        </p:txBody>
      </p:sp>
      <p:sp>
        <p:nvSpPr>
          <p:cNvPr id="9" name="Text 5"/>
          <p:cNvSpPr txBox="1"/>
          <p:nvPr/>
        </p:nvSpPr>
        <p:spPr>
          <a:xfrm>
            <a:off x="8229600" y="3611880"/>
            <a:ext cx="3474720" cy="320040"/>
          </a:xfrm>
          <a:prstGeom prst="rect">
            <a:avLst/>
          </a:prstGeom>
          <a:noFill/>
          <a:ln/>
        </p:spPr>
        <p:txBody>
          <a:bodyPr wrap="square" lIns="0" tIns="0" rIns="0" bIns="0" rtlCol="0" anchor="t"/>
          <a:lstStyle/>
          <a:p>
            <a:pPr marL="0" indent="0">
              <a:buNone/>
            </a:pPr>
            <a:r>
              <a:rPr lang="en-US" sz="1400" b="1" dirty="0">
                <a:solidFill>
                  <a:schemeClr val="tx2"/>
                </a:solidFill>
                <a:latin typeface="Calibri" pitchFamily="34" charset="0"/>
                <a:ea typeface="Calibri" pitchFamily="34" charset="-122"/>
                <a:cs typeface="Calibri" pitchFamily="34" charset="-120"/>
              </a:rPr>
              <a:t>Después de la carga validada</a:t>
            </a:r>
            <a:endParaRPr lang="en-US" sz="1400" dirty="0"/>
          </a:p>
        </p:txBody>
      </p:sp>
      <p:sp>
        <p:nvSpPr>
          <p:cNvPr id="10" name="Antes y después pedidos"/>
          <p:cNvSpPr/>
          <p:nvPr/>
        </p:nvSpPr>
        <p:spPr>
          <a:xfrm>
            <a:off x="8229600" y="3977640"/>
            <a:ext cx="3474720" cy="621792"/>
          </a:xfrm>
          <a:prstGeom prst="roundRect">
            <a:avLst>
              <a:gd name="adj" fmla="val 17647"/>
            </a:avLst>
          </a:prstGeom>
          <a:solidFill>
            <a:schemeClr val="bg2"/>
          </a:solidFill>
          <a:ln w="12700">
            <a:solidFill>
              <a:schemeClr val="bg2"/>
            </a:solidFill>
            <a:prstDash val="solid"/>
          </a:ln>
        </p:spPr>
      </p:sp>
      <p:sp>
        <p:nvSpPr>
          <p:cNvPr id="11" name="Text 7"/>
          <p:cNvSpPr txBox="1"/>
          <p:nvPr/>
        </p:nvSpPr>
        <p:spPr>
          <a:xfrm>
            <a:off x="8412480" y="3977640"/>
            <a:ext cx="2011680" cy="621792"/>
          </a:xfrm>
          <a:prstGeom prst="rect">
            <a:avLst/>
          </a:prstGeom>
          <a:noFill/>
          <a:ln/>
        </p:spPr>
        <p:txBody>
          <a:bodyPr wrap="square" lIns="0" tIns="0" rIns="0" bIns="0" rtlCol="0" anchor="ctr"/>
          <a:lstStyle/>
          <a:p>
            <a:pPr marL="0" indent="0">
              <a:buNone/>
            </a:pPr>
            <a:r>
              <a:rPr lang="en-US" sz="1600" b="1" dirty="0">
                <a:solidFill>
                  <a:schemeClr val="accent2"/>
                </a:solidFill>
                <a:latin typeface="Cambria" pitchFamily="34" charset="0"/>
                <a:ea typeface="Cambria" pitchFamily="34" charset="-122"/>
                <a:cs typeface="Cambria" pitchFamily="34" charset="-120"/>
              </a:rPr>
              <a:t>12 038 → 11 982</a:t>
            </a:r>
            <a:endParaRPr lang="en-US" sz="1600" dirty="0"/>
          </a:p>
        </p:txBody>
      </p:sp>
      <p:sp>
        <p:nvSpPr>
          <p:cNvPr id="12" name="Text 8"/>
          <p:cNvSpPr txBox="1"/>
          <p:nvPr/>
        </p:nvSpPr>
        <p:spPr>
          <a:xfrm>
            <a:off x="10378440" y="3977640"/>
            <a:ext cx="1280160" cy="621792"/>
          </a:xfrm>
          <a:prstGeom prst="rect">
            <a:avLst/>
          </a:prstGeom>
          <a:noFill/>
          <a:ln/>
        </p:spPr>
        <p:txBody>
          <a:bodyPr wrap="square" lIns="0" tIns="0" rIns="0" bIns="0" rtlCol="0" anchor="ctr"/>
          <a:lstStyle/>
          <a:p>
            <a:pPr marL="0" indent="0">
              <a:buNone/>
            </a:pPr>
            <a:r>
              <a:rPr lang="en-US" sz="1300" dirty="0">
                <a:solidFill>
                  <a:schemeClr val="tx2"/>
                </a:solidFill>
                <a:latin typeface="Calibri" pitchFamily="34" charset="0"/>
                <a:ea typeface="Calibri" pitchFamily="34" charset="-122"/>
                <a:cs typeface="Calibri" pitchFamily="34" charset="-120"/>
              </a:rPr>
              <a:t>pedidos</a:t>
            </a:r>
            <a:endParaRPr lang="en-US" sz="1300" dirty="0"/>
          </a:p>
        </p:txBody>
      </p:sp>
      <p:sp>
        <p:nvSpPr>
          <p:cNvPr id="13" name="Antes y después líneas de detalle"/>
          <p:cNvSpPr/>
          <p:nvPr/>
        </p:nvSpPr>
        <p:spPr>
          <a:xfrm>
            <a:off x="8229600" y="4690872"/>
            <a:ext cx="3474720" cy="621792"/>
          </a:xfrm>
          <a:prstGeom prst="roundRect">
            <a:avLst>
              <a:gd name="adj" fmla="val 17647"/>
            </a:avLst>
          </a:prstGeom>
          <a:solidFill>
            <a:schemeClr val="bg2"/>
          </a:solidFill>
          <a:ln w="12700">
            <a:solidFill>
              <a:schemeClr val="bg2"/>
            </a:solidFill>
            <a:prstDash val="solid"/>
          </a:ln>
        </p:spPr>
      </p:sp>
      <p:sp>
        <p:nvSpPr>
          <p:cNvPr id="14" name="Text 10"/>
          <p:cNvSpPr txBox="1"/>
          <p:nvPr/>
        </p:nvSpPr>
        <p:spPr>
          <a:xfrm>
            <a:off x="8412480" y="4690872"/>
            <a:ext cx="2011680" cy="621792"/>
          </a:xfrm>
          <a:prstGeom prst="rect">
            <a:avLst/>
          </a:prstGeom>
          <a:noFill/>
          <a:ln/>
        </p:spPr>
        <p:txBody>
          <a:bodyPr wrap="square" lIns="0" tIns="0" rIns="0" bIns="0" rtlCol="0" anchor="ctr"/>
          <a:lstStyle/>
          <a:p>
            <a:pPr marL="0" indent="0">
              <a:buNone/>
            </a:pPr>
            <a:r>
              <a:rPr lang="en-US" sz="1600" b="1" dirty="0">
                <a:solidFill>
                  <a:schemeClr val="accent2"/>
                </a:solidFill>
                <a:latin typeface="Cambria" pitchFamily="34" charset="0"/>
                <a:ea typeface="Cambria" pitchFamily="34" charset="-122"/>
                <a:cs typeface="Cambria" pitchFamily="34" charset="-120"/>
              </a:rPr>
              <a:t>35 519 → 35 467</a:t>
            </a:r>
            <a:endParaRPr lang="en-US" sz="1600" dirty="0"/>
          </a:p>
        </p:txBody>
      </p:sp>
      <p:sp>
        <p:nvSpPr>
          <p:cNvPr id="15" name="Text 11"/>
          <p:cNvSpPr txBox="1"/>
          <p:nvPr/>
        </p:nvSpPr>
        <p:spPr>
          <a:xfrm>
            <a:off x="10378440" y="4690872"/>
            <a:ext cx="1280160" cy="621792"/>
          </a:xfrm>
          <a:prstGeom prst="rect">
            <a:avLst/>
          </a:prstGeom>
          <a:noFill/>
          <a:ln/>
        </p:spPr>
        <p:txBody>
          <a:bodyPr wrap="square" lIns="0" tIns="0" rIns="0" bIns="0" rtlCol="0" anchor="ctr"/>
          <a:lstStyle/>
          <a:p>
            <a:pPr marL="0" indent="0">
              <a:buNone/>
            </a:pPr>
            <a:r>
              <a:rPr lang="en-US" sz="1300" dirty="0">
                <a:solidFill>
                  <a:schemeClr val="tx2"/>
                </a:solidFill>
                <a:latin typeface="Calibri" pitchFamily="34" charset="0"/>
                <a:ea typeface="Calibri" pitchFamily="34" charset="-122"/>
                <a:cs typeface="Calibri" pitchFamily="34" charset="-120"/>
              </a:rPr>
              <a:t>líneas de detalle</a:t>
            </a:r>
            <a:endParaRPr lang="en-US" sz="1300" dirty="0"/>
          </a:p>
        </p:txBody>
      </p:sp>
      <p:sp>
        <p:nvSpPr>
          <p:cNvPr id="16" name="Antes y después clientes"/>
          <p:cNvSpPr/>
          <p:nvPr/>
        </p:nvSpPr>
        <p:spPr>
          <a:xfrm>
            <a:off x="8229600" y="5404104"/>
            <a:ext cx="3474720" cy="621792"/>
          </a:xfrm>
          <a:prstGeom prst="roundRect">
            <a:avLst>
              <a:gd name="adj" fmla="val 17647"/>
            </a:avLst>
          </a:prstGeom>
          <a:solidFill>
            <a:schemeClr val="bg2"/>
          </a:solidFill>
          <a:ln w="12700">
            <a:solidFill>
              <a:schemeClr val="bg2"/>
            </a:solidFill>
            <a:prstDash val="solid"/>
          </a:ln>
        </p:spPr>
      </p:sp>
      <p:sp>
        <p:nvSpPr>
          <p:cNvPr id="17" name="Text 13"/>
          <p:cNvSpPr txBox="1"/>
          <p:nvPr/>
        </p:nvSpPr>
        <p:spPr>
          <a:xfrm>
            <a:off x="8412480" y="5404104"/>
            <a:ext cx="2011680" cy="621792"/>
          </a:xfrm>
          <a:prstGeom prst="rect">
            <a:avLst/>
          </a:prstGeom>
          <a:noFill/>
          <a:ln/>
        </p:spPr>
        <p:txBody>
          <a:bodyPr wrap="square" lIns="0" tIns="0" rIns="0" bIns="0" rtlCol="0" anchor="ctr"/>
          <a:lstStyle/>
          <a:p>
            <a:pPr marL="0" indent="0">
              <a:buNone/>
            </a:pPr>
            <a:r>
              <a:rPr lang="en-US" sz="1600" b="1" dirty="0">
                <a:solidFill>
                  <a:schemeClr val="accent2"/>
                </a:solidFill>
                <a:latin typeface="Cambria" pitchFamily="34" charset="0"/>
                <a:ea typeface="Cambria" pitchFamily="34" charset="-122"/>
                <a:cs typeface="Cambria" pitchFamily="34" charset="-120"/>
              </a:rPr>
              <a:t>5 545 → 5 501</a:t>
            </a:r>
            <a:endParaRPr lang="en-US" sz="1600" dirty="0"/>
          </a:p>
        </p:txBody>
      </p:sp>
      <p:sp>
        <p:nvSpPr>
          <p:cNvPr id="18" name="Text 14"/>
          <p:cNvSpPr txBox="1"/>
          <p:nvPr/>
        </p:nvSpPr>
        <p:spPr>
          <a:xfrm>
            <a:off x="10378440" y="5404104"/>
            <a:ext cx="1280160" cy="621792"/>
          </a:xfrm>
          <a:prstGeom prst="rect">
            <a:avLst/>
          </a:prstGeom>
          <a:noFill/>
          <a:ln/>
        </p:spPr>
        <p:txBody>
          <a:bodyPr wrap="square" lIns="0" tIns="0" rIns="0" bIns="0" rtlCol="0" anchor="ctr"/>
          <a:lstStyle/>
          <a:p>
            <a:pPr marL="0" indent="0">
              <a:buNone/>
            </a:pPr>
            <a:r>
              <a:rPr lang="en-US" sz="1300" dirty="0">
                <a:solidFill>
                  <a:schemeClr val="tx2"/>
                </a:solidFill>
                <a:latin typeface="Calibri" pitchFamily="34" charset="0"/>
                <a:ea typeface="Calibri" pitchFamily="34" charset="-122"/>
                <a:cs typeface="Calibri" pitchFamily="34" charset="-120"/>
              </a:rPr>
              <a:t>clientes</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1005840"/>
            <a:ext cx="1124712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Modelo entidad-relación</a:t>
            </a:r>
            <a:endParaRPr lang="en-US" sz="3200" dirty="0"/>
          </a:p>
        </p:txBody>
      </p:sp>
      <p:sp>
        <p:nvSpPr>
          <p:cNvPr id="3" name="Text 1"/>
          <p:cNvSpPr txBox="1"/>
          <p:nvPr/>
        </p:nvSpPr>
        <p:spPr>
          <a:xfrm>
            <a:off x="5760720" y="457200"/>
            <a:ext cx="5943600" cy="274320"/>
          </a:xfrm>
          <a:prstGeom prst="rect">
            <a:avLst/>
          </a:prstGeom>
          <a:noFill/>
          <a:ln/>
        </p:spPr>
        <p:txBody>
          <a:bodyPr wrap="square" lIns="0" tIns="0" rIns="0" bIns="0" rtlCol="0" anchor="t"/>
          <a:lstStyle/>
          <a:p>
            <a:pPr marL="0" indent="0" algn="r">
              <a:buNone/>
            </a:pPr>
            <a:r>
              <a:rPr lang="en-US" sz="1200" b="1" kern="0" spc="200" dirty="0">
                <a:solidFill>
                  <a:schemeClr val="accent1"/>
                </a:solidFill>
                <a:latin typeface="Calibri" pitchFamily="34" charset="0"/>
                <a:ea typeface="Calibri" pitchFamily="34" charset="-122"/>
                <a:cs typeface="Calibri" pitchFamily="34" charset="-120"/>
              </a:rPr>
              <a:t>PARTE 1 · EL PROBLEMA Y LA BASE DE DATOS</a:t>
            </a:r>
            <a:endParaRPr lang="en-US" sz="1200" dirty="0"/>
          </a:p>
        </p:txBody>
      </p:sp>
      <p:sp>
        <p:nvSpPr>
          <p:cNvPr id="5" name="Grupo Maestras"/>
          <p:cNvSpPr/>
          <p:nvPr/>
        </p:nvSpPr>
        <p:spPr>
          <a:xfrm>
            <a:off x="457200" y="2011680"/>
            <a:ext cx="5303520" cy="1005840"/>
          </a:xfrm>
          <a:prstGeom prst="roundRect">
            <a:avLst>
              <a:gd name="adj" fmla="val 10909"/>
            </a:avLst>
          </a:prstGeom>
          <a:solidFill>
            <a:schemeClr val="bg2"/>
          </a:solidFill>
          <a:ln w="12700">
            <a:solidFill>
              <a:schemeClr val="bg2"/>
            </a:solidFill>
            <a:prstDash val="solid"/>
          </a:ln>
        </p:spPr>
      </p:sp>
      <p:sp>
        <p:nvSpPr>
          <p:cNvPr id="6" name="Marca Maestras"/>
          <p:cNvSpPr/>
          <p:nvPr/>
        </p:nvSpPr>
        <p:spPr>
          <a:xfrm>
            <a:off x="685800" y="2377440"/>
            <a:ext cx="274320" cy="274320"/>
          </a:xfrm>
          <a:prstGeom prst="ellipse">
            <a:avLst/>
          </a:prstGeom>
          <a:solidFill>
            <a:srgbClr val="D7263D"/>
          </a:solidFill>
          <a:ln w="12700">
            <a:solidFill>
              <a:srgbClr val="D7263D"/>
            </a:solidFill>
            <a:prstDash val="solid"/>
          </a:ln>
        </p:spPr>
      </p:sp>
      <p:sp>
        <p:nvSpPr>
          <p:cNvPr id="7" name="Text 4"/>
          <p:cNvSpPr txBox="1"/>
          <p:nvPr/>
        </p:nvSpPr>
        <p:spPr>
          <a:xfrm>
            <a:off x="1143000" y="2148840"/>
            <a:ext cx="4389120" cy="365760"/>
          </a:xfrm>
          <a:prstGeom prst="rect">
            <a:avLst/>
          </a:prstGeom>
          <a:noFill/>
          <a:ln/>
        </p:spPr>
        <p:txBody>
          <a:bodyPr wrap="square" lIns="0" tIns="0" rIns="0" bIns="0" rtlCol="0" anchor="t"/>
          <a:lstStyle/>
          <a:p>
            <a:pPr marL="0" indent="0">
              <a:buNone/>
            </a:pPr>
            <a:r>
              <a:rPr lang="en-US" sz="1800" b="1" dirty="0">
                <a:solidFill>
                  <a:schemeClr val="tx1"/>
                </a:solidFill>
                <a:latin typeface="Calibri" pitchFamily="34" charset="0"/>
                <a:ea typeface="Calibri" pitchFamily="34" charset="-122"/>
                <a:cs typeface="Calibri" pitchFamily="34" charset="-120"/>
              </a:rPr>
              <a:t>Maestras</a:t>
            </a:r>
            <a:endParaRPr lang="en-US" sz="1800" dirty="0"/>
          </a:p>
        </p:txBody>
      </p:sp>
      <p:sp>
        <p:nvSpPr>
          <p:cNvPr id="8" name="Text 5"/>
          <p:cNvSpPr txBox="1"/>
          <p:nvPr/>
        </p:nvSpPr>
        <p:spPr>
          <a:xfrm>
            <a:off x="1143000" y="2542032"/>
            <a:ext cx="4389120" cy="365760"/>
          </a:xfrm>
          <a:prstGeom prst="rect">
            <a:avLst/>
          </a:prstGeom>
          <a:noFill/>
          <a:ln/>
        </p:spPr>
        <p:txBody>
          <a:bodyPr wrap="square" lIns="0" tIns="0" rIns="0" bIns="0" rtlCol="0" anchor="t"/>
          <a:lstStyle/>
          <a:p>
            <a:pPr marL="0" indent="0">
              <a:buNone/>
            </a:pPr>
            <a:r>
              <a:rPr lang="en-US" sz="1600" dirty="0">
                <a:solidFill>
                  <a:schemeClr val="tx2"/>
                </a:solidFill>
                <a:latin typeface="Calibri" pitchFamily="34" charset="0"/>
                <a:ea typeface="Calibri" pitchFamily="34" charset="-122"/>
                <a:cs typeface="Calibri" pitchFamily="34" charset="-120"/>
              </a:rPr>
              <a:t>Cliente · Empleado · Plato</a:t>
            </a:r>
            <a:endParaRPr lang="en-US" sz="1600" dirty="0"/>
          </a:p>
        </p:txBody>
      </p:sp>
      <p:sp>
        <p:nvSpPr>
          <p:cNvPr id="9" name="Grupo Transaccionales"/>
          <p:cNvSpPr/>
          <p:nvPr/>
        </p:nvSpPr>
        <p:spPr>
          <a:xfrm>
            <a:off x="457200" y="3200400"/>
            <a:ext cx="5303520" cy="1005840"/>
          </a:xfrm>
          <a:prstGeom prst="roundRect">
            <a:avLst>
              <a:gd name="adj" fmla="val 10909"/>
            </a:avLst>
          </a:prstGeom>
          <a:solidFill>
            <a:schemeClr val="bg2"/>
          </a:solidFill>
          <a:ln w="12700">
            <a:solidFill>
              <a:schemeClr val="bg2"/>
            </a:solidFill>
            <a:prstDash val="solid"/>
          </a:ln>
        </p:spPr>
      </p:sp>
      <p:sp>
        <p:nvSpPr>
          <p:cNvPr id="10" name="Marca Transaccionales"/>
          <p:cNvSpPr/>
          <p:nvPr/>
        </p:nvSpPr>
        <p:spPr>
          <a:xfrm>
            <a:off x="685800" y="3566160"/>
            <a:ext cx="274320" cy="274320"/>
          </a:xfrm>
          <a:prstGeom prst="ellipse">
            <a:avLst/>
          </a:prstGeom>
          <a:solidFill>
            <a:srgbClr val="1B998B"/>
          </a:solidFill>
          <a:ln w="12700">
            <a:solidFill>
              <a:srgbClr val="1B998B"/>
            </a:solidFill>
            <a:prstDash val="solid"/>
          </a:ln>
        </p:spPr>
      </p:sp>
      <p:sp>
        <p:nvSpPr>
          <p:cNvPr id="11" name="Text 8"/>
          <p:cNvSpPr txBox="1"/>
          <p:nvPr/>
        </p:nvSpPr>
        <p:spPr>
          <a:xfrm>
            <a:off x="1143000" y="3337560"/>
            <a:ext cx="4389120" cy="365760"/>
          </a:xfrm>
          <a:prstGeom prst="rect">
            <a:avLst/>
          </a:prstGeom>
          <a:noFill/>
          <a:ln/>
        </p:spPr>
        <p:txBody>
          <a:bodyPr wrap="square" lIns="0" tIns="0" rIns="0" bIns="0" rtlCol="0" anchor="t"/>
          <a:lstStyle/>
          <a:p>
            <a:pPr marL="0" indent="0">
              <a:buNone/>
            </a:pPr>
            <a:r>
              <a:rPr lang="en-US" sz="1800" b="1" dirty="0">
                <a:solidFill>
                  <a:schemeClr val="tx1"/>
                </a:solidFill>
                <a:latin typeface="Calibri" pitchFamily="34" charset="0"/>
                <a:ea typeface="Calibri" pitchFamily="34" charset="-122"/>
                <a:cs typeface="Calibri" pitchFamily="34" charset="-120"/>
              </a:rPr>
              <a:t>Transaccionales</a:t>
            </a:r>
            <a:endParaRPr lang="en-US" sz="1800" dirty="0"/>
          </a:p>
        </p:txBody>
      </p:sp>
      <p:sp>
        <p:nvSpPr>
          <p:cNvPr id="12" name="Text 9"/>
          <p:cNvSpPr txBox="1"/>
          <p:nvPr/>
        </p:nvSpPr>
        <p:spPr>
          <a:xfrm>
            <a:off x="1143000" y="3730752"/>
            <a:ext cx="4389120" cy="365760"/>
          </a:xfrm>
          <a:prstGeom prst="rect">
            <a:avLst/>
          </a:prstGeom>
          <a:noFill/>
          <a:ln/>
        </p:spPr>
        <p:txBody>
          <a:bodyPr wrap="square" lIns="0" tIns="0" rIns="0" bIns="0" rtlCol="0" anchor="t"/>
          <a:lstStyle/>
          <a:p>
            <a:pPr marL="0" indent="0">
              <a:buNone/>
            </a:pPr>
            <a:r>
              <a:rPr lang="en-US" sz="1600" dirty="0">
                <a:solidFill>
                  <a:schemeClr val="tx2"/>
                </a:solidFill>
                <a:latin typeface="Calibri" pitchFamily="34" charset="0"/>
                <a:ea typeface="Calibri" pitchFamily="34" charset="-122"/>
                <a:cs typeface="Calibri" pitchFamily="34" charset="-120"/>
              </a:rPr>
              <a:t>Pedido · Detalle_Pedido · Asistencia</a:t>
            </a:r>
            <a:endParaRPr lang="en-US" sz="1600" dirty="0"/>
          </a:p>
        </p:txBody>
      </p:sp>
      <p:sp>
        <p:nvSpPr>
          <p:cNvPr id="13" name="Grupo Control"/>
          <p:cNvSpPr/>
          <p:nvPr/>
        </p:nvSpPr>
        <p:spPr>
          <a:xfrm>
            <a:off x="457200" y="4389120"/>
            <a:ext cx="5303520" cy="1005840"/>
          </a:xfrm>
          <a:prstGeom prst="roundRect">
            <a:avLst>
              <a:gd name="adj" fmla="val 10909"/>
            </a:avLst>
          </a:prstGeom>
          <a:solidFill>
            <a:schemeClr val="bg2"/>
          </a:solidFill>
          <a:ln w="12700">
            <a:solidFill>
              <a:schemeClr val="bg2"/>
            </a:solidFill>
            <a:prstDash val="solid"/>
          </a:ln>
        </p:spPr>
      </p:sp>
      <p:sp>
        <p:nvSpPr>
          <p:cNvPr id="14" name="Marca Control"/>
          <p:cNvSpPr/>
          <p:nvPr/>
        </p:nvSpPr>
        <p:spPr>
          <a:xfrm>
            <a:off x="685800" y="4754880"/>
            <a:ext cx="274320" cy="274320"/>
          </a:xfrm>
          <a:prstGeom prst="ellipse">
            <a:avLst/>
          </a:prstGeom>
          <a:solidFill>
            <a:srgbClr val="3D5A80"/>
          </a:solidFill>
          <a:ln w="12700">
            <a:solidFill>
              <a:srgbClr val="3D5A80"/>
            </a:solidFill>
            <a:prstDash val="solid"/>
          </a:ln>
        </p:spPr>
      </p:sp>
      <p:sp>
        <p:nvSpPr>
          <p:cNvPr id="15" name="Text 12"/>
          <p:cNvSpPr txBox="1"/>
          <p:nvPr/>
        </p:nvSpPr>
        <p:spPr>
          <a:xfrm>
            <a:off x="1143000" y="4526280"/>
            <a:ext cx="4389120" cy="365760"/>
          </a:xfrm>
          <a:prstGeom prst="rect">
            <a:avLst/>
          </a:prstGeom>
          <a:noFill/>
          <a:ln/>
        </p:spPr>
        <p:txBody>
          <a:bodyPr wrap="square" lIns="0" tIns="0" rIns="0" bIns="0" rtlCol="0" anchor="t"/>
          <a:lstStyle/>
          <a:p>
            <a:pPr marL="0" indent="0">
              <a:buNone/>
            </a:pPr>
            <a:r>
              <a:rPr lang="en-US" sz="1800" b="1" dirty="0">
                <a:solidFill>
                  <a:schemeClr val="tx1"/>
                </a:solidFill>
                <a:latin typeface="Calibri" pitchFamily="34" charset="0"/>
                <a:ea typeface="Calibri" pitchFamily="34" charset="-122"/>
                <a:cs typeface="Calibri" pitchFamily="34" charset="-120"/>
              </a:rPr>
              <a:t>Control</a:t>
            </a:r>
            <a:endParaRPr lang="en-US" sz="1800" dirty="0"/>
          </a:p>
        </p:txBody>
      </p:sp>
      <p:sp>
        <p:nvSpPr>
          <p:cNvPr id="16" name="Text 13"/>
          <p:cNvSpPr txBox="1"/>
          <p:nvPr/>
        </p:nvSpPr>
        <p:spPr>
          <a:xfrm>
            <a:off x="1143000" y="4919472"/>
            <a:ext cx="4389120" cy="365760"/>
          </a:xfrm>
          <a:prstGeom prst="rect">
            <a:avLst/>
          </a:prstGeom>
          <a:noFill/>
          <a:ln/>
        </p:spPr>
        <p:txBody>
          <a:bodyPr wrap="square" lIns="0" tIns="0" rIns="0" bIns="0" rtlCol="0" anchor="t"/>
          <a:lstStyle/>
          <a:p>
            <a:pPr marL="0" indent="0">
              <a:buNone/>
            </a:pPr>
            <a:r>
              <a:rPr lang="en-US" sz="1600" dirty="0">
                <a:solidFill>
                  <a:schemeClr val="tx2"/>
                </a:solidFill>
                <a:latin typeface="Calibri" pitchFamily="34" charset="0"/>
                <a:ea typeface="Calibri" pitchFamily="34" charset="-122"/>
                <a:cs typeface="Calibri" pitchFamily="34" charset="-120"/>
              </a:rPr>
              <a:t>Log_Auditoria · Log_Errores</a:t>
            </a:r>
            <a:endParaRPr lang="en-US" sz="1600" dirty="0"/>
          </a:p>
        </p:txBody>
      </p:sp>
      <p:pic>
        <p:nvPicPr>
          <p:cNvPr id="18" name="Image 0" descr="Diagrama entidad-relación de Cevicheria_DB"/>
          <p:cNvPicPr>
            <a:picLocks noChangeAspect="1"/>
          </p:cNvPicPr>
          <p:nvPr/>
        </p:nvPicPr>
        <p:blipFill>
          <a:blip r:embed="rId3"/>
          <a:stretch>
            <a:fillRect/>
          </a:stretch>
        </p:blipFill>
        <p:spPr>
          <a:xfrm>
            <a:off x="6217920" y="1965960"/>
            <a:ext cx="5486400" cy="4160520"/>
          </a:xfrm>
          <a:prstGeom prst="rect">
            <a:avLst/>
          </a:prstGeom>
        </p:spPr>
      </p:pic>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1005840"/>
            <a:ext cx="1124712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Automatización en SQL Server</a:t>
            </a:r>
            <a:endParaRPr lang="en-US" sz="3200" dirty="0"/>
          </a:p>
        </p:txBody>
      </p:sp>
      <p:sp>
        <p:nvSpPr>
          <p:cNvPr id="3" name="Text 1"/>
          <p:cNvSpPr txBox="1"/>
          <p:nvPr/>
        </p:nvSpPr>
        <p:spPr>
          <a:xfrm>
            <a:off x="5760720" y="457200"/>
            <a:ext cx="5943600" cy="274320"/>
          </a:xfrm>
          <a:prstGeom prst="rect">
            <a:avLst/>
          </a:prstGeom>
          <a:noFill/>
          <a:ln/>
        </p:spPr>
        <p:txBody>
          <a:bodyPr wrap="square" lIns="0" tIns="0" rIns="0" bIns="0" rtlCol="0" anchor="t"/>
          <a:lstStyle/>
          <a:p>
            <a:pPr marL="0" indent="0" algn="r">
              <a:buNone/>
            </a:pPr>
            <a:r>
              <a:rPr lang="en-US" sz="1200" b="1" kern="0" spc="200" dirty="0">
                <a:solidFill>
                  <a:schemeClr val="accent1"/>
                </a:solidFill>
                <a:latin typeface="Calibri" pitchFamily="34" charset="0"/>
                <a:ea typeface="Calibri" pitchFamily="34" charset="-122"/>
                <a:cs typeface="Calibri" pitchFamily="34" charset="-120"/>
              </a:rPr>
              <a:t>PARTE 1 · EL PROBLEMA Y LA BASE DE DATOS</a:t>
            </a:r>
            <a:endParaRPr lang="en-US" sz="1200" dirty="0"/>
          </a:p>
        </p:txBody>
      </p:sp>
      <p:sp>
        <p:nvSpPr>
          <p:cNvPr id="5" name="Dato procedimientos"/>
          <p:cNvSpPr/>
          <p:nvPr/>
        </p:nvSpPr>
        <p:spPr>
          <a:xfrm>
            <a:off x="457200" y="2011680"/>
            <a:ext cx="1280160" cy="1325880"/>
          </a:xfrm>
          <a:prstGeom prst="roundRect">
            <a:avLst>
              <a:gd name="adj" fmla="val 8571"/>
            </a:avLst>
          </a:prstGeom>
          <a:solidFill>
            <a:schemeClr val="bg2"/>
          </a:solidFill>
          <a:ln w="12700">
            <a:solidFill>
              <a:schemeClr val="bg2"/>
            </a:solidFill>
            <a:prstDash val="solid"/>
          </a:ln>
        </p:spPr>
      </p:sp>
      <p:sp>
        <p:nvSpPr>
          <p:cNvPr id="6" name="Text 3"/>
          <p:cNvSpPr txBox="1"/>
          <p:nvPr/>
        </p:nvSpPr>
        <p:spPr>
          <a:xfrm>
            <a:off x="457200" y="2084832"/>
            <a:ext cx="1280160" cy="731520"/>
          </a:xfrm>
          <a:prstGeom prst="rect">
            <a:avLst/>
          </a:prstGeom>
          <a:noFill/>
          <a:ln/>
        </p:spPr>
        <p:txBody>
          <a:bodyPr wrap="square" lIns="0" tIns="0" rIns="0" bIns="0" rtlCol="0" anchor="ctr"/>
          <a:lstStyle/>
          <a:p>
            <a:pPr marL="0" indent="0" algn="ctr">
              <a:buNone/>
            </a:pPr>
            <a:r>
              <a:rPr lang="en-US" sz="4400" b="1" dirty="0">
                <a:solidFill>
                  <a:schemeClr val="accent1"/>
                </a:solidFill>
                <a:latin typeface="Cambria" pitchFamily="34" charset="0"/>
                <a:ea typeface="Cambria" pitchFamily="34" charset="-122"/>
                <a:cs typeface="Cambria" pitchFamily="34" charset="-120"/>
              </a:rPr>
              <a:t>4</a:t>
            </a:r>
            <a:endParaRPr lang="en-US" sz="4400" dirty="0"/>
          </a:p>
        </p:txBody>
      </p:sp>
      <p:sp>
        <p:nvSpPr>
          <p:cNvPr id="7" name="Text 4"/>
          <p:cNvSpPr txBox="1"/>
          <p:nvPr/>
        </p:nvSpPr>
        <p:spPr>
          <a:xfrm>
            <a:off x="457200" y="2816352"/>
            <a:ext cx="1280160" cy="411480"/>
          </a:xfrm>
          <a:prstGeom prst="rect">
            <a:avLst/>
          </a:prstGeom>
          <a:noFill/>
          <a:ln/>
        </p:spPr>
        <p:txBody>
          <a:bodyPr wrap="square" lIns="0" tIns="0" rIns="0" bIns="0" rtlCol="0" anchor="t"/>
          <a:lstStyle/>
          <a:p>
            <a:pPr marL="0" indent="0" algn="ctr">
              <a:buNone/>
            </a:pPr>
            <a:r>
              <a:rPr lang="en-US" sz="1300" dirty="0">
                <a:solidFill>
                  <a:schemeClr val="tx2"/>
                </a:solidFill>
                <a:latin typeface="Calibri" pitchFamily="34" charset="0"/>
                <a:ea typeface="Calibri" pitchFamily="34" charset="-122"/>
                <a:cs typeface="Calibri" pitchFamily="34" charset="-120"/>
              </a:rPr>
              <a:t>procedimientos</a:t>
            </a:r>
            <a:endParaRPr lang="en-US" sz="1300" dirty="0"/>
          </a:p>
        </p:txBody>
      </p:sp>
      <p:sp>
        <p:nvSpPr>
          <p:cNvPr id="8" name="Dato triggers"/>
          <p:cNvSpPr/>
          <p:nvPr/>
        </p:nvSpPr>
        <p:spPr>
          <a:xfrm>
            <a:off x="1828800" y="2011680"/>
            <a:ext cx="1280160" cy="1325880"/>
          </a:xfrm>
          <a:prstGeom prst="roundRect">
            <a:avLst>
              <a:gd name="adj" fmla="val 8571"/>
            </a:avLst>
          </a:prstGeom>
          <a:solidFill>
            <a:schemeClr val="bg2"/>
          </a:solidFill>
          <a:ln w="12700">
            <a:solidFill>
              <a:schemeClr val="bg2"/>
            </a:solidFill>
            <a:prstDash val="solid"/>
          </a:ln>
        </p:spPr>
      </p:sp>
      <p:sp>
        <p:nvSpPr>
          <p:cNvPr id="9" name="Text 6"/>
          <p:cNvSpPr txBox="1"/>
          <p:nvPr/>
        </p:nvSpPr>
        <p:spPr>
          <a:xfrm>
            <a:off x="1828800" y="2084832"/>
            <a:ext cx="1280160" cy="731520"/>
          </a:xfrm>
          <a:prstGeom prst="rect">
            <a:avLst/>
          </a:prstGeom>
          <a:noFill/>
          <a:ln/>
        </p:spPr>
        <p:txBody>
          <a:bodyPr wrap="square" lIns="0" tIns="0" rIns="0" bIns="0" rtlCol="0" anchor="ctr"/>
          <a:lstStyle/>
          <a:p>
            <a:pPr marL="0" indent="0" algn="ctr">
              <a:buNone/>
            </a:pPr>
            <a:r>
              <a:rPr lang="en-US" sz="4400" b="1" dirty="0">
                <a:solidFill>
                  <a:schemeClr val="accent2"/>
                </a:solidFill>
                <a:latin typeface="Cambria" pitchFamily="34" charset="0"/>
                <a:ea typeface="Cambria" pitchFamily="34" charset="-122"/>
                <a:cs typeface="Cambria" pitchFamily="34" charset="-120"/>
              </a:rPr>
              <a:t>5</a:t>
            </a:r>
            <a:endParaRPr lang="en-US" sz="4400" dirty="0"/>
          </a:p>
        </p:txBody>
      </p:sp>
      <p:sp>
        <p:nvSpPr>
          <p:cNvPr id="10" name="Text 7"/>
          <p:cNvSpPr txBox="1"/>
          <p:nvPr/>
        </p:nvSpPr>
        <p:spPr>
          <a:xfrm>
            <a:off x="1828800" y="2816352"/>
            <a:ext cx="1280160" cy="411480"/>
          </a:xfrm>
          <a:prstGeom prst="rect">
            <a:avLst/>
          </a:prstGeom>
          <a:noFill/>
          <a:ln/>
        </p:spPr>
        <p:txBody>
          <a:bodyPr wrap="square" lIns="0" tIns="0" rIns="0" bIns="0" rtlCol="0" anchor="t"/>
          <a:lstStyle/>
          <a:p>
            <a:pPr marL="0" indent="0" algn="ctr">
              <a:buNone/>
            </a:pPr>
            <a:r>
              <a:rPr lang="en-US" sz="1300" dirty="0">
                <a:solidFill>
                  <a:schemeClr val="tx2"/>
                </a:solidFill>
                <a:latin typeface="Calibri" pitchFamily="34" charset="0"/>
                <a:ea typeface="Calibri" pitchFamily="34" charset="-122"/>
                <a:cs typeface="Calibri" pitchFamily="34" charset="-120"/>
              </a:rPr>
              <a:t>triggers</a:t>
            </a:r>
            <a:endParaRPr lang="en-US" sz="1300" dirty="0"/>
          </a:p>
        </p:txBody>
      </p:sp>
      <p:sp>
        <p:nvSpPr>
          <p:cNvPr id="11" name="Dato funciones"/>
          <p:cNvSpPr/>
          <p:nvPr/>
        </p:nvSpPr>
        <p:spPr>
          <a:xfrm>
            <a:off x="3200400" y="2011680"/>
            <a:ext cx="1280160" cy="1325880"/>
          </a:xfrm>
          <a:prstGeom prst="roundRect">
            <a:avLst>
              <a:gd name="adj" fmla="val 8571"/>
            </a:avLst>
          </a:prstGeom>
          <a:solidFill>
            <a:schemeClr val="bg2"/>
          </a:solidFill>
          <a:ln w="12700">
            <a:solidFill>
              <a:schemeClr val="bg2"/>
            </a:solidFill>
            <a:prstDash val="solid"/>
          </a:ln>
        </p:spPr>
      </p:sp>
      <p:sp>
        <p:nvSpPr>
          <p:cNvPr id="12" name="Text 9"/>
          <p:cNvSpPr txBox="1"/>
          <p:nvPr/>
        </p:nvSpPr>
        <p:spPr>
          <a:xfrm>
            <a:off x="3200400" y="2084832"/>
            <a:ext cx="1280160" cy="731520"/>
          </a:xfrm>
          <a:prstGeom prst="rect">
            <a:avLst/>
          </a:prstGeom>
          <a:noFill/>
          <a:ln/>
        </p:spPr>
        <p:txBody>
          <a:bodyPr wrap="square" lIns="0" tIns="0" rIns="0" bIns="0" rtlCol="0" anchor="ctr"/>
          <a:lstStyle/>
          <a:p>
            <a:pPr marL="0" indent="0" algn="ctr">
              <a:buNone/>
            </a:pPr>
            <a:r>
              <a:rPr lang="en-US" sz="4400" b="1" dirty="0">
                <a:solidFill>
                  <a:schemeClr val="accent1"/>
                </a:solidFill>
                <a:latin typeface="Cambria" pitchFamily="34" charset="0"/>
                <a:ea typeface="Cambria" pitchFamily="34" charset="-122"/>
                <a:cs typeface="Cambria" pitchFamily="34" charset="-120"/>
              </a:rPr>
              <a:t>3</a:t>
            </a:r>
            <a:endParaRPr lang="en-US" sz="4400" dirty="0"/>
          </a:p>
        </p:txBody>
      </p:sp>
      <p:sp>
        <p:nvSpPr>
          <p:cNvPr id="13" name="Text 10"/>
          <p:cNvSpPr txBox="1"/>
          <p:nvPr/>
        </p:nvSpPr>
        <p:spPr>
          <a:xfrm>
            <a:off x="3200400" y="2816352"/>
            <a:ext cx="1280160" cy="411480"/>
          </a:xfrm>
          <a:prstGeom prst="rect">
            <a:avLst/>
          </a:prstGeom>
          <a:noFill/>
          <a:ln/>
        </p:spPr>
        <p:txBody>
          <a:bodyPr wrap="square" lIns="0" tIns="0" rIns="0" bIns="0" rtlCol="0" anchor="t"/>
          <a:lstStyle/>
          <a:p>
            <a:pPr marL="0" indent="0" algn="ctr">
              <a:buNone/>
            </a:pPr>
            <a:r>
              <a:rPr lang="en-US" sz="1300" dirty="0">
                <a:solidFill>
                  <a:schemeClr val="tx2"/>
                </a:solidFill>
                <a:latin typeface="Calibri" pitchFamily="34" charset="0"/>
                <a:ea typeface="Calibri" pitchFamily="34" charset="-122"/>
                <a:cs typeface="Calibri" pitchFamily="34" charset="-120"/>
              </a:rPr>
              <a:t>funciones</a:t>
            </a:r>
            <a:endParaRPr lang="en-US" sz="1300" dirty="0"/>
          </a:p>
        </p:txBody>
      </p:sp>
      <p:sp>
        <p:nvSpPr>
          <p:cNvPr id="14" name="Text 11"/>
          <p:cNvSpPr txBox="1"/>
          <p:nvPr/>
        </p:nvSpPr>
        <p:spPr>
          <a:xfrm>
            <a:off x="457200" y="3474720"/>
            <a:ext cx="4023360" cy="640080"/>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Con TRY/CATCH, COMMIT, ROLLBACK y savepoints por línea de pedido</a:t>
            </a:r>
            <a:endParaRPr lang="en-US" sz="1400" dirty="0"/>
          </a:p>
        </p:txBody>
      </p:sp>
      <p:sp>
        <p:nvSpPr>
          <p:cNvPr id="15" name="Dato 11 982"/>
          <p:cNvSpPr/>
          <p:nvPr/>
        </p:nvSpPr>
        <p:spPr>
          <a:xfrm>
            <a:off x="457200" y="4206240"/>
            <a:ext cx="4023360" cy="1920240"/>
          </a:xfrm>
          <a:prstGeom prst="roundRect">
            <a:avLst>
              <a:gd name="adj" fmla="val 5714"/>
            </a:avLst>
          </a:prstGeom>
          <a:solidFill>
            <a:schemeClr val="bg2"/>
          </a:solidFill>
          <a:ln w="12700">
            <a:solidFill>
              <a:schemeClr val="bg2"/>
            </a:solidFill>
            <a:prstDash val="solid"/>
          </a:ln>
        </p:spPr>
      </p:sp>
      <p:sp>
        <p:nvSpPr>
          <p:cNvPr id="16" name="Text 13"/>
          <p:cNvSpPr txBox="1"/>
          <p:nvPr/>
        </p:nvSpPr>
        <p:spPr>
          <a:xfrm>
            <a:off x="685800" y="4315968"/>
            <a:ext cx="3566160" cy="685800"/>
          </a:xfrm>
          <a:prstGeom prst="rect">
            <a:avLst/>
          </a:prstGeom>
          <a:noFill/>
          <a:ln/>
        </p:spPr>
        <p:txBody>
          <a:bodyPr wrap="square" lIns="0" tIns="0" rIns="0" bIns="0" rtlCol="0" anchor="ctr"/>
          <a:lstStyle/>
          <a:p>
            <a:pPr marL="0" indent="0">
              <a:buNone/>
            </a:pPr>
            <a:r>
              <a:rPr lang="en-US" sz="3800" b="1" dirty="0">
                <a:solidFill>
                  <a:schemeClr val="accent2"/>
                </a:solidFill>
                <a:latin typeface="Cambria" pitchFamily="34" charset="0"/>
                <a:ea typeface="Cambria" pitchFamily="34" charset="-122"/>
                <a:cs typeface="Cambria" pitchFamily="34" charset="-120"/>
              </a:rPr>
              <a:t>11 982</a:t>
            </a:r>
            <a:endParaRPr lang="en-US" sz="3800" dirty="0"/>
          </a:p>
        </p:txBody>
      </p:sp>
      <p:sp>
        <p:nvSpPr>
          <p:cNvPr id="17" name="Text 14"/>
          <p:cNvSpPr txBox="1"/>
          <p:nvPr/>
        </p:nvSpPr>
        <p:spPr>
          <a:xfrm>
            <a:off x="685800" y="5001768"/>
            <a:ext cx="3566160" cy="1051560"/>
          </a:xfrm>
          <a:prstGeom prst="rect">
            <a:avLst/>
          </a:prstGeom>
          <a:noFill/>
          <a:ln/>
        </p:spPr>
        <p:txBody>
          <a:bodyPr wrap="square" lIns="0" tIns="0" rIns="0" bIns="0" rtlCol="0" anchor="t"/>
          <a:lstStyle/>
          <a:p>
            <a:pPr marL="0" indent="0">
              <a:buNone/>
            </a:pPr>
            <a:r>
              <a:rPr lang="en-US" sz="1300" dirty="0">
                <a:solidFill>
                  <a:schemeClr val="tx2"/>
                </a:solidFill>
                <a:latin typeface="Calibri" pitchFamily="34" charset="0"/>
                <a:ea typeface="Calibri" pitchFamily="34" charset="-122"/>
                <a:cs typeface="Calibri" pitchFamily="34" charset="-120"/>
              </a:rPr>
              <a:t>pedidos aceptados de 12 038; 18 rechazados por monto ≤ 0 con registro en el log y 52 líneas huérfanas</a:t>
            </a:r>
            <a:endParaRPr lang="en-US" sz="1300" dirty="0"/>
          </a:p>
        </p:txBody>
      </p:sp>
      <p:sp>
        <p:nvSpPr>
          <p:cNvPr id="18" name="Text 15"/>
          <p:cNvSpPr txBox="1"/>
          <p:nvPr/>
        </p:nvSpPr>
        <p:spPr>
          <a:xfrm>
            <a:off x="4846320" y="2011680"/>
            <a:ext cx="6858000" cy="320040"/>
          </a:xfrm>
          <a:prstGeom prst="rect">
            <a:avLst/>
          </a:prstGeom>
          <a:noFill/>
          <a:ln/>
        </p:spPr>
        <p:txBody>
          <a:bodyPr wrap="square" lIns="0" tIns="0" rIns="0" bIns="0" rtlCol="0" anchor="t"/>
          <a:lstStyle/>
          <a:p>
            <a:pPr marL="0" indent="0">
              <a:buNone/>
            </a:pPr>
            <a:r>
              <a:rPr lang="en-US" sz="1400" b="1" dirty="0">
                <a:solidFill>
                  <a:schemeClr val="tx1"/>
                </a:solidFill>
                <a:latin typeface="Calibri" pitchFamily="34" charset="0"/>
                <a:ea typeface="Calibri" pitchFamily="34" charset="-122"/>
                <a:cs typeface="Calibri" pitchFamily="34" charset="-120"/>
              </a:rPr>
              <a:t>Prueba: pedido con monto −10 → el trigger lo revierte (error 51030)</a:t>
            </a:r>
            <a:endParaRPr lang="en-US" sz="1400" dirty="0"/>
          </a:p>
        </p:txBody>
      </p:sp>
      <p:pic>
        <p:nvPicPr>
          <p:cNvPr id="19" name="Image 0" descr="Captura del error 51030 al insertar un monto negativo"/>
          <p:cNvPicPr>
            <a:picLocks noChangeAspect="1"/>
          </p:cNvPicPr>
          <p:nvPr/>
        </p:nvPicPr>
        <p:blipFill>
          <a:blip r:embed="rId3"/>
          <a:stretch>
            <a:fillRect/>
          </a:stretch>
        </p:blipFill>
        <p:spPr>
          <a:xfrm>
            <a:off x="4846320" y="2377440"/>
            <a:ext cx="6858000" cy="1631783"/>
          </a:xfrm>
          <a:prstGeom prst="rect">
            <a:avLst/>
          </a:prstGeom>
        </p:spPr>
      </p:pic>
      <p:sp>
        <p:nvSpPr>
          <p:cNvPr id="20" name="Text 16"/>
          <p:cNvSpPr txBox="1"/>
          <p:nvPr/>
        </p:nvSpPr>
        <p:spPr>
          <a:xfrm>
            <a:off x="4846320" y="4343400"/>
            <a:ext cx="6858000" cy="320040"/>
          </a:xfrm>
          <a:prstGeom prst="rect">
            <a:avLst/>
          </a:prstGeom>
          <a:noFill/>
          <a:ln/>
        </p:spPr>
        <p:txBody>
          <a:bodyPr wrap="square" lIns="0" tIns="0" rIns="0" bIns="0" rtlCol="0" anchor="t"/>
          <a:lstStyle/>
          <a:p>
            <a:pPr marL="0" indent="0">
              <a:buNone/>
            </a:pPr>
            <a:r>
              <a:rPr lang="en-US" sz="1400" b="1" dirty="0" err="1">
                <a:solidFill>
                  <a:schemeClr val="tx1"/>
                </a:solidFill>
                <a:latin typeface="Calibri" pitchFamily="34" charset="0"/>
                <a:ea typeface="Calibri" pitchFamily="34" charset="-122"/>
                <a:cs typeface="Calibri" pitchFamily="34" charset="-120"/>
              </a:rPr>
              <a:t>Registro</a:t>
            </a:r>
            <a:r>
              <a:rPr lang="en-US" sz="1400" b="1" dirty="0">
                <a:solidFill>
                  <a:schemeClr val="tx1"/>
                </a:solidFill>
                <a:latin typeface="Calibri" pitchFamily="34" charset="0"/>
                <a:ea typeface="Calibri" pitchFamily="34" charset="-122"/>
                <a:cs typeface="Calibri" pitchFamily="34" charset="-120"/>
              </a:rPr>
              <a:t> </a:t>
            </a:r>
            <a:r>
              <a:rPr lang="en-US" sz="1400" b="1" dirty="0" err="1">
                <a:solidFill>
                  <a:schemeClr val="tx1"/>
                </a:solidFill>
                <a:latin typeface="Calibri" pitchFamily="34" charset="0"/>
                <a:ea typeface="Calibri" pitchFamily="34" charset="-122"/>
                <a:cs typeface="Calibri" pitchFamily="34" charset="-120"/>
              </a:rPr>
              <a:t>en</a:t>
            </a:r>
            <a:r>
              <a:rPr lang="en-US" sz="1400" b="1" dirty="0">
                <a:solidFill>
                  <a:schemeClr val="tx1"/>
                </a:solidFill>
                <a:latin typeface="Calibri" pitchFamily="34" charset="0"/>
                <a:ea typeface="Calibri" pitchFamily="34" charset="-122"/>
                <a:cs typeface="Calibri" pitchFamily="34" charset="-120"/>
              </a:rPr>
              <a:t> Log_Auditoria</a:t>
            </a:r>
            <a:endParaRPr lang="en-US" sz="1400" dirty="0"/>
          </a:p>
        </p:txBody>
      </p:sp>
      <p:pic>
        <p:nvPicPr>
          <p:cNvPr id="21" name="Image 1" descr="Captura del log de auditoría con el intento bloqueado"/>
          <p:cNvPicPr>
            <a:picLocks noChangeAspect="1"/>
          </p:cNvPicPr>
          <p:nvPr/>
        </p:nvPicPr>
        <p:blipFill>
          <a:blip r:embed="rId4"/>
          <a:stretch>
            <a:fillRect/>
          </a:stretch>
        </p:blipFill>
        <p:spPr>
          <a:xfrm>
            <a:off x="4846320" y="4709160"/>
            <a:ext cx="6858000" cy="1042067"/>
          </a:xfrm>
          <a:prstGeom prst="rect">
            <a:avLst/>
          </a:prstGeom>
        </p:spPr>
      </p:pic>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1005840"/>
            <a:ext cx="11247120" cy="777240"/>
          </a:xfrm>
          <a:prstGeom prst="rect">
            <a:avLst/>
          </a:prstGeom>
          <a:noFill/>
          <a:ln/>
        </p:spPr>
        <p:txBody>
          <a:bodyPr wrap="square" lIns="0" tIns="0" rIns="0" bIns="0" rtlCol="0" anchor="ctr"/>
          <a:lstStyle/>
          <a:p>
            <a:pPr marL="0" indent="0" algn="l">
              <a:buNone/>
            </a:pPr>
            <a:r>
              <a:rPr lang="en-US" sz="3200" b="1" dirty="0" err="1">
                <a:solidFill>
                  <a:schemeClr val="tx1"/>
                </a:solidFill>
                <a:latin typeface="Cambria" pitchFamily="34" charset="0"/>
                <a:ea typeface="Cambria" pitchFamily="34" charset="-122"/>
                <a:cs typeface="Cambria" pitchFamily="34" charset="-120"/>
              </a:rPr>
              <a:t>Seguridad</a:t>
            </a:r>
            <a:endParaRPr lang="en-US" sz="3200" dirty="0"/>
          </a:p>
        </p:txBody>
      </p:sp>
      <p:sp>
        <p:nvSpPr>
          <p:cNvPr id="3" name="Text 1"/>
          <p:cNvSpPr txBox="1"/>
          <p:nvPr/>
        </p:nvSpPr>
        <p:spPr>
          <a:xfrm>
            <a:off x="5760720" y="457200"/>
            <a:ext cx="5943600" cy="274320"/>
          </a:xfrm>
          <a:prstGeom prst="rect">
            <a:avLst/>
          </a:prstGeom>
          <a:noFill/>
          <a:ln/>
        </p:spPr>
        <p:txBody>
          <a:bodyPr wrap="square" lIns="0" tIns="0" rIns="0" bIns="0" rtlCol="0" anchor="t"/>
          <a:lstStyle/>
          <a:p>
            <a:pPr marL="0" indent="0" algn="r">
              <a:buNone/>
            </a:pPr>
            <a:r>
              <a:rPr lang="en-US" sz="1200" b="1" kern="0" spc="200" dirty="0">
                <a:solidFill>
                  <a:schemeClr val="accent1"/>
                </a:solidFill>
                <a:latin typeface="Calibri" pitchFamily="34" charset="0"/>
                <a:ea typeface="Calibri" pitchFamily="34" charset="-122"/>
                <a:cs typeface="Calibri" pitchFamily="34" charset="-120"/>
              </a:rPr>
              <a:t>PARTE 1 · EL PROBLEMA Y LA BASE DE DATOS</a:t>
            </a:r>
            <a:endParaRPr lang="en-US" sz="1200" dirty="0"/>
          </a:p>
        </p:txBody>
      </p:sp>
      <p:graphicFrame>
        <p:nvGraphicFramePr>
          <p:cNvPr id="11" name="Tabla de roles"/>
          <p:cNvGraphicFramePr>
            <a:graphicFrameLocks noGrp="1"/>
          </p:cNvGraphicFramePr>
          <p:nvPr>
            <p:extLst>
              <p:ext uri="{D42A27DB-BD31-4B8C-83A1-F6EECF244321}">
                <p14:modId xmlns:p14="http://schemas.microsoft.com/office/powerpoint/2010/main" val="2721771834"/>
              </p:ext>
            </p:extLst>
          </p:nvPr>
        </p:nvGraphicFramePr>
        <p:xfrm>
          <a:off x="457200" y="2011680"/>
          <a:ext cx="7223760" cy="3520440"/>
        </p:xfrm>
        <a:graphic>
          <a:graphicData uri="http://schemas.openxmlformats.org/drawingml/2006/table">
            <a:tbl>
              <a:tblPr/>
              <a:tblGrid>
                <a:gridCol w="2011680">
                  <a:extLst>
                    <a:ext uri="{9D8B030D-6E8A-4147-A177-3AD203B41FA5}">
                      <a16:colId xmlns:a16="http://schemas.microsoft.com/office/drawing/2014/main" val="20000"/>
                    </a:ext>
                  </a:extLst>
                </a:gridCol>
                <a:gridCol w="5212080">
                  <a:extLst>
                    <a:ext uri="{9D8B030D-6E8A-4147-A177-3AD203B41FA5}">
                      <a16:colId xmlns:a16="http://schemas.microsoft.com/office/drawing/2014/main" val="20001"/>
                    </a:ext>
                  </a:extLst>
                </a:gridCol>
              </a:tblGrid>
              <a:tr h="50292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Rol</a:t>
                      </a:r>
                      <a:endParaRPr lang="en-US" sz="14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111111"/>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Qué puede hacer</a:t>
                      </a:r>
                      <a:endParaRPr lang="en-US" sz="14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111111"/>
                    </a:solidFill>
                  </a:tcPr>
                </a:tc>
                <a:extLst>
                  <a:ext uri="{0D108BD9-81ED-4DB2-BD59-A6C34878D82A}">
                    <a16:rowId xmlns:a16="http://schemas.microsoft.com/office/drawing/2014/main" val="10000"/>
                  </a:ext>
                </a:extLst>
              </a:tr>
              <a:tr h="502920">
                <a:tc>
                  <a:txBody>
                    <a:bodyPr/>
                    <a:lstStyle/>
                    <a:p>
                      <a:pPr marL="0" indent="0">
                        <a:buNone/>
                      </a:pPr>
                      <a:r>
                        <a:rPr lang="en-US" sz="1300" b="1" dirty="0">
                          <a:solidFill>
                            <a:srgbClr val="D7263D"/>
                          </a:solidFill>
                          <a:latin typeface="Calibri" pitchFamily="34" charset="0"/>
                          <a:ea typeface="Calibri" pitchFamily="34" charset="-122"/>
                          <a:cs typeface="Calibri" pitchFamily="34" charset="-120"/>
                        </a:rPr>
                        <a:t>Administrador</a:t>
                      </a:r>
                      <a:endParaRPr lang="en-US" sz="13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1300" dirty="0">
                          <a:solidFill>
                            <a:srgbClr val="111111"/>
                          </a:solidFill>
                          <a:latin typeface="Calibri" pitchFamily="34" charset="0"/>
                          <a:ea typeface="Calibri" pitchFamily="34" charset="-122"/>
                          <a:cs typeface="Calibri" pitchFamily="34" charset="-120"/>
                        </a:rPr>
                        <a:t>Gestiona el negocio, pero no puede alterar la auditoría</a:t>
                      </a:r>
                      <a:endParaRPr lang="en-US" sz="13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extLst>
                  <a:ext uri="{0D108BD9-81ED-4DB2-BD59-A6C34878D82A}">
                    <a16:rowId xmlns:a16="http://schemas.microsoft.com/office/drawing/2014/main" val="10001"/>
                  </a:ext>
                </a:extLst>
              </a:tr>
              <a:tr h="502920">
                <a:tc>
                  <a:txBody>
                    <a:bodyPr/>
                    <a:lstStyle/>
                    <a:p>
                      <a:pPr marL="0" indent="0">
                        <a:buNone/>
                      </a:pPr>
                      <a:r>
                        <a:rPr lang="en-US" sz="1300" b="1" dirty="0">
                          <a:solidFill>
                            <a:srgbClr val="D7263D"/>
                          </a:solidFill>
                          <a:latin typeface="Calibri" pitchFamily="34" charset="0"/>
                          <a:ea typeface="Calibri" pitchFamily="34" charset="-122"/>
                          <a:cs typeface="Calibri" pitchFamily="34" charset="-120"/>
                        </a:rPr>
                        <a:t>Analista de datos</a:t>
                      </a:r>
                      <a:endParaRPr lang="en-US" sz="13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1300" dirty="0">
                          <a:solidFill>
                            <a:srgbClr val="111111"/>
                          </a:solidFill>
                          <a:latin typeface="Calibri" pitchFamily="34" charset="0"/>
                          <a:ea typeface="Calibri" pitchFamily="34" charset="-122"/>
                          <a:cs typeface="Calibri" pitchFamily="34" charset="-120"/>
                        </a:rPr>
                        <a:t>Hace BI sin ver DNI, correos ni salarios</a:t>
                      </a:r>
                      <a:endParaRPr lang="en-US" sz="13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extLst>
                  <a:ext uri="{0D108BD9-81ED-4DB2-BD59-A6C34878D82A}">
                    <a16:rowId xmlns:a16="http://schemas.microsoft.com/office/drawing/2014/main" val="10002"/>
                  </a:ext>
                </a:extLst>
              </a:tr>
              <a:tr h="502920">
                <a:tc>
                  <a:txBody>
                    <a:bodyPr/>
                    <a:lstStyle/>
                    <a:p>
                      <a:pPr marL="0" indent="0">
                        <a:buNone/>
                      </a:pPr>
                      <a:r>
                        <a:rPr lang="en-US" sz="1300" b="1" dirty="0">
                          <a:solidFill>
                            <a:srgbClr val="D7263D"/>
                          </a:solidFill>
                          <a:latin typeface="Calibri" pitchFamily="34" charset="0"/>
                          <a:ea typeface="Calibri" pitchFamily="34" charset="-122"/>
                          <a:cs typeface="Calibri" pitchFamily="34" charset="-120"/>
                        </a:rPr>
                        <a:t>Auditor</a:t>
                      </a:r>
                      <a:endParaRPr lang="en-US" sz="13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1300" dirty="0">
                          <a:solidFill>
                            <a:srgbClr val="111111"/>
                          </a:solidFill>
                          <a:latin typeface="Calibri" pitchFamily="34" charset="0"/>
                          <a:ea typeface="Calibri" pitchFamily="34" charset="-122"/>
                          <a:cs typeface="Calibri" pitchFamily="34" charset="-120"/>
                        </a:rPr>
                        <a:t>Solo lee los logs, ningún dato del negocio</a:t>
                      </a:r>
                      <a:endParaRPr lang="en-US" sz="13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extLst>
                  <a:ext uri="{0D108BD9-81ED-4DB2-BD59-A6C34878D82A}">
                    <a16:rowId xmlns:a16="http://schemas.microsoft.com/office/drawing/2014/main" val="10003"/>
                  </a:ext>
                </a:extLst>
              </a:tr>
              <a:tr h="502920">
                <a:tc>
                  <a:txBody>
                    <a:bodyPr/>
                    <a:lstStyle/>
                    <a:p>
                      <a:pPr marL="0" indent="0">
                        <a:buNone/>
                      </a:pPr>
                      <a:r>
                        <a:rPr lang="en-US" sz="1300" b="1" dirty="0">
                          <a:solidFill>
                            <a:srgbClr val="D7263D"/>
                          </a:solidFill>
                          <a:latin typeface="Calibri" pitchFamily="34" charset="0"/>
                          <a:ea typeface="Calibri" pitchFamily="34" charset="-122"/>
                          <a:cs typeface="Calibri" pitchFamily="34" charset="-120"/>
                        </a:rPr>
                        <a:t>Vendedor</a:t>
                      </a:r>
                      <a:endParaRPr lang="en-US" sz="13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1300" dirty="0">
                          <a:solidFill>
                            <a:srgbClr val="111111"/>
                          </a:solidFill>
                          <a:latin typeface="Calibri" pitchFamily="34" charset="0"/>
                          <a:ea typeface="Calibri" pitchFamily="34" charset="-122"/>
                          <a:cs typeface="Calibri" pitchFamily="34" charset="-120"/>
                        </a:rPr>
                        <a:t>Registra ventas solo con el procedimiento validado</a:t>
                      </a:r>
                      <a:endParaRPr lang="en-US" sz="13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extLst>
                  <a:ext uri="{0D108BD9-81ED-4DB2-BD59-A6C34878D82A}">
                    <a16:rowId xmlns:a16="http://schemas.microsoft.com/office/drawing/2014/main" val="10004"/>
                  </a:ext>
                </a:extLst>
              </a:tr>
              <a:tr h="502920">
                <a:tc>
                  <a:txBody>
                    <a:bodyPr/>
                    <a:lstStyle/>
                    <a:p>
                      <a:pPr marL="0" indent="0">
                        <a:buNone/>
                      </a:pPr>
                      <a:r>
                        <a:rPr lang="en-US" sz="1300" b="1" dirty="0">
                          <a:solidFill>
                            <a:srgbClr val="D7263D"/>
                          </a:solidFill>
                          <a:latin typeface="Calibri" pitchFamily="34" charset="0"/>
                          <a:ea typeface="Calibri" pitchFamily="34" charset="-122"/>
                          <a:cs typeface="Calibri" pitchFamily="34" charset="-120"/>
                        </a:rPr>
                        <a:t>Cliente</a:t>
                      </a:r>
                      <a:endParaRPr lang="en-US" sz="13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1300" dirty="0">
                          <a:solidFill>
                            <a:srgbClr val="111111"/>
                          </a:solidFill>
                          <a:latin typeface="Calibri" pitchFamily="34" charset="0"/>
                          <a:ea typeface="Calibri" pitchFamily="34" charset="-122"/>
                          <a:cs typeface="Calibri" pitchFamily="34" charset="-120"/>
                        </a:rPr>
                        <a:t>Ve solo su historial (seguridad por fila)</a:t>
                      </a:r>
                      <a:endParaRPr lang="en-US" sz="13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extLst>
                  <a:ext uri="{0D108BD9-81ED-4DB2-BD59-A6C34878D82A}">
                    <a16:rowId xmlns:a16="http://schemas.microsoft.com/office/drawing/2014/main" val="10005"/>
                  </a:ext>
                </a:extLst>
              </a:tr>
              <a:tr h="502920">
                <a:tc>
                  <a:txBody>
                    <a:bodyPr/>
                    <a:lstStyle/>
                    <a:p>
                      <a:pPr marL="0" indent="0">
                        <a:buNone/>
                      </a:pPr>
                      <a:r>
                        <a:rPr lang="en-US" sz="1300" b="1" dirty="0">
                          <a:solidFill>
                            <a:srgbClr val="D7263D"/>
                          </a:solidFill>
                          <a:latin typeface="Calibri" pitchFamily="34" charset="0"/>
                          <a:ea typeface="Calibri" pitchFamily="34" charset="-122"/>
                          <a:cs typeface="Calibri" pitchFamily="34" charset="-120"/>
                        </a:rPr>
                        <a:t>Cocina</a:t>
                      </a:r>
                      <a:endParaRPr lang="en-US" sz="13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1300" dirty="0">
                          <a:solidFill>
                            <a:srgbClr val="111111"/>
                          </a:solidFill>
                          <a:latin typeface="Calibri" pitchFamily="34" charset="0"/>
                          <a:ea typeface="Calibri" pitchFamily="34" charset="-122"/>
                          <a:cs typeface="Calibri" pitchFamily="34" charset="-120"/>
                        </a:rPr>
                        <a:t>Ve platos y cantidades del día, sin montos</a:t>
                      </a:r>
                      <a:endParaRPr lang="en-US" sz="13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6" name="Dato Ley 29733"/>
          <p:cNvSpPr/>
          <p:nvPr/>
        </p:nvSpPr>
        <p:spPr>
          <a:xfrm>
            <a:off x="8046720" y="2011680"/>
            <a:ext cx="3657600" cy="1234440"/>
          </a:xfrm>
          <a:prstGeom prst="roundRect">
            <a:avLst>
              <a:gd name="adj" fmla="val 8889"/>
            </a:avLst>
          </a:prstGeom>
          <a:solidFill>
            <a:schemeClr val="bg2"/>
          </a:solidFill>
          <a:ln w="12700">
            <a:solidFill>
              <a:schemeClr val="bg2"/>
            </a:solidFill>
            <a:prstDash val="solid"/>
          </a:ln>
        </p:spPr>
      </p:sp>
      <p:sp>
        <p:nvSpPr>
          <p:cNvPr id="7" name="Text 3"/>
          <p:cNvSpPr txBox="1"/>
          <p:nvPr/>
        </p:nvSpPr>
        <p:spPr>
          <a:xfrm>
            <a:off x="8275320" y="2121408"/>
            <a:ext cx="3200400" cy="548640"/>
          </a:xfrm>
          <a:prstGeom prst="rect">
            <a:avLst/>
          </a:prstGeom>
          <a:noFill/>
          <a:ln/>
        </p:spPr>
        <p:txBody>
          <a:bodyPr wrap="square" lIns="0" tIns="0" rIns="0" bIns="0" rtlCol="0" anchor="ctr"/>
          <a:lstStyle/>
          <a:p>
            <a:pPr marL="0" indent="0">
              <a:buNone/>
            </a:pPr>
            <a:r>
              <a:rPr lang="en-US" sz="2800" b="1" dirty="0">
                <a:solidFill>
                  <a:schemeClr val="accent1"/>
                </a:solidFill>
                <a:latin typeface="Cambria" pitchFamily="34" charset="0"/>
                <a:ea typeface="Cambria" pitchFamily="34" charset="-122"/>
                <a:cs typeface="Cambria" pitchFamily="34" charset="-120"/>
              </a:rPr>
              <a:t>Ley 29733</a:t>
            </a:r>
            <a:endParaRPr lang="en-US" sz="2800" dirty="0"/>
          </a:p>
        </p:txBody>
      </p:sp>
      <p:sp>
        <p:nvSpPr>
          <p:cNvPr id="8" name="Text 4"/>
          <p:cNvSpPr txBox="1"/>
          <p:nvPr/>
        </p:nvSpPr>
        <p:spPr>
          <a:xfrm>
            <a:off x="8275320" y="2670048"/>
            <a:ext cx="3200400" cy="502920"/>
          </a:xfrm>
          <a:prstGeom prst="rect">
            <a:avLst/>
          </a:prstGeom>
          <a:noFill/>
          <a:ln/>
        </p:spPr>
        <p:txBody>
          <a:bodyPr wrap="square" lIns="0" tIns="0" rIns="0" bIns="0" rtlCol="0" anchor="t"/>
          <a:lstStyle/>
          <a:p>
            <a:pPr marL="0" indent="0">
              <a:buNone/>
            </a:pPr>
            <a:r>
              <a:rPr lang="en-US" sz="1300" dirty="0">
                <a:solidFill>
                  <a:schemeClr val="tx2"/>
                </a:solidFill>
                <a:latin typeface="Calibri" pitchFamily="34" charset="0"/>
                <a:ea typeface="Calibri" pitchFamily="34" charset="-122"/>
                <a:cs typeface="Calibri" pitchFamily="34" charset="-120"/>
              </a:rPr>
              <a:t>Arts. 8, 9, 11, 16 y 17 · 7 controles ISO 27001</a:t>
            </a:r>
            <a:endParaRPr lang="en-US" sz="1300" dirty="0"/>
          </a:p>
        </p:txBody>
      </p:sp>
      <p:sp>
        <p:nvSpPr>
          <p:cNvPr id="9" name="Dato FULL + DIFF + LOG"/>
          <p:cNvSpPr/>
          <p:nvPr/>
        </p:nvSpPr>
        <p:spPr>
          <a:xfrm>
            <a:off x="8046720" y="3383280"/>
            <a:ext cx="3657600" cy="1234440"/>
          </a:xfrm>
          <a:prstGeom prst="roundRect">
            <a:avLst>
              <a:gd name="adj" fmla="val 8889"/>
            </a:avLst>
          </a:prstGeom>
          <a:solidFill>
            <a:schemeClr val="bg2"/>
          </a:solidFill>
          <a:ln w="12700">
            <a:solidFill>
              <a:schemeClr val="bg2"/>
            </a:solidFill>
            <a:prstDash val="solid"/>
          </a:ln>
        </p:spPr>
      </p:sp>
      <p:sp>
        <p:nvSpPr>
          <p:cNvPr id="10" name="Text 6"/>
          <p:cNvSpPr txBox="1"/>
          <p:nvPr/>
        </p:nvSpPr>
        <p:spPr>
          <a:xfrm>
            <a:off x="8229600" y="3771900"/>
            <a:ext cx="3200400" cy="548640"/>
          </a:xfrm>
          <a:prstGeom prst="rect">
            <a:avLst/>
          </a:prstGeom>
          <a:noFill/>
          <a:ln/>
        </p:spPr>
        <p:txBody>
          <a:bodyPr wrap="square" lIns="0" tIns="0" rIns="0" bIns="0" rtlCol="0" anchor="ctr"/>
          <a:lstStyle/>
          <a:p>
            <a:pPr marL="0" indent="0">
              <a:buNone/>
            </a:pPr>
            <a:r>
              <a:rPr lang="en-US" sz="2200" b="1" dirty="0">
                <a:solidFill>
                  <a:schemeClr val="accent2"/>
                </a:solidFill>
                <a:latin typeface="Cambria" pitchFamily="34" charset="0"/>
                <a:ea typeface="Cambria" pitchFamily="34" charset="-122"/>
                <a:cs typeface="Cambria" pitchFamily="34" charset="-120"/>
              </a:rPr>
              <a:t>Backup:</a:t>
            </a:r>
          </a:p>
          <a:p>
            <a:pPr marL="0" indent="0">
              <a:buNone/>
            </a:pPr>
            <a:r>
              <a:rPr lang="en-US" sz="2200" b="1" dirty="0">
                <a:solidFill>
                  <a:schemeClr val="accent2"/>
                </a:solidFill>
                <a:latin typeface="Cambria" pitchFamily="34" charset="0"/>
                <a:ea typeface="Cambria" pitchFamily="34" charset="-122"/>
                <a:cs typeface="Cambria" pitchFamily="34" charset="-120"/>
              </a:rPr>
              <a:t>FULL + DIFF + LOG</a:t>
            </a:r>
          </a:p>
          <a:p>
            <a:pPr marL="0" indent="0">
              <a:buNone/>
            </a:pPr>
            <a:r>
              <a:rPr lang="en-US" sz="2200" b="1" dirty="0">
                <a:solidFill>
                  <a:schemeClr val="accent2"/>
                </a:solidFill>
                <a:latin typeface="Cambria" pitchFamily="34" charset="0"/>
                <a:ea typeface="Cambria" pitchFamily="34" charset="-122"/>
              </a:rPr>
              <a:t>Google Drive</a:t>
            </a:r>
            <a:endParaRPr lang="en-US" sz="2200" dirty="0"/>
          </a:p>
        </p:txBody>
      </p:sp>
      <p:sp>
        <p:nvSpPr>
          <p:cNvPr id="15" name="Text 11"/>
          <p:cNvSpPr txBox="1"/>
          <p:nvPr/>
        </p:nvSpPr>
        <p:spPr>
          <a:xfrm>
            <a:off x="457200" y="5760720"/>
            <a:ext cx="7223760" cy="457200"/>
          </a:xfrm>
          <a:prstGeom prst="rect">
            <a:avLst/>
          </a:prstGeom>
          <a:noFill/>
          <a:ln/>
        </p:spPr>
        <p:txBody>
          <a:bodyPr wrap="square" lIns="0" tIns="0" rIns="0" bIns="0" rtlCol="0" anchor="t"/>
          <a:lstStyle/>
          <a:p>
            <a:pPr marL="0" indent="0">
              <a:buNone/>
            </a:pPr>
            <a:r>
              <a:rPr lang="en-US" sz="1400" b="1" dirty="0">
                <a:solidFill>
                  <a:schemeClr val="tx2"/>
                </a:solidFill>
                <a:latin typeface="Calibri" pitchFamily="34" charset="0"/>
                <a:ea typeface="Calibri" pitchFamily="34" charset="-122"/>
                <a:cs typeface="Calibri" pitchFamily="34" charset="-120"/>
              </a:rPr>
              <a:t>Enmascaramiento de datos sensibles, seguridad por fila y DNI con hash en el Data Warehouse</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1005840"/>
            <a:ext cx="1124712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Riesgos y mitigación</a:t>
            </a:r>
            <a:endParaRPr lang="en-US" sz="3200" dirty="0"/>
          </a:p>
        </p:txBody>
      </p:sp>
      <p:sp>
        <p:nvSpPr>
          <p:cNvPr id="3" name="Text 1"/>
          <p:cNvSpPr txBox="1"/>
          <p:nvPr/>
        </p:nvSpPr>
        <p:spPr>
          <a:xfrm>
            <a:off x="5760720" y="457200"/>
            <a:ext cx="5943600" cy="274320"/>
          </a:xfrm>
          <a:prstGeom prst="rect">
            <a:avLst/>
          </a:prstGeom>
          <a:noFill/>
          <a:ln/>
        </p:spPr>
        <p:txBody>
          <a:bodyPr wrap="square" lIns="0" tIns="0" rIns="0" bIns="0" rtlCol="0" anchor="t"/>
          <a:lstStyle/>
          <a:p>
            <a:pPr marL="0" indent="0" algn="r">
              <a:buNone/>
            </a:pPr>
            <a:r>
              <a:rPr lang="en-US" sz="1200" b="1" kern="0" spc="200" dirty="0">
                <a:solidFill>
                  <a:schemeClr val="accent1"/>
                </a:solidFill>
                <a:latin typeface="Calibri" pitchFamily="34" charset="0"/>
                <a:ea typeface="Calibri" pitchFamily="34" charset="-122"/>
                <a:cs typeface="Calibri" pitchFamily="34" charset="-120"/>
              </a:rPr>
              <a:t>PARTE 1 · EL PROBLEMA Y LA BASE DE DATOS</a:t>
            </a:r>
            <a:endParaRPr lang="en-US" sz="1200" dirty="0"/>
          </a:p>
        </p:txBody>
      </p:sp>
      <p:graphicFrame>
        <p:nvGraphicFramePr>
          <p:cNvPr id="12" name="Tabla de riesgos"/>
          <p:cNvGraphicFramePr>
            <a:graphicFrameLocks noGrp="1"/>
          </p:cNvGraphicFramePr>
          <p:nvPr>
            <p:extLst>
              <p:ext uri="{D42A27DB-BD31-4B8C-83A1-F6EECF244321}">
                <p14:modId xmlns:p14="http://schemas.microsoft.com/office/powerpoint/2010/main" val="2013533660"/>
              </p:ext>
            </p:extLst>
          </p:nvPr>
        </p:nvGraphicFramePr>
        <p:xfrm>
          <a:off x="457200" y="1965960"/>
          <a:ext cx="11247120" cy="3657600"/>
        </p:xfrm>
        <a:graphic>
          <a:graphicData uri="http://schemas.openxmlformats.org/drawingml/2006/table">
            <a:tbl>
              <a:tblPr/>
              <a:tblGrid>
                <a:gridCol w="3291840">
                  <a:extLst>
                    <a:ext uri="{9D8B030D-6E8A-4147-A177-3AD203B41FA5}">
                      <a16:colId xmlns:a16="http://schemas.microsoft.com/office/drawing/2014/main" val="20000"/>
                    </a:ext>
                  </a:extLst>
                </a:gridCol>
                <a:gridCol w="914400">
                  <a:extLst>
                    <a:ext uri="{9D8B030D-6E8A-4147-A177-3AD203B41FA5}">
                      <a16:colId xmlns:a16="http://schemas.microsoft.com/office/drawing/2014/main" val="20001"/>
                    </a:ext>
                  </a:extLst>
                </a:gridCol>
                <a:gridCol w="448056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36576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Riesgo</a:t>
                      </a:r>
                      <a:endParaRPr lang="en-US" sz="1400" dirty="0">
                        <a:latin typeface="Calibri" charset="0"/>
                        <a:ea typeface="Calibri" charset="0"/>
                        <a:cs typeface="Calibri" charset="0"/>
                      </a:endParaRPr>
                    </a:p>
                  </a:txBody>
                  <a:tcPr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111111"/>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Impacto</a:t>
                      </a:r>
                      <a:endParaRPr lang="en-US" sz="1400" dirty="0">
                        <a:latin typeface="Calibri" charset="0"/>
                        <a:ea typeface="Calibri" charset="0"/>
                        <a:cs typeface="Calibri" charset="0"/>
                      </a:endParaRPr>
                    </a:p>
                  </a:txBody>
                  <a:tcPr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111111"/>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Mitigación</a:t>
                      </a:r>
                      <a:endParaRPr lang="en-US" sz="1400" dirty="0">
                        <a:latin typeface="Calibri" charset="0"/>
                        <a:ea typeface="Calibri" charset="0"/>
                        <a:cs typeface="Calibri" charset="0"/>
                      </a:endParaRPr>
                    </a:p>
                  </a:txBody>
                  <a:tcPr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111111"/>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Resultado</a:t>
                      </a:r>
                      <a:endParaRPr lang="en-US" sz="1400" dirty="0">
                        <a:latin typeface="Calibri" charset="0"/>
                        <a:ea typeface="Calibri" charset="0"/>
                        <a:cs typeface="Calibri" charset="0"/>
                      </a:endParaRPr>
                    </a:p>
                  </a:txBody>
                  <a:tcPr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111111"/>
                    </a:solidFill>
                  </a:tcPr>
                </a:tc>
                <a:extLst>
                  <a:ext uri="{0D108BD9-81ED-4DB2-BD59-A6C34878D82A}">
                    <a16:rowId xmlns:a16="http://schemas.microsoft.com/office/drawing/2014/main" val="10000"/>
                  </a:ext>
                </a:extLst>
              </a:tr>
              <a:tr h="548640">
                <a:tc>
                  <a:txBody>
                    <a:bodyPr/>
                    <a:lstStyle/>
                    <a:p>
                      <a:pPr marL="0" indent="0">
                        <a:buNone/>
                      </a:pPr>
                      <a:r>
                        <a:rPr lang="en-US" sz="1200" b="1" dirty="0">
                          <a:solidFill>
                            <a:srgbClr val="111111"/>
                          </a:solidFill>
                          <a:latin typeface="Calibri" pitchFamily="34" charset="0"/>
                          <a:ea typeface="Calibri" pitchFamily="34" charset="-122"/>
                          <a:cs typeface="Calibri" pitchFamily="34" charset="-120"/>
                        </a:rPr>
                        <a:t>Alteración de la tabla de auditoría</a:t>
                      </a:r>
                      <a:endParaRPr lang="en-US" sz="1200" dirty="0">
                        <a:latin typeface="Calibri" charset="0"/>
                        <a:ea typeface="Calibri" charset="0"/>
                        <a:cs typeface="Calibri" charset="0"/>
                      </a:endParaRPr>
                    </a:p>
                  </a:txBody>
                  <a:tcPr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1200" b="1" dirty="0">
                          <a:solidFill>
                            <a:srgbClr val="D7263D"/>
                          </a:solidFill>
                          <a:latin typeface="Calibri" pitchFamily="34" charset="0"/>
                          <a:ea typeface="Calibri" pitchFamily="34" charset="-122"/>
                          <a:cs typeface="Calibri" pitchFamily="34" charset="-120"/>
                        </a:rPr>
                        <a:t>Crítico</a:t>
                      </a:r>
                      <a:endParaRPr lang="en-US" sz="1200" dirty="0">
                        <a:latin typeface="Calibri" charset="0"/>
                        <a:ea typeface="Calibri" charset="0"/>
                        <a:cs typeface="Calibri" charset="0"/>
                      </a:endParaRPr>
                    </a:p>
                  </a:txBody>
                  <a:tcPr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1200" dirty="0">
                          <a:solidFill>
                            <a:srgbClr val="111111"/>
                          </a:solidFill>
                          <a:latin typeface="Calibri" pitchFamily="34" charset="0"/>
                          <a:ea typeface="Calibri" pitchFamily="34" charset="-122"/>
                          <a:cs typeface="Calibri" pitchFamily="34" charset="-120"/>
                        </a:rPr>
                        <a:t>DENY al administrador y trigger que prohíbe UPDATE y DELETE</a:t>
                      </a:r>
                      <a:endParaRPr lang="en-US" sz="1200" dirty="0">
                        <a:latin typeface="Calibri" charset="0"/>
                        <a:ea typeface="Calibri" charset="0"/>
                        <a:cs typeface="Calibri" charset="0"/>
                      </a:endParaRPr>
                    </a:p>
                  </a:txBody>
                  <a:tcPr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1200" b="1" dirty="0">
                          <a:solidFill>
                            <a:srgbClr val="1B998B"/>
                          </a:solidFill>
                          <a:latin typeface="Calibri" pitchFamily="34" charset="0"/>
                          <a:ea typeface="Calibri" pitchFamily="34" charset="-122"/>
                          <a:cs typeface="Calibri" pitchFamily="34" charset="-120"/>
                        </a:rPr>
                        <a:t>Error 51040 verificado</a:t>
                      </a:r>
                      <a:endParaRPr lang="en-US" sz="1200" dirty="0">
                        <a:latin typeface="Calibri" charset="0"/>
                        <a:ea typeface="Calibri" charset="0"/>
                        <a:cs typeface="Calibri" charset="0"/>
                      </a:endParaRPr>
                    </a:p>
                  </a:txBody>
                  <a:tcPr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extLst>
                  <a:ext uri="{0D108BD9-81ED-4DB2-BD59-A6C34878D82A}">
                    <a16:rowId xmlns:a16="http://schemas.microsoft.com/office/drawing/2014/main" val="10001"/>
                  </a:ext>
                </a:extLst>
              </a:tr>
              <a:tr h="548640">
                <a:tc>
                  <a:txBody>
                    <a:bodyPr/>
                    <a:lstStyle/>
                    <a:p>
                      <a:pPr marL="0" indent="0">
                        <a:buNone/>
                      </a:pPr>
                      <a:r>
                        <a:rPr lang="en-US" sz="1200" b="1" dirty="0">
                          <a:solidFill>
                            <a:srgbClr val="111111"/>
                          </a:solidFill>
                          <a:latin typeface="Calibri" pitchFamily="34" charset="0"/>
                          <a:ea typeface="Calibri" pitchFamily="34" charset="-122"/>
                          <a:cs typeface="Calibri" pitchFamily="34" charset="-120"/>
                        </a:rPr>
                        <a:t>Datos personales en el entorno analítico</a:t>
                      </a:r>
                      <a:endParaRPr lang="en-US" sz="1200" dirty="0">
                        <a:latin typeface="Calibri" charset="0"/>
                        <a:ea typeface="Calibri" charset="0"/>
                        <a:cs typeface="Calibri" charset="0"/>
                      </a:endParaRPr>
                    </a:p>
                  </a:txBody>
                  <a:tcPr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1200" b="1" dirty="0">
                          <a:solidFill>
                            <a:srgbClr val="D7263D"/>
                          </a:solidFill>
                          <a:latin typeface="Calibri" pitchFamily="34" charset="0"/>
                          <a:ea typeface="Calibri" pitchFamily="34" charset="-122"/>
                          <a:cs typeface="Calibri" pitchFamily="34" charset="-120"/>
                        </a:rPr>
                        <a:t>Crítico</a:t>
                      </a:r>
                      <a:endParaRPr lang="en-US" sz="1200" dirty="0">
                        <a:latin typeface="Calibri" charset="0"/>
                        <a:ea typeface="Calibri" charset="0"/>
                        <a:cs typeface="Calibri" charset="0"/>
                      </a:endParaRPr>
                    </a:p>
                  </a:txBody>
                  <a:tcPr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1200" dirty="0">
                          <a:solidFill>
                            <a:srgbClr val="111111"/>
                          </a:solidFill>
                          <a:latin typeface="Calibri" pitchFamily="34" charset="0"/>
                          <a:ea typeface="Calibri" pitchFamily="34" charset="-122"/>
                          <a:cs typeface="Calibri" pitchFamily="34" charset="-120"/>
                        </a:rPr>
                        <a:t>DNI con hash; sin correo, teléfono ni salario en el DW</a:t>
                      </a:r>
                      <a:endParaRPr lang="en-US" sz="1200" dirty="0">
                        <a:latin typeface="Calibri" charset="0"/>
                        <a:ea typeface="Calibri" charset="0"/>
                        <a:cs typeface="Calibri" charset="0"/>
                      </a:endParaRPr>
                    </a:p>
                  </a:txBody>
                  <a:tcPr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1200" b="1" dirty="0">
                          <a:solidFill>
                            <a:srgbClr val="1B998B"/>
                          </a:solidFill>
                          <a:latin typeface="Calibri" pitchFamily="34" charset="0"/>
                          <a:ea typeface="Calibri" pitchFamily="34" charset="-122"/>
                          <a:cs typeface="Calibri" pitchFamily="34" charset="-120"/>
                        </a:rPr>
                        <a:t>DW sin datos personales</a:t>
                      </a:r>
                      <a:endParaRPr lang="en-US" sz="1200" dirty="0">
                        <a:latin typeface="Calibri" charset="0"/>
                        <a:ea typeface="Calibri" charset="0"/>
                        <a:cs typeface="Calibri" charset="0"/>
                      </a:endParaRPr>
                    </a:p>
                  </a:txBody>
                  <a:tcPr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extLst>
                  <a:ext uri="{0D108BD9-81ED-4DB2-BD59-A6C34878D82A}">
                    <a16:rowId xmlns:a16="http://schemas.microsoft.com/office/drawing/2014/main" val="10002"/>
                  </a:ext>
                </a:extLst>
              </a:tr>
              <a:tr h="548640">
                <a:tc>
                  <a:txBody>
                    <a:bodyPr/>
                    <a:lstStyle/>
                    <a:p>
                      <a:pPr marL="0" indent="0">
                        <a:buNone/>
                      </a:pPr>
                      <a:r>
                        <a:rPr lang="en-US" sz="1200" b="1" dirty="0">
                          <a:solidFill>
                            <a:srgbClr val="111111"/>
                          </a:solidFill>
                          <a:latin typeface="Calibri" pitchFamily="34" charset="0"/>
                          <a:ea typeface="Calibri" pitchFamily="34" charset="-122"/>
                          <a:cs typeface="Calibri" pitchFamily="34" charset="-120"/>
                        </a:rPr>
                        <a:t>CSV con formatos distintos</a:t>
                      </a:r>
                      <a:endParaRPr lang="en-US" sz="1200" dirty="0">
                        <a:latin typeface="Calibri" charset="0"/>
                        <a:ea typeface="Calibri" charset="0"/>
                        <a:cs typeface="Calibri" charset="0"/>
                      </a:endParaRPr>
                    </a:p>
                  </a:txBody>
                  <a:tcPr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1200" b="1" dirty="0">
                          <a:solidFill>
                            <a:srgbClr val="F4A261"/>
                          </a:solidFill>
                          <a:latin typeface="Calibri" pitchFamily="34" charset="0"/>
                          <a:ea typeface="Calibri" pitchFamily="34" charset="-122"/>
                          <a:cs typeface="Calibri" pitchFamily="34" charset="-120"/>
                        </a:rPr>
                        <a:t>Alto</a:t>
                      </a:r>
                      <a:endParaRPr lang="en-US" sz="1200" dirty="0">
                        <a:latin typeface="Calibri" charset="0"/>
                        <a:ea typeface="Calibri" charset="0"/>
                        <a:cs typeface="Calibri" charset="0"/>
                      </a:endParaRPr>
                    </a:p>
                  </a:txBody>
                  <a:tcPr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1200" dirty="0">
                          <a:solidFill>
                            <a:srgbClr val="111111"/>
                          </a:solidFill>
                          <a:latin typeface="Calibri" pitchFamily="34" charset="0"/>
                          <a:ea typeface="Calibri" pitchFamily="34" charset="-122"/>
                          <a:cs typeface="Calibri" pitchFamily="34" charset="-120"/>
                        </a:rPr>
                        <a:t>Staging en texto, validación con TRY_CAST y normalización en el ETL</a:t>
                      </a:r>
                      <a:endParaRPr lang="en-US" sz="1200" dirty="0">
                        <a:latin typeface="Calibri" charset="0"/>
                        <a:ea typeface="Calibri" charset="0"/>
                        <a:cs typeface="Calibri" charset="0"/>
                      </a:endParaRPr>
                    </a:p>
                  </a:txBody>
                  <a:tcPr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1200" b="1" dirty="0">
                          <a:solidFill>
                            <a:srgbClr val="1B998B"/>
                          </a:solidFill>
                          <a:latin typeface="Calibri" pitchFamily="34" charset="0"/>
                          <a:ea typeface="Calibri" pitchFamily="34" charset="-122"/>
                          <a:cs typeface="Calibri" pitchFamily="34" charset="-120"/>
                        </a:rPr>
                        <a:t>2 755 nombres normalizados</a:t>
                      </a:r>
                      <a:endParaRPr lang="en-US" sz="1200" dirty="0">
                        <a:latin typeface="Calibri" charset="0"/>
                        <a:ea typeface="Calibri" charset="0"/>
                        <a:cs typeface="Calibri" charset="0"/>
                      </a:endParaRPr>
                    </a:p>
                  </a:txBody>
                  <a:tcPr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extLst>
                  <a:ext uri="{0D108BD9-81ED-4DB2-BD59-A6C34878D82A}">
                    <a16:rowId xmlns:a16="http://schemas.microsoft.com/office/drawing/2014/main" val="10003"/>
                  </a:ext>
                </a:extLst>
              </a:tr>
              <a:tr h="548640">
                <a:tc>
                  <a:txBody>
                    <a:bodyPr/>
                    <a:lstStyle/>
                    <a:p>
                      <a:pPr marL="0" indent="0">
                        <a:buNone/>
                      </a:pPr>
                      <a:r>
                        <a:rPr lang="en-US" sz="1200" b="1" dirty="0">
                          <a:solidFill>
                            <a:srgbClr val="111111"/>
                          </a:solidFill>
                          <a:latin typeface="Calibri" pitchFamily="34" charset="0"/>
                          <a:ea typeface="Calibri" pitchFamily="34" charset="-122"/>
                          <a:cs typeface="Calibri" pitchFamily="34" charset="-120"/>
                        </a:rPr>
                        <a:t>Respaldos en horas punta</a:t>
                      </a:r>
                      <a:endParaRPr lang="en-US" sz="1200" dirty="0">
                        <a:latin typeface="Calibri" charset="0"/>
                        <a:ea typeface="Calibri" charset="0"/>
                        <a:cs typeface="Calibri" charset="0"/>
                      </a:endParaRPr>
                    </a:p>
                  </a:txBody>
                  <a:tcPr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1200" b="1" dirty="0">
                          <a:solidFill>
                            <a:srgbClr val="8C8C8C"/>
                          </a:solidFill>
                          <a:latin typeface="Calibri" pitchFamily="34" charset="0"/>
                          <a:ea typeface="Calibri" pitchFamily="34" charset="-122"/>
                          <a:cs typeface="Calibri" pitchFamily="34" charset="-120"/>
                        </a:rPr>
                        <a:t>Medio</a:t>
                      </a:r>
                      <a:endParaRPr lang="en-US" sz="1200" dirty="0">
                        <a:latin typeface="Calibri" charset="0"/>
                        <a:ea typeface="Calibri" charset="0"/>
                        <a:cs typeface="Calibri" charset="0"/>
                      </a:endParaRPr>
                    </a:p>
                  </a:txBody>
                  <a:tcPr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1200" dirty="0">
                          <a:solidFill>
                            <a:srgbClr val="111111"/>
                          </a:solidFill>
                          <a:latin typeface="Calibri" pitchFamily="34" charset="0"/>
                          <a:ea typeface="Calibri" pitchFamily="34" charset="-122"/>
                          <a:cs typeface="Calibri" pitchFamily="34" charset="-120"/>
                        </a:rPr>
                        <a:t>FULL domingo 03:00, DIFF diario, LOG cada 15 min</a:t>
                      </a:r>
                      <a:endParaRPr lang="en-US" sz="1200" dirty="0">
                        <a:latin typeface="Calibri" charset="0"/>
                        <a:ea typeface="Calibri" charset="0"/>
                        <a:cs typeface="Calibri" charset="0"/>
                      </a:endParaRPr>
                    </a:p>
                  </a:txBody>
                  <a:tcPr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1200" b="1" dirty="0">
                          <a:solidFill>
                            <a:srgbClr val="1B998B"/>
                          </a:solidFill>
                          <a:latin typeface="Calibri" pitchFamily="34" charset="0"/>
                          <a:ea typeface="Calibri" pitchFamily="34" charset="-122"/>
                          <a:cs typeface="Calibri" pitchFamily="34" charset="-120"/>
                        </a:rPr>
                        <a:t>RPO ≤ 15 min</a:t>
                      </a:r>
                      <a:endParaRPr lang="en-US" sz="1200" dirty="0">
                        <a:latin typeface="Calibri" charset="0"/>
                        <a:ea typeface="Calibri" charset="0"/>
                        <a:cs typeface="Calibri" charset="0"/>
                      </a:endParaRPr>
                    </a:p>
                  </a:txBody>
                  <a:tcPr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extLst>
                  <a:ext uri="{0D108BD9-81ED-4DB2-BD59-A6C34878D82A}">
                    <a16:rowId xmlns:a16="http://schemas.microsoft.com/office/drawing/2014/main" val="10005"/>
                  </a:ext>
                </a:extLst>
              </a:tr>
              <a:tr h="548640">
                <a:tc>
                  <a:txBody>
                    <a:bodyPr/>
                    <a:lstStyle/>
                    <a:p>
                      <a:pPr marL="0" indent="0">
                        <a:buNone/>
                      </a:pPr>
                      <a:r>
                        <a:rPr lang="en-US" sz="1200" b="1" dirty="0">
                          <a:solidFill>
                            <a:srgbClr val="111111"/>
                          </a:solidFill>
                          <a:latin typeface="Calibri" pitchFamily="34" charset="0"/>
                          <a:ea typeface="Calibri" pitchFamily="34" charset="-122"/>
                          <a:cs typeface="Calibri" pitchFamily="34" charset="-120"/>
                        </a:rPr>
                        <a:t>Aprendizaje de NoSQL y Spark</a:t>
                      </a:r>
                      <a:endParaRPr lang="en-US" sz="1200" dirty="0">
                        <a:latin typeface="Calibri" charset="0"/>
                        <a:ea typeface="Calibri" charset="0"/>
                        <a:cs typeface="Calibri" charset="0"/>
                      </a:endParaRPr>
                    </a:p>
                  </a:txBody>
                  <a:tcPr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1200" b="1" dirty="0">
                          <a:solidFill>
                            <a:srgbClr val="8C8C8C"/>
                          </a:solidFill>
                          <a:latin typeface="Calibri" pitchFamily="34" charset="0"/>
                          <a:ea typeface="Calibri" pitchFamily="34" charset="-122"/>
                          <a:cs typeface="Calibri" pitchFamily="34" charset="-120"/>
                        </a:rPr>
                        <a:t>Medio</a:t>
                      </a:r>
                      <a:endParaRPr lang="en-US" sz="1200" dirty="0">
                        <a:latin typeface="Calibri" charset="0"/>
                        <a:ea typeface="Calibri" charset="0"/>
                        <a:cs typeface="Calibri" charset="0"/>
                      </a:endParaRPr>
                    </a:p>
                  </a:txBody>
                  <a:tcPr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1200" dirty="0">
                          <a:solidFill>
                            <a:srgbClr val="111111"/>
                          </a:solidFill>
                          <a:latin typeface="Calibri" pitchFamily="34" charset="0"/>
                          <a:ea typeface="Calibri" pitchFamily="34" charset="-122"/>
                          <a:cs typeface="Calibri" pitchFamily="34" charset="-120"/>
                        </a:rPr>
                        <a:t>Dos responsables por tecnología y cuaderno guiado</a:t>
                      </a:r>
                      <a:endParaRPr lang="en-US" sz="1200" dirty="0">
                        <a:latin typeface="Calibri" charset="0"/>
                        <a:ea typeface="Calibri" charset="0"/>
                        <a:cs typeface="Calibri" charset="0"/>
                      </a:endParaRPr>
                    </a:p>
                  </a:txBody>
                  <a:tcPr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1200" b="1" dirty="0">
                          <a:solidFill>
                            <a:srgbClr val="1B998B"/>
                          </a:solidFill>
                          <a:latin typeface="Calibri" pitchFamily="34" charset="0"/>
                          <a:ea typeface="Calibri" pitchFamily="34" charset="-122"/>
                          <a:cs typeface="Calibri" pitchFamily="34" charset="-120"/>
                        </a:rPr>
                        <a:t>CRUD y 5 análisis ejecutados</a:t>
                      </a:r>
                      <a:endParaRPr lang="en-US" sz="1200" dirty="0">
                        <a:latin typeface="Calibri" charset="0"/>
                        <a:ea typeface="Calibri" charset="0"/>
                        <a:cs typeface="Calibri" charset="0"/>
                      </a:endParaRPr>
                    </a:p>
                  </a:txBody>
                  <a:tcPr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extLst>
                  <a:ext uri="{0D108BD9-81ED-4DB2-BD59-A6C34878D82A}">
                    <a16:rowId xmlns:a16="http://schemas.microsoft.com/office/drawing/2014/main" val="10006"/>
                  </a:ext>
                </a:extLst>
              </a:tr>
              <a:tr h="548640">
                <a:tc>
                  <a:txBody>
                    <a:bodyPr/>
                    <a:lstStyle/>
                    <a:p>
                      <a:pPr marL="0" indent="0">
                        <a:buNone/>
                      </a:pPr>
                      <a:r>
                        <a:rPr lang="en-US" sz="1200" b="1" dirty="0">
                          <a:solidFill>
                            <a:srgbClr val="111111"/>
                          </a:solidFill>
                          <a:latin typeface="Calibri" pitchFamily="34" charset="0"/>
                          <a:ea typeface="Calibri" pitchFamily="34" charset="-122"/>
                          <a:cs typeface="Calibri" pitchFamily="34" charset="-120"/>
                        </a:rPr>
                        <a:t>Memoria y CPU del equipo local</a:t>
                      </a:r>
                      <a:endParaRPr lang="en-US" sz="1200" dirty="0">
                        <a:latin typeface="Calibri" charset="0"/>
                        <a:ea typeface="Calibri" charset="0"/>
                        <a:cs typeface="Calibri" charset="0"/>
                      </a:endParaRPr>
                    </a:p>
                  </a:txBody>
                  <a:tcPr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1200" b="1" dirty="0">
                          <a:solidFill>
                            <a:srgbClr val="8C8C8C"/>
                          </a:solidFill>
                          <a:latin typeface="Calibri" pitchFamily="34" charset="0"/>
                          <a:ea typeface="Calibri" pitchFamily="34" charset="-122"/>
                          <a:cs typeface="Calibri" pitchFamily="34" charset="-120"/>
                        </a:rPr>
                        <a:t>Medio</a:t>
                      </a:r>
                      <a:endParaRPr lang="en-US" sz="1200" dirty="0">
                        <a:latin typeface="Calibri" charset="0"/>
                        <a:ea typeface="Calibri" charset="0"/>
                        <a:cs typeface="Calibri" charset="0"/>
                      </a:endParaRPr>
                    </a:p>
                  </a:txBody>
                  <a:tcPr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1200" dirty="0">
                          <a:solidFill>
                            <a:srgbClr val="111111"/>
                          </a:solidFill>
                          <a:latin typeface="Calibri" pitchFamily="34" charset="0"/>
                          <a:ea typeface="Calibri" pitchFamily="34" charset="-122"/>
                          <a:cs typeface="Calibri" pitchFamily="34" charset="-120"/>
                        </a:rPr>
                        <a:t>Particiones y memoria ajustadas; Colab como alternativa</a:t>
                      </a:r>
                      <a:endParaRPr lang="en-US" sz="1200" dirty="0">
                        <a:latin typeface="Calibri" charset="0"/>
                        <a:ea typeface="Calibri" charset="0"/>
                        <a:cs typeface="Calibri" charset="0"/>
                      </a:endParaRPr>
                    </a:p>
                  </a:txBody>
                  <a:tcPr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1200" b="1" dirty="0">
                          <a:solidFill>
                            <a:srgbClr val="1B998B"/>
                          </a:solidFill>
                          <a:latin typeface="Calibri" pitchFamily="34" charset="0"/>
                          <a:ea typeface="Calibri" pitchFamily="34" charset="-122"/>
                          <a:cs typeface="Calibri" pitchFamily="34" charset="-120"/>
                        </a:rPr>
                        <a:t>2 043 350 filas procesadas</a:t>
                      </a:r>
                      <a:endParaRPr lang="en-US" sz="1200" dirty="0">
                        <a:latin typeface="Calibri" charset="0"/>
                        <a:ea typeface="Calibri" charset="0"/>
                        <a:cs typeface="Calibri" charset="0"/>
                      </a:endParaRPr>
                    </a:p>
                  </a:txBody>
                  <a:tcPr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extLst>
                  <a:ext uri="{0D108BD9-81ED-4DB2-BD59-A6C34878D82A}">
                    <a16:rowId xmlns:a16="http://schemas.microsoft.com/office/drawing/2014/main" val="10007"/>
                  </a:ext>
                </a:extLst>
              </a:tr>
            </a:tbl>
          </a:graphicData>
        </a:graphic>
      </p:graphicFrame>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1005840"/>
            <a:ext cx="1124712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Objetivo de toma de decisiones</a:t>
            </a:r>
            <a:endParaRPr lang="en-US" sz="3200" dirty="0"/>
          </a:p>
        </p:txBody>
      </p:sp>
      <p:sp>
        <p:nvSpPr>
          <p:cNvPr id="3" name="Text 1"/>
          <p:cNvSpPr txBox="1"/>
          <p:nvPr/>
        </p:nvSpPr>
        <p:spPr>
          <a:xfrm>
            <a:off x="5760720" y="457200"/>
            <a:ext cx="5943600" cy="274320"/>
          </a:xfrm>
          <a:prstGeom prst="rect">
            <a:avLst/>
          </a:prstGeom>
          <a:noFill/>
          <a:ln/>
        </p:spPr>
        <p:txBody>
          <a:bodyPr wrap="square" lIns="0" tIns="0" rIns="0" bIns="0" rtlCol="0" anchor="t"/>
          <a:lstStyle/>
          <a:p>
            <a:pPr marL="0" indent="0" algn="r">
              <a:buNone/>
            </a:pPr>
            <a:r>
              <a:rPr lang="en-US" sz="1200" b="1" kern="0" spc="200" dirty="0">
                <a:solidFill>
                  <a:schemeClr val="accent1"/>
                </a:solidFill>
                <a:latin typeface="Calibri" pitchFamily="34" charset="0"/>
                <a:ea typeface="Calibri" pitchFamily="34" charset="-122"/>
                <a:cs typeface="Calibri" pitchFamily="34" charset="-120"/>
              </a:rPr>
              <a:t>PARTE 2 · DECIDIR CON DATOS</a:t>
            </a:r>
            <a:endParaRPr lang="en-US" sz="1200" dirty="0"/>
          </a:p>
        </p:txBody>
      </p:sp>
      <p:sp>
        <p:nvSpPr>
          <p:cNvPr id="5" name="Objetivo de decisión"/>
          <p:cNvSpPr/>
          <p:nvPr/>
        </p:nvSpPr>
        <p:spPr>
          <a:xfrm>
            <a:off x="457200" y="2011680"/>
            <a:ext cx="11247120" cy="1280160"/>
          </a:xfrm>
          <a:prstGeom prst="roundRect">
            <a:avLst>
              <a:gd name="adj" fmla="val 8571"/>
            </a:avLst>
          </a:prstGeom>
          <a:solidFill>
            <a:schemeClr val="tx1"/>
          </a:solidFill>
          <a:ln w="12700">
            <a:solidFill>
              <a:schemeClr val="tx1"/>
            </a:solidFill>
            <a:prstDash val="solid"/>
          </a:ln>
        </p:spPr>
      </p:sp>
      <p:sp>
        <p:nvSpPr>
          <p:cNvPr id="6" name="Text 3"/>
          <p:cNvSpPr txBox="1"/>
          <p:nvPr/>
        </p:nvSpPr>
        <p:spPr>
          <a:xfrm>
            <a:off x="822960" y="2011680"/>
            <a:ext cx="10515600" cy="1280160"/>
          </a:xfrm>
          <a:prstGeom prst="rect">
            <a:avLst/>
          </a:prstGeom>
          <a:noFill/>
          <a:ln/>
        </p:spPr>
        <p:txBody>
          <a:bodyPr wrap="square" lIns="0" tIns="0" rIns="0" bIns="0" rtlCol="0" anchor="ctr"/>
          <a:lstStyle/>
          <a:p>
            <a:pPr marL="0" indent="0">
              <a:buNone/>
            </a:pPr>
            <a:r>
              <a:rPr lang="en-US" sz="2500" b="1" dirty="0">
                <a:solidFill>
                  <a:schemeClr val="bg1"/>
                </a:solidFill>
                <a:latin typeface="Cambria" pitchFamily="34" charset="0"/>
                <a:ea typeface="Cambria" pitchFamily="34" charset="-122"/>
                <a:cs typeface="Cambria" pitchFamily="34" charset="-120"/>
              </a:rPr>
              <a:t>Incrementar las ventas y el margen de “La </a:t>
            </a:r>
            <a:r>
              <a:rPr lang="en-US" sz="2500" b="1" dirty="0" err="1">
                <a:solidFill>
                  <a:schemeClr val="bg1"/>
                </a:solidFill>
                <a:latin typeface="Cambria" pitchFamily="34" charset="0"/>
                <a:ea typeface="Cambria" pitchFamily="34" charset="-122"/>
                <a:cs typeface="Cambria" pitchFamily="34" charset="-120"/>
              </a:rPr>
              <a:t>Esquina</a:t>
            </a:r>
            <a:r>
              <a:rPr lang="en-US" sz="2500" b="1" dirty="0">
                <a:solidFill>
                  <a:schemeClr val="bg1"/>
                </a:solidFill>
                <a:latin typeface="Cambria" pitchFamily="34" charset="0"/>
                <a:ea typeface="Cambria" pitchFamily="34" charset="-122"/>
                <a:cs typeface="Cambria" pitchFamily="34" charset="-120"/>
              </a:rPr>
              <a:t>” priorizando los platos, turnos y canales que más rinden</a:t>
            </a:r>
            <a:endParaRPr lang="en-US" sz="2500" dirty="0"/>
          </a:p>
        </p:txBody>
      </p:sp>
      <p:sp>
        <p:nvSpPr>
          <p:cNvPr id="7" name="Tarjeta P1 · ¿Qué vender?"/>
          <p:cNvSpPr/>
          <p:nvPr/>
        </p:nvSpPr>
        <p:spPr>
          <a:xfrm>
            <a:off x="457200" y="3566160"/>
            <a:ext cx="3657600" cy="2560320"/>
          </a:xfrm>
          <a:prstGeom prst="roundRect">
            <a:avLst>
              <a:gd name="adj" fmla="val 4286"/>
            </a:avLst>
          </a:prstGeom>
          <a:solidFill>
            <a:schemeClr val="bg2"/>
          </a:solidFill>
          <a:ln w="12700">
            <a:solidFill>
              <a:schemeClr val="bg2"/>
            </a:solidFill>
            <a:prstDash val="solid"/>
          </a:ln>
        </p:spPr>
      </p:sp>
      <p:sp>
        <p:nvSpPr>
          <p:cNvPr id="8" name="Icono P1 · ¿Qué vender? fondo"/>
          <p:cNvSpPr/>
          <p:nvPr/>
        </p:nvSpPr>
        <p:spPr>
          <a:xfrm>
            <a:off x="731520" y="3794760"/>
            <a:ext cx="685800" cy="685800"/>
          </a:xfrm>
          <a:prstGeom prst="ellipse">
            <a:avLst/>
          </a:prstGeom>
          <a:solidFill>
            <a:srgbClr val="D7263D"/>
          </a:solidFill>
          <a:ln w="12700">
            <a:solidFill>
              <a:srgbClr val="D7263D"/>
            </a:solidFill>
            <a:prstDash val="solid"/>
          </a:ln>
        </p:spPr>
      </p:sp>
      <p:pic>
        <p:nvPicPr>
          <p:cNvPr id="9" name="Image 0" descr="Icono P1 · ¿Qué vender?"/>
          <p:cNvPicPr>
            <a:picLocks noChangeAspect="1"/>
          </p:cNvPicPr>
          <p:nvPr/>
        </p:nvPicPr>
        <p:blipFill>
          <a:blip r:embed="rId3"/>
          <a:stretch>
            <a:fillRect/>
          </a:stretch>
        </p:blipFill>
        <p:spPr>
          <a:xfrm>
            <a:off x="909828" y="3973068"/>
            <a:ext cx="329184" cy="329184"/>
          </a:xfrm>
          <a:prstGeom prst="rect">
            <a:avLst/>
          </a:prstGeom>
        </p:spPr>
      </p:pic>
      <p:sp>
        <p:nvSpPr>
          <p:cNvPr id="10" name="Text 6"/>
          <p:cNvSpPr txBox="1"/>
          <p:nvPr/>
        </p:nvSpPr>
        <p:spPr>
          <a:xfrm>
            <a:off x="731520" y="4617720"/>
            <a:ext cx="3200400" cy="411480"/>
          </a:xfrm>
          <a:prstGeom prst="rect">
            <a:avLst/>
          </a:prstGeom>
          <a:noFill/>
          <a:ln/>
        </p:spPr>
        <p:txBody>
          <a:bodyPr wrap="square" lIns="0" tIns="0" rIns="0" bIns="0" rtlCol="0" anchor="t"/>
          <a:lstStyle/>
          <a:p>
            <a:pPr marL="0" indent="0">
              <a:buNone/>
            </a:pPr>
            <a:r>
              <a:rPr lang="en-US" sz="2100" b="1" dirty="0">
                <a:solidFill>
                  <a:schemeClr val="tx1"/>
                </a:solidFill>
                <a:latin typeface="Calibri" pitchFamily="34" charset="0"/>
                <a:ea typeface="Calibri" pitchFamily="34" charset="-122"/>
                <a:cs typeface="Calibri" pitchFamily="34" charset="-120"/>
              </a:rPr>
              <a:t>P1 · ¿Qué vender?</a:t>
            </a:r>
            <a:endParaRPr lang="en-US" sz="2100" dirty="0"/>
          </a:p>
        </p:txBody>
      </p:sp>
      <p:sp>
        <p:nvSpPr>
          <p:cNvPr id="11" name="Text 7"/>
          <p:cNvSpPr txBox="1"/>
          <p:nvPr/>
        </p:nvSpPr>
        <p:spPr>
          <a:xfrm>
            <a:off x="731520" y="5074920"/>
            <a:ext cx="3108960" cy="914400"/>
          </a:xfrm>
          <a:prstGeom prst="rect">
            <a:avLst/>
          </a:prstGeom>
          <a:noFill/>
          <a:ln/>
        </p:spPr>
        <p:txBody>
          <a:bodyPr wrap="square" lIns="0" tIns="0" rIns="0" bIns="0" rtlCol="0" anchor="t"/>
          <a:lstStyle/>
          <a:p>
            <a:pPr marL="0" indent="0">
              <a:buNone/>
            </a:pPr>
            <a:r>
              <a:rPr lang="en-US" sz="1500" dirty="0">
                <a:solidFill>
                  <a:schemeClr val="tx2"/>
                </a:solidFill>
                <a:latin typeface="Calibri" pitchFamily="34" charset="0"/>
                <a:ea typeface="Calibri" pitchFamily="34" charset="-122"/>
                <a:cs typeface="Calibri" pitchFamily="34" charset="-120"/>
              </a:rPr>
              <a:t>Qué platos y categorías generan más ventas y margen</a:t>
            </a:r>
            <a:endParaRPr lang="en-US" sz="1500" dirty="0"/>
          </a:p>
        </p:txBody>
      </p:sp>
      <p:sp>
        <p:nvSpPr>
          <p:cNvPr id="12" name="Tarjeta P2 · ¿Cuándo reforzar?"/>
          <p:cNvSpPr/>
          <p:nvPr/>
        </p:nvSpPr>
        <p:spPr>
          <a:xfrm>
            <a:off x="4251960" y="3566160"/>
            <a:ext cx="3657600" cy="2560320"/>
          </a:xfrm>
          <a:prstGeom prst="roundRect">
            <a:avLst>
              <a:gd name="adj" fmla="val 4286"/>
            </a:avLst>
          </a:prstGeom>
          <a:solidFill>
            <a:schemeClr val="bg2"/>
          </a:solidFill>
          <a:ln w="12700">
            <a:solidFill>
              <a:schemeClr val="bg2"/>
            </a:solidFill>
            <a:prstDash val="solid"/>
          </a:ln>
        </p:spPr>
      </p:sp>
      <p:sp>
        <p:nvSpPr>
          <p:cNvPr id="13" name="Icono P2 · ¿Cuándo reforzar? fondo"/>
          <p:cNvSpPr/>
          <p:nvPr/>
        </p:nvSpPr>
        <p:spPr>
          <a:xfrm>
            <a:off x="4526280" y="3794760"/>
            <a:ext cx="685800" cy="685800"/>
          </a:xfrm>
          <a:prstGeom prst="ellipse">
            <a:avLst/>
          </a:prstGeom>
          <a:solidFill>
            <a:srgbClr val="D7263D"/>
          </a:solidFill>
          <a:ln w="12700">
            <a:solidFill>
              <a:srgbClr val="D7263D"/>
            </a:solidFill>
            <a:prstDash val="solid"/>
          </a:ln>
        </p:spPr>
      </p:sp>
      <p:pic>
        <p:nvPicPr>
          <p:cNvPr id="14" name="Image 1" descr="Icono P2 · ¿Cuándo reforzar?"/>
          <p:cNvPicPr>
            <a:picLocks noChangeAspect="1"/>
          </p:cNvPicPr>
          <p:nvPr/>
        </p:nvPicPr>
        <p:blipFill>
          <a:blip r:embed="rId4"/>
          <a:stretch>
            <a:fillRect/>
          </a:stretch>
        </p:blipFill>
        <p:spPr>
          <a:xfrm>
            <a:off x="4704588" y="3973068"/>
            <a:ext cx="329184" cy="329184"/>
          </a:xfrm>
          <a:prstGeom prst="rect">
            <a:avLst/>
          </a:prstGeom>
        </p:spPr>
      </p:pic>
      <p:sp>
        <p:nvSpPr>
          <p:cNvPr id="15" name="Text 10"/>
          <p:cNvSpPr txBox="1"/>
          <p:nvPr/>
        </p:nvSpPr>
        <p:spPr>
          <a:xfrm>
            <a:off x="4526280" y="4617720"/>
            <a:ext cx="3200400" cy="411480"/>
          </a:xfrm>
          <a:prstGeom prst="rect">
            <a:avLst/>
          </a:prstGeom>
          <a:noFill/>
          <a:ln/>
        </p:spPr>
        <p:txBody>
          <a:bodyPr wrap="square" lIns="0" tIns="0" rIns="0" bIns="0" rtlCol="0" anchor="t"/>
          <a:lstStyle/>
          <a:p>
            <a:pPr marL="0" indent="0">
              <a:buNone/>
            </a:pPr>
            <a:r>
              <a:rPr lang="en-US" sz="2100" b="1" dirty="0">
                <a:solidFill>
                  <a:schemeClr val="tx1"/>
                </a:solidFill>
                <a:latin typeface="Calibri" pitchFamily="34" charset="0"/>
                <a:ea typeface="Calibri" pitchFamily="34" charset="-122"/>
                <a:cs typeface="Calibri" pitchFamily="34" charset="-120"/>
              </a:rPr>
              <a:t>P2 · ¿Cuándo reforzar?</a:t>
            </a:r>
            <a:endParaRPr lang="en-US" sz="2100" dirty="0"/>
          </a:p>
        </p:txBody>
      </p:sp>
      <p:sp>
        <p:nvSpPr>
          <p:cNvPr id="16" name="Text 11"/>
          <p:cNvSpPr txBox="1"/>
          <p:nvPr/>
        </p:nvSpPr>
        <p:spPr>
          <a:xfrm>
            <a:off x="4526280" y="5074920"/>
            <a:ext cx="3108960" cy="914400"/>
          </a:xfrm>
          <a:prstGeom prst="rect">
            <a:avLst/>
          </a:prstGeom>
          <a:noFill/>
          <a:ln/>
        </p:spPr>
        <p:txBody>
          <a:bodyPr wrap="square" lIns="0" tIns="0" rIns="0" bIns="0" rtlCol="0" anchor="t"/>
          <a:lstStyle/>
          <a:p>
            <a:pPr marL="0" indent="0">
              <a:buNone/>
            </a:pPr>
            <a:r>
              <a:rPr lang="en-US" sz="1500" dirty="0">
                <a:solidFill>
                  <a:schemeClr val="tx2"/>
                </a:solidFill>
                <a:latin typeface="Calibri" pitchFamily="34" charset="0"/>
                <a:ea typeface="Calibri" pitchFamily="34" charset="-122"/>
                <a:cs typeface="Calibri" pitchFamily="34" charset="-120"/>
              </a:rPr>
              <a:t>En qué días y turnos se concentra la demanda</a:t>
            </a:r>
            <a:endParaRPr lang="en-US" sz="1500" dirty="0"/>
          </a:p>
        </p:txBody>
      </p:sp>
      <p:sp>
        <p:nvSpPr>
          <p:cNvPr id="17" name="Tarjeta P3 · ¿Por qué canal?"/>
          <p:cNvSpPr/>
          <p:nvPr/>
        </p:nvSpPr>
        <p:spPr>
          <a:xfrm>
            <a:off x="8046720" y="3566160"/>
            <a:ext cx="3657600" cy="2560320"/>
          </a:xfrm>
          <a:prstGeom prst="roundRect">
            <a:avLst>
              <a:gd name="adj" fmla="val 4286"/>
            </a:avLst>
          </a:prstGeom>
          <a:solidFill>
            <a:schemeClr val="bg2"/>
          </a:solidFill>
          <a:ln w="12700">
            <a:solidFill>
              <a:schemeClr val="bg2"/>
            </a:solidFill>
            <a:prstDash val="solid"/>
          </a:ln>
        </p:spPr>
      </p:sp>
      <p:sp>
        <p:nvSpPr>
          <p:cNvPr id="18" name="Icono P3 · ¿Por qué canal? fondo"/>
          <p:cNvSpPr/>
          <p:nvPr/>
        </p:nvSpPr>
        <p:spPr>
          <a:xfrm>
            <a:off x="8321040" y="3794760"/>
            <a:ext cx="685800" cy="685800"/>
          </a:xfrm>
          <a:prstGeom prst="ellipse">
            <a:avLst/>
          </a:prstGeom>
          <a:solidFill>
            <a:srgbClr val="D7263D"/>
          </a:solidFill>
          <a:ln w="12700">
            <a:solidFill>
              <a:srgbClr val="D7263D"/>
            </a:solidFill>
            <a:prstDash val="solid"/>
          </a:ln>
        </p:spPr>
      </p:sp>
      <p:pic>
        <p:nvPicPr>
          <p:cNvPr id="19" name="Image 2" descr="Icono P3 · ¿Por qué canal?"/>
          <p:cNvPicPr>
            <a:picLocks noChangeAspect="1"/>
          </p:cNvPicPr>
          <p:nvPr/>
        </p:nvPicPr>
        <p:blipFill>
          <a:blip r:embed="rId5"/>
          <a:stretch>
            <a:fillRect/>
          </a:stretch>
        </p:blipFill>
        <p:spPr>
          <a:xfrm>
            <a:off x="8499348" y="3973068"/>
            <a:ext cx="329184" cy="329184"/>
          </a:xfrm>
          <a:prstGeom prst="rect">
            <a:avLst/>
          </a:prstGeom>
        </p:spPr>
      </p:pic>
      <p:sp>
        <p:nvSpPr>
          <p:cNvPr id="20" name="Text 14"/>
          <p:cNvSpPr txBox="1"/>
          <p:nvPr/>
        </p:nvSpPr>
        <p:spPr>
          <a:xfrm>
            <a:off x="8321040" y="4617720"/>
            <a:ext cx="3200400" cy="411480"/>
          </a:xfrm>
          <a:prstGeom prst="rect">
            <a:avLst/>
          </a:prstGeom>
          <a:noFill/>
          <a:ln/>
        </p:spPr>
        <p:txBody>
          <a:bodyPr wrap="square" lIns="0" tIns="0" rIns="0" bIns="0" rtlCol="0" anchor="t"/>
          <a:lstStyle/>
          <a:p>
            <a:pPr marL="0" indent="0">
              <a:buNone/>
            </a:pPr>
            <a:r>
              <a:rPr lang="en-US" sz="2100" b="1" dirty="0">
                <a:solidFill>
                  <a:schemeClr val="tx1"/>
                </a:solidFill>
                <a:latin typeface="Calibri" pitchFamily="34" charset="0"/>
                <a:ea typeface="Calibri" pitchFamily="34" charset="-122"/>
                <a:cs typeface="Calibri" pitchFamily="34" charset="-120"/>
              </a:rPr>
              <a:t>P3 · ¿Por qué canal?</a:t>
            </a:r>
            <a:endParaRPr lang="en-US" sz="2100" dirty="0"/>
          </a:p>
        </p:txBody>
      </p:sp>
      <p:sp>
        <p:nvSpPr>
          <p:cNvPr id="21" name="Text 15"/>
          <p:cNvSpPr txBox="1"/>
          <p:nvPr/>
        </p:nvSpPr>
        <p:spPr>
          <a:xfrm>
            <a:off x="8321040" y="5074920"/>
            <a:ext cx="3108960" cy="914400"/>
          </a:xfrm>
          <a:prstGeom prst="rect">
            <a:avLst/>
          </a:prstGeom>
          <a:noFill/>
          <a:ln/>
        </p:spPr>
        <p:txBody>
          <a:bodyPr wrap="square" lIns="0" tIns="0" rIns="0" bIns="0" rtlCol="0" anchor="t"/>
          <a:lstStyle/>
          <a:p>
            <a:pPr marL="0" indent="0">
              <a:buNone/>
            </a:pPr>
            <a:r>
              <a:rPr lang="en-US" sz="1500" dirty="0">
                <a:solidFill>
                  <a:schemeClr val="tx2"/>
                </a:solidFill>
                <a:latin typeface="Calibri" pitchFamily="34" charset="0"/>
                <a:ea typeface="Calibri" pitchFamily="34" charset="-122"/>
                <a:cs typeface="Calibri" pitchFamily="34" charset="-120"/>
              </a:rPr>
              <a:t>Cuánto cuesta vender por las apps y si conviene ese canal</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1005840"/>
            <a:ext cx="1124712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Data Warehouse en estrella</a:t>
            </a:r>
            <a:endParaRPr lang="en-US" sz="3200" dirty="0"/>
          </a:p>
        </p:txBody>
      </p:sp>
      <p:sp>
        <p:nvSpPr>
          <p:cNvPr id="3" name="Text 1"/>
          <p:cNvSpPr txBox="1"/>
          <p:nvPr/>
        </p:nvSpPr>
        <p:spPr>
          <a:xfrm>
            <a:off x="5760720" y="457200"/>
            <a:ext cx="5943600" cy="274320"/>
          </a:xfrm>
          <a:prstGeom prst="rect">
            <a:avLst/>
          </a:prstGeom>
          <a:noFill/>
          <a:ln/>
        </p:spPr>
        <p:txBody>
          <a:bodyPr wrap="square" lIns="0" tIns="0" rIns="0" bIns="0" rtlCol="0" anchor="t"/>
          <a:lstStyle/>
          <a:p>
            <a:pPr marL="0" indent="0" algn="r">
              <a:buNone/>
            </a:pPr>
            <a:r>
              <a:rPr lang="en-US" sz="1200" b="1" kern="0" spc="200" dirty="0">
                <a:solidFill>
                  <a:schemeClr val="accent1"/>
                </a:solidFill>
                <a:latin typeface="Calibri" pitchFamily="34" charset="0"/>
                <a:ea typeface="Calibri" pitchFamily="34" charset="-122"/>
                <a:cs typeface="Calibri" pitchFamily="34" charset="-120"/>
              </a:rPr>
              <a:t>PARTE 2 · DECIDIR CON DATOS</a:t>
            </a:r>
            <a:endParaRPr lang="en-US" sz="1200" dirty="0"/>
          </a:p>
        </p:txBody>
      </p:sp>
      <p:pic>
        <p:nvPicPr>
          <p:cNvPr id="5" name="Image 0" descr="Modelo dimensional en estrella con Fact_Ventas y sus dimensiones"/>
          <p:cNvPicPr>
            <a:picLocks noChangeAspect="1"/>
          </p:cNvPicPr>
          <p:nvPr/>
        </p:nvPicPr>
        <p:blipFill>
          <a:blip r:embed="rId3"/>
          <a:stretch>
            <a:fillRect/>
          </a:stretch>
        </p:blipFill>
        <p:spPr>
          <a:xfrm>
            <a:off x="457200" y="1965960"/>
            <a:ext cx="5486400" cy="3913632"/>
          </a:xfrm>
          <a:prstGeom prst="rect">
            <a:avLst/>
          </a:prstGeom>
        </p:spPr>
      </p:pic>
      <p:sp>
        <p:nvSpPr>
          <p:cNvPr id="6" name="Text 2"/>
          <p:cNvSpPr txBox="1"/>
          <p:nvPr/>
        </p:nvSpPr>
        <p:spPr>
          <a:xfrm>
            <a:off x="457200" y="5943600"/>
            <a:ext cx="5486400" cy="320040"/>
          </a:xfrm>
          <a:prstGeom prst="rect">
            <a:avLst/>
          </a:prstGeom>
          <a:noFill/>
          <a:ln/>
        </p:spPr>
        <p:txBody>
          <a:bodyPr wrap="square" lIns="0" tIns="0" rIns="0" bIns="0" rtlCol="0" anchor="t"/>
          <a:lstStyle/>
          <a:p>
            <a:pPr marL="0" indent="0">
              <a:buNone/>
            </a:pPr>
            <a:r>
              <a:rPr lang="en-US" sz="1300" dirty="0" err="1">
                <a:solidFill>
                  <a:schemeClr val="tx2"/>
                </a:solidFill>
                <a:latin typeface="Calibri" pitchFamily="34" charset="0"/>
                <a:ea typeface="Calibri" pitchFamily="34" charset="-122"/>
                <a:cs typeface="Calibri" pitchFamily="34" charset="-120"/>
              </a:rPr>
              <a:t>Metodología</a:t>
            </a:r>
            <a:r>
              <a:rPr lang="en-US" sz="1300" dirty="0">
                <a:solidFill>
                  <a:schemeClr val="tx2"/>
                </a:solidFill>
                <a:latin typeface="Calibri" pitchFamily="34" charset="0"/>
                <a:ea typeface="Calibri" pitchFamily="34" charset="-122"/>
                <a:cs typeface="Calibri" pitchFamily="34" charset="-120"/>
              </a:rPr>
              <a:t> Kimball</a:t>
            </a:r>
            <a:endParaRPr lang="en-US" sz="1300" dirty="0"/>
          </a:p>
        </p:txBody>
      </p:sp>
      <p:sp>
        <p:nvSpPr>
          <p:cNvPr id="7" name="Dato 40 867"/>
          <p:cNvSpPr/>
          <p:nvPr/>
        </p:nvSpPr>
        <p:spPr>
          <a:xfrm>
            <a:off x="6309360" y="1965960"/>
            <a:ext cx="2606040" cy="1234440"/>
          </a:xfrm>
          <a:prstGeom prst="roundRect">
            <a:avLst>
              <a:gd name="adj" fmla="val 8889"/>
            </a:avLst>
          </a:prstGeom>
          <a:solidFill>
            <a:schemeClr val="bg2"/>
          </a:solidFill>
          <a:ln w="12700">
            <a:solidFill>
              <a:schemeClr val="bg2"/>
            </a:solidFill>
            <a:prstDash val="solid"/>
          </a:ln>
        </p:spPr>
      </p:sp>
      <p:sp>
        <p:nvSpPr>
          <p:cNvPr id="8" name="Text 4"/>
          <p:cNvSpPr txBox="1"/>
          <p:nvPr/>
        </p:nvSpPr>
        <p:spPr>
          <a:xfrm>
            <a:off x="6537960" y="2075688"/>
            <a:ext cx="2148840" cy="548640"/>
          </a:xfrm>
          <a:prstGeom prst="rect">
            <a:avLst/>
          </a:prstGeom>
          <a:noFill/>
          <a:ln/>
        </p:spPr>
        <p:txBody>
          <a:bodyPr wrap="square" lIns="0" tIns="0" rIns="0" bIns="0" rtlCol="0" anchor="ctr"/>
          <a:lstStyle/>
          <a:p>
            <a:pPr marL="0" indent="0">
              <a:buNone/>
            </a:pPr>
            <a:r>
              <a:rPr lang="en-US" sz="3000" b="1" dirty="0">
                <a:solidFill>
                  <a:schemeClr val="accent1"/>
                </a:solidFill>
                <a:latin typeface="Cambria" pitchFamily="34" charset="0"/>
                <a:ea typeface="Cambria" pitchFamily="34" charset="-122"/>
                <a:cs typeface="Cambria" pitchFamily="34" charset="-120"/>
              </a:rPr>
              <a:t>40 867</a:t>
            </a:r>
            <a:endParaRPr lang="en-US" sz="3000" dirty="0"/>
          </a:p>
        </p:txBody>
      </p:sp>
      <p:sp>
        <p:nvSpPr>
          <p:cNvPr id="9" name="Text 5"/>
          <p:cNvSpPr txBox="1"/>
          <p:nvPr/>
        </p:nvSpPr>
        <p:spPr>
          <a:xfrm>
            <a:off x="6537960" y="2624328"/>
            <a:ext cx="2148840" cy="502920"/>
          </a:xfrm>
          <a:prstGeom prst="rect">
            <a:avLst/>
          </a:prstGeom>
          <a:noFill/>
          <a:ln/>
        </p:spPr>
        <p:txBody>
          <a:bodyPr wrap="square" lIns="0" tIns="0" rIns="0" bIns="0" rtlCol="0" anchor="t"/>
          <a:lstStyle/>
          <a:p>
            <a:pPr marL="0" indent="0">
              <a:buNone/>
            </a:pPr>
            <a:r>
              <a:rPr lang="en-US" sz="1300" dirty="0">
                <a:solidFill>
                  <a:schemeClr val="tx2"/>
                </a:solidFill>
                <a:latin typeface="Calibri" pitchFamily="34" charset="0"/>
                <a:ea typeface="Calibri" pitchFamily="34" charset="-122"/>
                <a:cs typeface="Calibri" pitchFamily="34" charset="-120"/>
              </a:rPr>
              <a:t>hechos cargados</a:t>
            </a:r>
            <a:endParaRPr lang="en-US" sz="1300" dirty="0"/>
          </a:p>
        </p:txBody>
      </p:sp>
      <p:sp>
        <p:nvSpPr>
          <p:cNvPr id="10" name="Dato 7"/>
          <p:cNvSpPr/>
          <p:nvPr/>
        </p:nvSpPr>
        <p:spPr>
          <a:xfrm>
            <a:off x="9052560" y="1965960"/>
            <a:ext cx="2606040" cy="1234440"/>
          </a:xfrm>
          <a:prstGeom prst="roundRect">
            <a:avLst>
              <a:gd name="adj" fmla="val 8889"/>
            </a:avLst>
          </a:prstGeom>
          <a:solidFill>
            <a:schemeClr val="bg2"/>
          </a:solidFill>
          <a:ln w="12700">
            <a:solidFill>
              <a:schemeClr val="bg2"/>
            </a:solidFill>
            <a:prstDash val="solid"/>
          </a:ln>
        </p:spPr>
      </p:sp>
      <p:sp>
        <p:nvSpPr>
          <p:cNvPr id="11" name="Text 7"/>
          <p:cNvSpPr txBox="1"/>
          <p:nvPr/>
        </p:nvSpPr>
        <p:spPr>
          <a:xfrm>
            <a:off x="9281160" y="2075688"/>
            <a:ext cx="2148840" cy="548640"/>
          </a:xfrm>
          <a:prstGeom prst="rect">
            <a:avLst/>
          </a:prstGeom>
          <a:noFill/>
          <a:ln/>
        </p:spPr>
        <p:txBody>
          <a:bodyPr wrap="square" lIns="0" tIns="0" rIns="0" bIns="0" rtlCol="0" anchor="ctr"/>
          <a:lstStyle/>
          <a:p>
            <a:pPr marL="0" indent="0">
              <a:buNone/>
            </a:pPr>
            <a:r>
              <a:rPr lang="en-US" sz="3000" b="1" dirty="0">
                <a:solidFill>
                  <a:schemeClr val="accent2"/>
                </a:solidFill>
                <a:latin typeface="Cambria" pitchFamily="34" charset="0"/>
                <a:ea typeface="Cambria" pitchFamily="34" charset="-122"/>
                <a:cs typeface="Cambria" pitchFamily="34" charset="-120"/>
              </a:rPr>
              <a:t>7</a:t>
            </a:r>
            <a:endParaRPr lang="en-US" sz="3000" dirty="0"/>
          </a:p>
        </p:txBody>
      </p:sp>
      <p:sp>
        <p:nvSpPr>
          <p:cNvPr id="12" name="Text 8"/>
          <p:cNvSpPr txBox="1"/>
          <p:nvPr/>
        </p:nvSpPr>
        <p:spPr>
          <a:xfrm>
            <a:off x="9281160" y="2624328"/>
            <a:ext cx="2148840" cy="502920"/>
          </a:xfrm>
          <a:prstGeom prst="rect">
            <a:avLst/>
          </a:prstGeom>
          <a:noFill/>
          <a:ln/>
        </p:spPr>
        <p:txBody>
          <a:bodyPr wrap="square" lIns="0" tIns="0" rIns="0" bIns="0" rtlCol="0" anchor="t"/>
          <a:lstStyle/>
          <a:p>
            <a:pPr marL="0" indent="0">
              <a:buNone/>
            </a:pPr>
            <a:r>
              <a:rPr lang="en-US" sz="1300" dirty="0">
                <a:solidFill>
                  <a:schemeClr val="tx2"/>
                </a:solidFill>
                <a:latin typeface="Calibri" pitchFamily="34" charset="0"/>
                <a:ea typeface="Calibri" pitchFamily="34" charset="-122"/>
                <a:cs typeface="Calibri" pitchFamily="34" charset="-120"/>
              </a:rPr>
              <a:t>dimensiones</a:t>
            </a:r>
            <a:endParaRPr lang="en-US" sz="1300" dirty="0"/>
          </a:p>
        </p:txBody>
      </p:sp>
      <p:sp>
        <p:nvSpPr>
          <p:cNvPr id="13" name="Dato 0"/>
          <p:cNvSpPr/>
          <p:nvPr/>
        </p:nvSpPr>
        <p:spPr>
          <a:xfrm>
            <a:off x="6309360" y="3337560"/>
            <a:ext cx="2606040" cy="1234440"/>
          </a:xfrm>
          <a:prstGeom prst="roundRect">
            <a:avLst>
              <a:gd name="adj" fmla="val 8889"/>
            </a:avLst>
          </a:prstGeom>
          <a:solidFill>
            <a:schemeClr val="bg2"/>
          </a:solidFill>
          <a:ln w="12700">
            <a:solidFill>
              <a:schemeClr val="bg2"/>
            </a:solidFill>
            <a:prstDash val="solid"/>
          </a:ln>
        </p:spPr>
      </p:sp>
      <p:sp>
        <p:nvSpPr>
          <p:cNvPr id="14" name="Text 10"/>
          <p:cNvSpPr txBox="1"/>
          <p:nvPr/>
        </p:nvSpPr>
        <p:spPr>
          <a:xfrm>
            <a:off x="6537960" y="3447288"/>
            <a:ext cx="2148840" cy="548640"/>
          </a:xfrm>
          <a:prstGeom prst="rect">
            <a:avLst/>
          </a:prstGeom>
          <a:noFill/>
          <a:ln/>
        </p:spPr>
        <p:txBody>
          <a:bodyPr wrap="square" lIns="0" tIns="0" rIns="0" bIns="0" rtlCol="0" anchor="ctr"/>
          <a:lstStyle/>
          <a:p>
            <a:pPr marL="0" indent="0">
              <a:buNone/>
            </a:pPr>
            <a:r>
              <a:rPr lang="en-US" sz="3000" b="1" dirty="0">
                <a:solidFill>
                  <a:schemeClr val="accent1"/>
                </a:solidFill>
                <a:latin typeface="Cambria" pitchFamily="34" charset="0"/>
                <a:ea typeface="Cambria" pitchFamily="34" charset="-122"/>
                <a:cs typeface="Cambria" pitchFamily="34" charset="-120"/>
              </a:rPr>
              <a:t>0</a:t>
            </a:r>
            <a:endParaRPr lang="en-US" sz="3000" dirty="0"/>
          </a:p>
        </p:txBody>
      </p:sp>
      <p:sp>
        <p:nvSpPr>
          <p:cNvPr id="15" name="Text 11"/>
          <p:cNvSpPr txBox="1"/>
          <p:nvPr/>
        </p:nvSpPr>
        <p:spPr>
          <a:xfrm>
            <a:off x="6537960" y="3995928"/>
            <a:ext cx="2148840" cy="502920"/>
          </a:xfrm>
          <a:prstGeom prst="rect">
            <a:avLst/>
          </a:prstGeom>
          <a:noFill/>
          <a:ln/>
        </p:spPr>
        <p:txBody>
          <a:bodyPr wrap="square" lIns="0" tIns="0" rIns="0" bIns="0" rtlCol="0" anchor="t"/>
          <a:lstStyle/>
          <a:p>
            <a:pPr marL="0" indent="0">
              <a:buNone/>
            </a:pPr>
            <a:r>
              <a:rPr lang="en-US" sz="1300" dirty="0">
                <a:solidFill>
                  <a:schemeClr val="tx2"/>
                </a:solidFill>
                <a:latin typeface="Calibri" pitchFamily="34" charset="0"/>
                <a:ea typeface="Calibri" pitchFamily="34" charset="-122"/>
                <a:cs typeface="Calibri" pitchFamily="34" charset="-120"/>
              </a:rPr>
              <a:t>llaves nulas ni discrepancias</a:t>
            </a:r>
            <a:endParaRPr lang="en-US" sz="1300" dirty="0"/>
          </a:p>
        </p:txBody>
      </p:sp>
      <p:sp>
        <p:nvSpPr>
          <p:cNvPr id="16" name="Dato 1.52 s"/>
          <p:cNvSpPr/>
          <p:nvPr/>
        </p:nvSpPr>
        <p:spPr>
          <a:xfrm>
            <a:off x="9052560" y="3337560"/>
            <a:ext cx="2606040" cy="1234440"/>
          </a:xfrm>
          <a:prstGeom prst="roundRect">
            <a:avLst>
              <a:gd name="adj" fmla="val 8889"/>
            </a:avLst>
          </a:prstGeom>
          <a:solidFill>
            <a:schemeClr val="bg2"/>
          </a:solidFill>
          <a:ln w="12700">
            <a:solidFill>
              <a:schemeClr val="bg2"/>
            </a:solidFill>
            <a:prstDash val="solid"/>
          </a:ln>
        </p:spPr>
      </p:sp>
      <p:sp>
        <p:nvSpPr>
          <p:cNvPr id="17" name="Text 13"/>
          <p:cNvSpPr txBox="1"/>
          <p:nvPr/>
        </p:nvSpPr>
        <p:spPr>
          <a:xfrm>
            <a:off x="9281160" y="3447288"/>
            <a:ext cx="2148840" cy="548640"/>
          </a:xfrm>
          <a:prstGeom prst="rect">
            <a:avLst/>
          </a:prstGeom>
          <a:noFill/>
          <a:ln/>
        </p:spPr>
        <p:txBody>
          <a:bodyPr wrap="square" lIns="0" tIns="0" rIns="0" bIns="0" rtlCol="0" anchor="ctr"/>
          <a:lstStyle/>
          <a:p>
            <a:pPr marL="0" indent="0">
              <a:buNone/>
            </a:pPr>
            <a:r>
              <a:rPr lang="en-US" sz="3000" b="1" dirty="0">
                <a:solidFill>
                  <a:schemeClr val="accent2"/>
                </a:solidFill>
                <a:latin typeface="Cambria" pitchFamily="34" charset="0"/>
                <a:ea typeface="Cambria" pitchFamily="34" charset="-122"/>
                <a:cs typeface="Cambria" pitchFamily="34" charset="-120"/>
              </a:rPr>
              <a:t>1.52 s</a:t>
            </a:r>
            <a:endParaRPr lang="en-US" sz="3000" dirty="0"/>
          </a:p>
        </p:txBody>
      </p:sp>
      <p:sp>
        <p:nvSpPr>
          <p:cNvPr id="18" name="Text 14"/>
          <p:cNvSpPr txBox="1"/>
          <p:nvPr/>
        </p:nvSpPr>
        <p:spPr>
          <a:xfrm>
            <a:off x="9281160" y="3995928"/>
            <a:ext cx="2148840" cy="502920"/>
          </a:xfrm>
          <a:prstGeom prst="rect">
            <a:avLst/>
          </a:prstGeom>
          <a:noFill/>
          <a:ln/>
        </p:spPr>
        <p:txBody>
          <a:bodyPr wrap="square" lIns="0" tIns="0" rIns="0" bIns="0" rtlCol="0" anchor="t"/>
          <a:lstStyle/>
          <a:p>
            <a:pPr marL="0" indent="0">
              <a:buNone/>
            </a:pPr>
            <a:r>
              <a:rPr lang="en-US" sz="1300" dirty="0">
                <a:solidFill>
                  <a:schemeClr val="tx2"/>
                </a:solidFill>
                <a:latin typeface="Calibri" pitchFamily="34" charset="0"/>
                <a:ea typeface="Calibri" pitchFamily="34" charset="-122"/>
                <a:cs typeface="Calibri" pitchFamily="34" charset="-120"/>
              </a:rPr>
              <a:t>ETL completo</a:t>
            </a:r>
            <a:endParaRPr lang="en-US" sz="1300" dirty="0"/>
          </a:p>
        </p:txBody>
      </p:sp>
      <p:sp>
        <p:nvSpPr>
          <p:cNvPr id="19" name="Text 15"/>
          <p:cNvSpPr txBox="1"/>
          <p:nvPr/>
        </p:nvSpPr>
        <p:spPr>
          <a:xfrm>
            <a:off x="6309360" y="4754880"/>
            <a:ext cx="5394960" cy="502920"/>
          </a:xfrm>
          <a:prstGeom prst="rect">
            <a:avLst/>
          </a:prstGeom>
          <a:noFill/>
          <a:ln/>
        </p:spPr>
        <p:txBody>
          <a:bodyPr wrap="square" lIns="0" tIns="0" rIns="0" bIns="0" rtlCol="0" anchor="t"/>
          <a:lstStyle/>
          <a:p>
            <a:pPr marL="0" indent="0">
              <a:buNone/>
            </a:pPr>
            <a:r>
              <a:rPr lang="en-US" sz="1300" dirty="0">
                <a:solidFill>
                  <a:schemeClr val="tx2"/>
                </a:solidFill>
                <a:latin typeface="Calibri" pitchFamily="34" charset="0"/>
                <a:ea typeface="Calibri" pitchFamily="34" charset="-122"/>
                <a:cs typeface="Calibri" pitchFamily="34" charset="-120"/>
              </a:rPr>
              <a:t>ETL en Python: quitó 60 duplicados, normalizó 2 755 nombres, imputó 12 precios y pseudonimizó 5 468 DNI</a:t>
            </a:r>
            <a:endParaRPr lang="en-US" sz="1300" dirty="0"/>
          </a:p>
        </p:txBody>
      </p:sp>
      <p:sp>
        <p:nvSpPr>
          <p:cNvPr id="21" name="Text 17"/>
          <p:cNvSpPr txBox="1"/>
          <p:nvPr/>
        </p:nvSpPr>
        <p:spPr>
          <a:xfrm>
            <a:off x="6492240" y="5349240"/>
            <a:ext cx="5029200" cy="822960"/>
          </a:xfrm>
          <a:prstGeom prst="rect">
            <a:avLst/>
          </a:prstGeom>
          <a:noFill/>
          <a:ln/>
        </p:spPr>
        <p:txBody>
          <a:bodyPr wrap="square" lIns="0" tIns="0" rIns="0" bIns="0" rtlCol="0" anchor="ctr"/>
          <a:lstStyle/>
          <a:p>
            <a:pPr marL="0" indent="0">
              <a:buNone/>
            </a:pPr>
            <a:r>
              <a:rPr lang="en-US" sz="1300" b="1" dirty="0">
                <a:solidFill>
                  <a:schemeClr val="bg1"/>
                </a:solidFill>
                <a:latin typeface="Calibri" pitchFamily="34" charset="0"/>
                <a:ea typeface="Calibri" pitchFamily="34" charset="-122"/>
                <a:cs typeface="Calibri" pitchFamily="34" charset="-120"/>
              </a:rPr>
              <a:t>Por qué Kimball: resultado en las 8 semanas del ciclo y dimensiones compartidas que unen SQL Server y las apps sin rediseñar</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1005840"/>
            <a:ext cx="1124712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Métricas: 11 KPIs gobernados</a:t>
            </a:r>
            <a:endParaRPr lang="en-US" sz="3200" dirty="0"/>
          </a:p>
        </p:txBody>
      </p:sp>
      <p:sp>
        <p:nvSpPr>
          <p:cNvPr id="3" name="Text 1"/>
          <p:cNvSpPr txBox="1"/>
          <p:nvPr/>
        </p:nvSpPr>
        <p:spPr>
          <a:xfrm>
            <a:off x="5760720" y="457200"/>
            <a:ext cx="5943600" cy="274320"/>
          </a:xfrm>
          <a:prstGeom prst="rect">
            <a:avLst/>
          </a:prstGeom>
          <a:noFill/>
          <a:ln/>
        </p:spPr>
        <p:txBody>
          <a:bodyPr wrap="square" lIns="0" tIns="0" rIns="0" bIns="0" rtlCol="0" anchor="t"/>
          <a:lstStyle/>
          <a:p>
            <a:pPr marL="0" indent="0" algn="r">
              <a:buNone/>
            </a:pPr>
            <a:r>
              <a:rPr lang="en-US" sz="1200" b="1" kern="0" spc="200" dirty="0">
                <a:solidFill>
                  <a:schemeClr val="accent1"/>
                </a:solidFill>
                <a:latin typeface="Calibri" pitchFamily="34" charset="0"/>
                <a:ea typeface="Calibri" pitchFamily="34" charset="-122"/>
                <a:cs typeface="Calibri" pitchFamily="34" charset="-120"/>
              </a:rPr>
              <a:t>PARTE 2 · DECIDIR CON DATOS</a:t>
            </a:r>
            <a:endParaRPr lang="en-US" sz="1200" dirty="0"/>
          </a:p>
        </p:txBody>
      </p:sp>
      <p:sp>
        <p:nvSpPr>
          <p:cNvPr id="5" name="Dato S/ 1 695 894"/>
          <p:cNvSpPr/>
          <p:nvPr/>
        </p:nvSpPr>
        <p:spPr>
          <a:xfrm>
            <a:off x="457200" y="2011680"/>
            <a:ext cx="2651760" cy="1188720"/>
          </a:xfrm>
          <a:prstGeom prst="roundRect">
            <a:avLst>
              <a:gd name="adj" fmla="val 9231"/>
            </a:avLst>
          </a:prstGeom>
          <a:solidFill>
            <a:schemeClr val="bg2"/>
          </a:solidFill>
          <a:ln w="12700">
            <a:solidFill>
              <a:schemeClr val="bg2"/>
            </a:solidFill>
            <a:prstDash val="solid"/>
          </a:ln>
        </p:spPr>
      </p:sp>
      <p:sp>
        <p:nvSpPr>
          <p:cNvPr id="6" name="Text 3"/>
          <p:cNvSpPr txBox="1"/>
          <p:nvPr/>
        </p:nvSpPr>
        <p:spPr>
          <a:xfrm>
            <a:off x="685800" y="2121408"/>
            <a:ext cx="2194560" cy="640080"/>
          </a:xfrm>
          <a:prstGeom prst="rect">
            <a:avLst/>
          </a:prstGeom>
          <a:noFill/>
          <a:ln/>
        </p:spPr>
        <p:txBody>
          <a:bodyPr wrap="square" lIns="0" tIns="0" rIns="0" bIns="0" rtlCol="0" anchor="ctr"/>
          <a:lstStyle/>
          <a:p>
            <a:pPr marL="0" indent="0">
              <a:buNone/>
            </a:pPr>
            <a:r>
              <a:rPr lang="en-US" sz="2600" b="1" dirty="0">
                <a:solidFill>
                  <a:schemeClr val="accent1"/>
                </a:solidFill>
                <a:latin typeface="Cambria" pitchFamily="34" charset="0"/>
                <a:ea typeface="Cambria" pitchFamily="34" charset="-122"/>
                <a:cs typeface="Cambria" pitchFamily="34" charset="-120"/>
              </a:rPr>
              <a:t>S/ 1 695 894</a:t>
            </a:r>
            <a:endParaRPr lang="en-US" sz="2600" dirty="0"/>
          </a:p>
        </p:txBody>
      </p:sp>
      <p:sp>
        <p:nvSpPr>
          <p:cNvPr id="7" name="Text 4"/>
          <p:cNvSpPr txBox="1"/>
          <p:nvPr/>
        </p:nvSpPr>
        <p:spPr>
          <a:xfrm>
            <a:off x="685800" y="2761488"/>
            <a:ext cx="2194560" cy="365760"/>
          </a:xfrm>
          <a:prstGeom prst="rect">
            <a:avLst/>
          </a:prstGeom>
          <a:noFill/>
          <a:ln/>
        </p:spPr>
        <p:txBody>
          <a:bodyPr wrap="square" lIns="0" tIns="0" rIns="0" bIns="0" rtlCol="0" anchor="t"/>
          <a:lstStyle/>
          <a:p>
            <a:pPr marL="0" indent="0">
              <a:buNone/>
            </a:pPr>
            <a:r>
              <a:rPr lang="en-US" sz="1300" dirty="0">
                <a:solidFill>
                  <a:schemeClr val="tx2"/>
                </a:solidFill>
                <a:latin typeface="Calibri" pitchFamily="34" charset="0"/>
                <a:ea typeface="Calibri" pitchFamily="34" charset="-122"/>
                <a:cs typeface="Calibri" pitchFamily="34" charset="-120"/>
              </a:rPr>
              <a:t>Ventas netas</a:t>
            </a:r>
            <a:endParaRPr lang="en-US" sz="1300" dirty="0"/>
          </a:p>
        </p:txBody>
      </p:sp>
      <p:sp>
        <p:nvSpPr>
          <p:cNvPr id="8" name="Dato 17 382"/>
          <p:cNvSpPr/>
          <p:nvPr/>
        </p:nvSpPr>
        <p:spPr>
          <a:xfrm>
            <a:off x="3291840" y="2011680"/>
            <a:ext cx="2651760" cy="1188720"/>
          </a:xfrm>
          <a:prstGeom prst="roundRect">
            <a:avLst>
              <a:gd name="adj" fmla="val 9231"/>
            </a:avLst>
          </a:prstGeom>
          <a:solidFill>
            <a:schemeClr val="bg2"/>
          </a:solidFill>
          <a:ln w="12700">
            <a:solidFill>
              <a:schemeClr val="bg2"/>
            </a:solidFill>
            <a:prstDash val="solid"/>
          </a:ln>
        </p:spPr>
      </p:sp>
      <p:sp>
        <p:nvSpPr>
          <p:cNvPr id="9" name="Text 6"/>
          <p:cNvSpPr txBox="1"/>
          <p:nvPr/>
        </p:nvSpPr>
        <p:spPr>
          <a:xfrm>
            <a:off x="3520440" y="2121408"/>
            <a:ext cx="2194560" cy="640080"/>
          </a:xfrm>
          <a:prstGeom prst="rect">
            <a:avLst/>
          </a:prstGeom>
          <a:noFill/>
          <a:ln/>
        </p:spPr>
        <p:txBody>
          <a:bodyPr wrap="square" lIns="0" tIns="0" rIns="0" bIns="0" rtlCol="0" anchor="ctr"/>
          <a:lstStyle/>
          <a:p>
            <a:pPr marL="0" indent="0">
              <a:buNone/>
            </a:pPr>
            <a:r>
              <a:rPr lang="en-US" sz="2600" b="1" dirty="0">
                <a:solidFill>
                  <a:schemeClr val="accent2"/>
                </a:solidFill>
                <a:latin typeface="Cambria" pitchFamily="34" charset="0"/>
                <a:ea typeface="Cambria" pitchFamily="34" charset="-122"/>
                <a:cs typeface="Cambria" pitchFamily="34" charset="-120"/>
              </a:rPr>
              <a:t>17 382</a:t>
            </a:r>
            <a:endParaRPr lang="en-US" sz="2600" dirty="0"/>
          </a:p>
        </p:txBody>
      </p:sp>
      <p:sp>
        <p:nvSpPr>
          <p:cNvPr id="10" name="Text 7"/>
          <p:cNvSpPr txBox="1"/>
          <p:nvPr/>
        </p:nvSpPr>
        <p:spPr>
          <a:xfrm>
            <a:off x="3520440" y="2761488"/>
            <a:ext cx="2194560" cy="365760"/>
          </a:xfrm>
          <a:prstGeom prst="rect">
            <a:avLst/>
          </a:prstGeom>
          <a:noFill/>
          <a:ln/>
        </p:spPr>
        <p:txBody>
          <a:bodyPr wrap="square" lIns="0" tIns="0" rIns="0" bIns="0" rtlCol="0" anchor="t"/>
          <a:lstStyle/>
          <a:p>
            <a:pPr marL="0" indent="0">
              <a:buNone/>
            </a:pPr>
            <a:r>
              <a:rPr lang="en-US" sz="1300" dirty="0">
                <a:solidFill>
                  <a:schemeClr val="tx2"/>
                </a:solidFill>
                <a:latin typeface="Calibri" pitchFamily="34" charset="0"/>
                <a:ea typeface="Calibri" pitchFamily="34" charset="-122"/>
                <a:cs typeface="Calibri" pitchFamily="34" charset="-120"/>
              </a:rPr>
              <a:t>Pedidos</a:t>
            </a:r>
            <a:endParaRPr lang="en-US" sz="1300" dirty="0"/>
          </a:p>
        </p:txBody>
      </p:sp>
      <p:sp>
        <p:nvSpPr>
          <p:cNvPr id="11" name="Dato S/ 97.57"/>
          <p:cNvSpPr/>
          <p:nvPr/>
        </p:nvSpPr>
        <p:spPr>
          <a:xfrm>
            <a:off x="6126480" y="2011680"/>
            <a:ext cx="2651760" cy="1188720"/>
          </a:xfrm>
          <a:prstGeom prst="roundRect">
            <a:avLst>
              <a:gd name="adj" fmla="val 9231"/>
            </a:avLst>
          </a:prstGeom>
          <a:solidFill>
            <a:schemeClr val="bg2"/>
          </a:solidFill>
          <a:ln w="12700">
            <a:solidFill>
              <a:schemeClr val="bg2"/>
            </a:solidFill>
            <a:prstDash val="solid"/>
          </a:ln>
        </p:spPr>
      </p:sp>
      <p:sp>
        <p:nvSpPr>
          <p:cNvPr id="12" name="Text 9"/>
          <p:cNvSpPr txBox="1"/>
          <p:nvPr/>
        </p:nvSpPr>
        <p:spPr>
          <a:xfrm>
            <a:off x="6355080" y="2121408"/>
            <a:ext cx="2194560" cy="640080"/>
          </a:xfrm>
          <a:prstGeom prst="rect">
            <a:avLst/>
          </a:prstGeom>
          <a:noFill/>
          <a:ln/>
        </p:spPr>
        <p:txBody>
          <a:bodyPr wrap="square" lIns="0" tIns="0" rIns="0" bIns="0" rtlCol="0" anchor="ctr"/>
          <a:lstStyle/>
          <a:p>
            <a:pPr marL="0" indent="0">
              <a:buNone/>
            </a:pPr>
            <a:r>
              <a:rPr lang="en-US" sz="2600" b="1" dirty="0">
                <a:solidFill>
                  <a:schemeClr val="accent1"/>
                </a:solidFill>
                <a:latin typeface="Cambria" pitchFamily="34" charset="0"/>
                <a:ea typeface="Cambria" pitchFamily="34" charset="-122"/>
                <a:cs typeface="Cambria" pitchFamily="34" charset="-120"/>
              </a:rPr>
              <a:t>S/ 97.57</a:t>
            </a:r>
            <a:endParaRPr lang="en-US" sz="2600" dirty="0"/>
          </a:p>
        </p:txBody>
      </p:sp>
      <p:sp>
        <p:nvSpPr>
          <p:cNvPr id="13" name="Text 10"/>
          <p:cNvSpPr txBox="1"/>
          <p:nvPr/>
        </p:nvSpPr>
        <p:spPr>
          <a:xfrm>
            <a:off x="6355080" y="2761488"/>
            <a:ext cx="2194560" cy="365760"/>
          </a:xfrm>
          <a:prstGeom prst="rect">
            <a:avLst/>
          </a:prstGeom>
          <a:noFill/>
          <a:ln/>
        </p:spPr>
        <p:txBody>
          <a:bodyPr wrap="square" lIns="0" tIns="0" rIns="0" bIns="0" rtlCol="0" anchor="t"/>
          <a:lstStyle/>
          <a:p>
            <a:pPr marL="0" indent="0">
              <a:buNone/>
            </a:pPr>
            <a:r>
              <a:rPr lang="en-US" sz="1300" dirty="0">
                <a:solidFill>
                  <a:schemeClr val="tx2"/>
                </a:solidFill>
                <a:latin typeface="Calibri" pitchFamily="34" charset="0"/>
                <a:ea typeface="Calibri" pitchFamily="34" charset="-122"/>
                <a:cs typeface="Calibri" pitchFamily="34" charset="-120"/>
              </a:rPr>
              <a:t>Ticket promedio</a:t>
            </a:r>
            <a:endParaRPr lang="en-US" sz="1300" dirty="0"/>
          </a:p>
        </p:txBody>
      </p:sp>
      <p:sp>
        <p:nvSpPr>
          <p:cNvPr id="14" name="Dato S/ 1 098 205"/>
          <p:cNvSpPr/>
          <p:nvPr/>
        </p:nvSpPr>
        <p:spPr>
          <a:xfrm>
            <a:off x="8961120" y="2011680"/>
            <a:ext cx="2651760" cy="1188720"/>
          </a:xfrm>
          <a:prstGeom prst="roundRect">
            <a:avLst>
              <a:gd name="adj" fmla="val 9231"/>
            </a:avLst>
          </a:prstGeom>
          <a:solidFill>
            <a:schemeClr val="bg2"/>
          </a:solidFill>
          <a:ln w="12700">
            <a:solidFill>
              <a:schemeClr val="bg2"/>
            </a:solidFill>
            <a:prstDash val="solid"/>
          </a:ln>
        </p:spPr>
      </p:sp>
      <p:sp>
        <p:nvSpPr>
          <p:cNvPr id="15" name="Text 12"/>
          <p:cNvSpPr txBox="1"/>
          <p:nvPr/>
        </p:nvSpPr>
        <p:spPr>
          <a:xfrm>
            <a:off x="9189720" y="2121408"/>
            <a:ext cx="2194560" cy="640080"/>
          </a:xfrm>
          <a:prstGeom prst="rect">
            <a:avLst/>
          </a:prstGeom>
          <a:noFill/>
          <a:ln/>
        </p:spPr>
        <p:txBody>
          <a:bodyPr wrap="square" lIns="0" tIns="0" rIns="0" bIns="0" rtlCol="0" anchor="ctr"/>
          <a:lstStyle/>
          <a:p>
            <a:pPr marL="0" indent="0">
              <a:buNone/>
            </a:pPr>
            <a:r>
              <a:rPr lang="en-US" sz="2600" b="1" dirty="0">
                <a:solidFill>
                  <a:schemeClr val="accent2"/>
                </a:solidFill>
                <a:latin typeface="Cambria" pitchFamily="34" charset="0"/>
                <a:ea typeface="Cambria" pitchFamily="34" charset="-122"/>
                <a:cs typeface="Cambria" pitchFamily="34" charset="-120"/>
              </a:rPr>
              <a:t>S/ 1 098 205</a:t>
            </a:r>
            <a:endParaRPr lang="en-US" sz="2600" dirty="0"/>
          </a:p>
        </p:txBody>
      </p:sp>
      <p:sp>
        <p:nvSpPr>
          <p:cNvPr id="16" name="Text 13"/>
          <p:cNvSpPr txBox="1"/>
          <p:nvPr/>
        </p:nvSpPr>
        <p:spPr>
          <a:xfrm>
            <a:off x="9189720" y="2761488"/>
            <a:ext cx="2194560" cy="365760"/>
          </a:xfrm>
          <a:prstGeom prst="rect">
            <a:avLst/>
          </a:prstGeom>
          <a:noFill/>
          <a:ln/>
        </p:spPr>
        <p:txBody>
          <a:bodyPr wrap="square" lIns="0" tIns="0" rIns="0" bIns="0" rtlCol="0" anchor="t"/>
          <a:lstStyle/>
          <a:p>
            <a:pPr marL="0" indent="0">
              <a:buNone/>
            </a:pPr>
            <a:r>
              <a:rPr lang="en-US" sz="1300" dirty="0">
                <a:solidFill>
                  <a:schemeClr val="tx2"/>
                </a:solidFill>
                <a:latin typeface="Calibri" pitchFamily="34" charset="0"/>
                <a:ea typeface="Calibri" pitchFamily="34" charset="-122"/>
                <a:cs typeface="Calibri" pitchFamily="34" charset="-120"/>
              </a:rPr>
              <a:t>Margen bruto</a:t>
            </a:r>
            <a:endParaRPr lang="en-US" sz="1300" dirty="0"/>
          </a:p>
        </p:txBody>
      </p:sp>
      <p:sp>
        <p:nvSpPr>
          <p:cNvPr id="17" name="Dato 64.8 %"/>
          <p:cNvSpPr/>
          <p:nvPr/>
        </p:nvSpPr>
        <p:spPr>
          <a:xfrm>
            <a:off x="457200" y="3337560"/>
            <a:ext cx="2651760" cy="1188720"/>
          </a:xfrm>
          <a:prstGeom prst="roundRect">
            <a:avLst>
              <a:gd name="adj" fmla="val 9231"/>
            </a:avLst>
          </a:prstGeom>
          <a:solidFill>
            <a:schemeClr val="bg2"/>
          </a:solidFill>
          <a:ln w="12700">
            <a:solidFill>
              <a:schemeClr val="bg2"/>
            </a:solidFill>
            <a:prstDash val="solid"/>
          </a:ln>
        </p:spPr>
      </p:sp>
      <p:sp>
        <p:nvSpPr>
          <p:cNvPr id="18" name="Text 15"/>
          <p:cNvSpPr txBox="1"/>
          <p:nvPr/>
        </p:nvSpPr>
        <p:spPr>
          <a:xfrm>
            <a:off x="685800" y="3447288"/>
            <a:ext cx="2194560" cy="640080"/>
          </a:xfrm>
          <a:prstGeom prst="rect">
            <a:avLst/>
          </a:prstGeom>
          <a:noFill/>
          <a:ln/>
        </p:spPr>
        <p:txBody>
          <a:bodyPr wrap="square" lIns="0" tIns="0" rIns="0" bIns="0" rtlCol="0" anchor="ctr"/>
          <a:lstStyle/>
          <a:p>
            <a:pPr marL="0" indent="0">
              <a:buNone/>
            </a:pPr>
            <a:r>
              <a:rPr lang="en-US" sz="2600" b="1" dirty="0">
                <a:solidFill>
                  <a:schemeClr val="accent1"/>
                </a:solidFill>
                <a:latin typeface="Cambria" pitchFamily="34" charset="0"/>
                <a:ea typeface="Cambria" pitchFamily="34" charset="-122"/>
                <a:cs typeface="Cambria" pitchFamily="34" charset="-120"/>
              </a:rPr>
              <a:t>64.8 %</a:t>
            </a:r>
            <a:endParaRPr lang="en-US" sz="2600" dirty="0"/>
          </a:p>
        </p:txBody>
      </p:sp>
      <p:sp>
        <p:nvSpPr>
          <p:cNvPr id="19" name="Text 16"/>
          <p:cNvSpPr txBox="1"/>
          <p:nvPr/>
        </p:nvSpPr>
        <p:spPr>
          <a:xfrm>
            <a:off x="685800" y="4087368"/>
            <a:ext cx="2194560" cy="365760"/>
          </a:xfrm>
          <a:prstGeom prst="rect">
            <a:avLst/>
          </a:prstGeom>
          <a:noFill/>
          <a:ln/>
        </p:spPr>
        <p:txBody>
          <a:bodyPr wrap="square" lIns="0" tIns="0" rIns="0" bIns="0" rtlCol="0" anchor="t"/>
          <a:lstStyle/>
          <a:p>
            <a:pPr marL="0" indent="0">
              <a:buNone/>
            </a:pPr>
            <a:r>
              <a:rPr lang="en-US" sz="1300" dirty="0">
                <a:solidFill>
                  <a:schemeClr val="tx2"/>
                </a:solidFill>
                <a:latin typeface="Calibri" pitchFamily="34" charset="0"/>
                <a:ea typeface="Calibri" pitchFamily="34" charset="-122"/>
                <a:cs typeface="Calibri" pitchFamily="34" charset="-120"/>
              </a:rPr>
              <a:t>Margen bruto</a:t>
            </a:r>
            <a:endParaRPr lang="en-US" sz="1300" dirty="0"/>
          </a:p>
        </p:txBody>
      </p:sp>
      <p:sp>
        <p:nvSpPr>
          <p:cNvPr id="20" name="Dato 4 385"/>
          <p:cNvSpPr/>
          <p:nvPr/>
        </p:nvSpPr>
        <p:spPr>
          <a:xfrm>
            <a:off x="3291840" y="3337560"/>
            <a:ext cx="2651760" cy="1188720"/>
          </a:xfrm>
          <a:prstGeom prst="roundRect">
            <a:avLst>
              <a:gd name="adj" fmla="val 9231"/>
            </a:avLst>
          </a:prstGeom>
          <a:solidFill>
            <a:schemeClr val="bg2"/>
          </a:solidFill>
          <a:ln w="12700">
            <a:solidFill>
              <a:schemeClr val="bg2"/>
            </a:solidFill>
            <a:prstDash val="solid"/>
          </a:ln>
        </p:spPr>
      </p:sp>
      <p:sp>
        <p:nvSpPr>
          <p:cNvPr id="21" name="Text 18"/>
          <p:cNvSpPr txBox="1"/>
          <p:nvPr/>
        </p:nvSpPr>
        <p:spPr>
          <a:xfrm>
            <a:off x="3520440" y="3447288"/>
            <a:ext cx="2194560" cy="640080"/>
          </a:xfrm>
          <a:prstGeom prst="rect">
            <a:avLst/>
          </a:prstGeom>
          <a:noFill/>
          <a:ln/>
        </p:spPr>
        <p:txBody>
          <a:bodyPr wrap="square" lIns="0" tIns="0" rIns="0" bIns="0" rtlCol="0" anchor="ctr"/>
          <a:lstStyle/>
          <a:p>
            <a:pPr marL="0" indent="0">
              <a:buNone/>
            </a:pPr>
            <a:r>
              <a:rPr lang="en-US" sz="2600" b="1" dirty="0">
                <a:solidFill>
                  <a:schemeClr val="accent2"/>
                </a:solidFill>
                <a:latin typeface="Cambria" pitchFamily="34" charset="0"/>
                <a:ea typeface="Cambria" pitchFamily="34" charset="-122"/>
                <a:cs typeface="Cambria" pitchFamily="34" charset="-120"/>
              </a:rPr>
              <a:t>4 385</a:t>
            </a:r>
            <a:endParaRPr lang="en-US" sz="2600" dirty="0"/>
          </a:p>
        </p:txBody>
      </p:sp>
      <p:sp>
        <p:nvSpPr>
          <p:cNvPr id="22" name="Text 19"/>
          <p:cNvSpPr txBox="1"/>
          <p:nvPr/>
        </p:nvSpPr>
        <p:spPr>
          <a:xfrm>
            <a:off x="3520440" y="4087368"/>
            <a:ext cx="2194560" cy="365760"/>
          </a:xfrm>
          <a:prstGeom prst="rect">
            <a:avLst/>
          </a:prstGeom>
          <a:noFill/>
          <a:ln/>
        </p:spPr>
        <p:txBody>
          <a:bodyPr wrap="square" lIns="0" tIns="0" rIns="0" bIns="0" rtlCol="0" anchor="t"/>
          <a:lstStyle/>
          <a:p>
            <a:pPr marL="0" indent="0">
              <a:buNone/>
            </a:pPr>
            <a:r>
              <a:rPr lang="en-US" sz="1300" dirty="0">
                <a:solidFill>
                  <a:schemeClr val="tx2"/>
                </a:solidFill>
                <a:latin typeface="Calibri" pitchFamily="34" charset="0"/>
                <a:ea typeface="Calibri" pitchFamily="34" charset="-122"/>
                <a:cs typeface="Calibri" pitchFamily="34" charset="-120"/>
              </a:rPr>
              <a:t>Clientes identificados</a:t>
            </a:r>
            <a:endParaRPr lang="en-US" sz="1300" dirty="0"/>
          </a:p>
        </p:txBody>
      </p:sp>
      <p:sp>
        <p:nvSpPr>
          <p:cNvPr id="23" name="Dato 62.3 %"/>
          <p:cNvSpPr/>
          <p:nvPr/>
        </p:nvSpPr>
        <p:spPr>
          <a:xfrm>
            <a:off x="6126480" y="3337560"/>
            <a:ext cx="2651760" cy="1188720"/>
          </a:xfrm>
          <a:prstGeom prst="roundRect">
            <a:avLst>
              <a:gd name="adj" fmla="val 9231"/>
            </a:avLst>
          </a:prstGeom>
          <a:solidFill>
            <a:schemeClr val="bg2"/>
          </a:solidFill>
          <a:ln w="12700">
            <a:solidFill>
              <a:schemeClr val="bg2"/>
            </a:solidFill>
            <a:prstDash val="solid"/>
          </a:ln>
        </p:spPr>
      </p:sp>
      <p:sp>
        <p:nvSpPr>
          <p:cNvPr id="24" name="Text 21"/>
          <p:cNvSpPr txBox="1"/>
          <p:nvPr/>
        </p:nvSpPr>
        <p:spPr>
          <a:xfrm>
            <a:off x="6355080" y="3447288"/>
            <a:ext cx="2194560" cy="640080"/>
          </a:xfrm>
          <a:prstGeom prst="rect">
            <a:avLst/>
          </a:prstGeom>
          <a:noFill/>
          <a:ln/>
        </p:spPr>
        <p:txBody>
          <a:bodyPr wrap="square" lIns="0" tIns="0" rIns="0" bIns="0" rtlCol="0" anchor="ctr"/>
          <a:lstStyle/>
          <a:p>
            <a:pPr marL="0" indent="0">
              <a:buNone/>
            </a:pPr>
            <a:r>
              <a:rPr lang="en-US" sz="2600" b="1" dirty="0">
                <a:solidFill>
                  <a:schemeClr val="accent1"/>
                </a:solidFill>
                <a:latin typeface="Cambria" pitchFamily="34" charset="0"/>
                <a:ea typeface="Cambria" pitchFamily="34" charset="-122"/>
                <a:cs typeface="Cambria" pitchFamily="34" charset="-120"/>
              </a:rPr>
              <a:t>62.3 %</a:t>
            </a:r>
            <a:endParaRPr lang="en-US" sz="2600" dirty="0"/>
          </a:p>
        </p:txBody>
      </p:sp>
      <p:sp>
        <p:nvSpPr>
          <p:cNvPr id="25" name="Text 22"/>
          <p:cNvSpPr txBox="1"/>
          <p:nvPr/>
        </p:nvSpPr>
        <p:spPr>
          <a:xfrm>
            <a:off x="6355080" y="4087368"/>
            <a:ext cx="2194560" cy="365760"/>
          </a:xfrm>
          <a:prstGeom prst="rect">
            <a:avLst/>
          </a:prstGeom>
          <a:noFill/>
          <a:ln/>
        </p:spPr>
        <p:txBody>
          <a:bodyPr wrap="square" lIns="0" tIns="0" rIns="0" bIns="0" rtlCol="0" anchor="t"/>
          <a:lstStyle/>
          <a:p>
            <a:pPr marL="0" indent="0">
              <a:buNone/>
            </a:pPr>
            <a:r>
              <a:rPr lang="en-US" sz="1300" dirty="0">
                <a:solidFill>
                  <a:schemeClr val="tx2"/>
                </a:solidFill>
                <a:latin typeface="Calibri" pitchFamily="34" charset="0"/>
                <a:ea typeface="Calibri" pitchFamily="34" charset="-122"/>
                <a:cs typeface="Calibri" pitchFamily="34" charset="-120"/>
              </a:rPr>
              <a:t>Clientes recurrentes</a:t>
            </a:r>
            <a:endParaRPr lang="en-US" sz="1300" dirty="0"/>
          </a:p>
        </p:txBody>
      </p:sp>
      <p:sp>
        <p:nvSpPr>
          <p:cNvPr id="26" name="Dato 12.2 %"/>
          <p:cNvSpPr/>
          <p:nvPr/>
        </p:nvSpPr>
        <p:spPr>
          <a:xfrm>
            <a:off x="8961120" y="3337560"/>
            <a:ext cx="2651760" cy="1188720"/>
          </a:xfrm>
          <a:prstGeom prst="roundRect">
            <a:avLst>
              <a:gd name="adj" fmla="val 9231"/>
            </a:avLst>
          </a:prstGeom>
          <a:solidFill>
            <a:schemeClr val="bg2"/>
          </a:solidFill>
          <a:ln w="12700">
            <a:solidFill>
              <a:schemeClr val="bg2"/>
            </a:solidFill>
            <a:prstDash val="solid"/>
          </a:ln>
        </p:spPr>
      </p:sp>
      <p:sp>
        <p:nvSpPr>
          <p:cNvPr id="27" name="Text 24"/>
          <p:cNvSpPr txBox="1"/>
          <p:nvPr/>
        </p:nvSpPr>
        <p:spPr>
          <a:xfrm>
            <a:off x="9189720" y="3447288"/>
            <a:ext cx="2194560" cy="640080"/>
          </a:xfrm>
          <a:prstGeom prst="rect">
            <a:avLst/>
          </a:prstGeom>
          <a:noFill/>
          <a:ln/>
        </p:spPr>
        <p:txBody>
          <a:bodyPr wrap="square" lIns="0" tIns="0" rIns="0" bIns="0" rtlCol="0" anchor="ctr"/>
          <a:lstStyle/>
          <a:p>
            <a:pPr marL="0" indent="0">
              <a:buNone/>
            </a:pPr>
            <a:r>
              <a:rPr lang="en-US" sz="2600" b="1" dirty="0">
                <a:solidFill>
                  <a:schemeClr val="accent2"/>
                </a:solidFill>
                <a:latin typeface="Cambria" pitchFamily="34" charset="0"/>
                <a:ea typeface="Cambria" pitchFamily="34" charset="-122"/>
                <a:cs typeface="Cambria" pitchFamily="34" charset="-120"/>
              </a:rPr>
              <a:t>12.2 %</a:t>
            </a:r>
            <a:endParaRPr lang="en-US" sz="2600" dirty="0"/>
          </a:p>
        </p:txBody>
      </p:sp>
      <p:sp>
        <p:nvSpPr>
          <p:cNvPr id="28" name="Text 25"/>
          <p:cNvSpPr txBox="1"/>
          <p:nvPr/>
        </p:nvSpPr>
        <p:spPr>
          <a:xfrm>
            <a:off x="9189720" y="4087368"/>
            <a:ext cx="2194560" cy="365760"/>
          </a:xfrm>
          <a:prstGeom prst="rect">
            <a:avLst/>
          </a:prstGeom>
          <a:noFill/>
          <a:ln/>
        </p:spPr>
        <p:txBody>
          <a:bodyPr wrap="square" lIns="0" tIns="0" rIns="0" bIns="0" rtlCol="0" anchor="t"/>
          <a:lstStyle/>
          <a:p>
            <a:pPr marL="0" indent="0">
              <a:buNone/>
            </a:pPr>
            <a:r>
              <a:rPr lang="en-US" sz="1300" dirty="0">
                <a:solidFill>
                  <a:schemeClr val="tx2"/>
                </a:solidFill>
                <a:latin typeface="Calibri" pitchFamily="34" charset="0"/>
                <a:ea typeface="Calibri" pitchFamily="34" charset="-122"/>
                <a:cs typeface="Calibri" pitchFamily="34" charset="-120"/>
              </a:rPr>
              <a:t>Ventas por apps</a:t>
            </a:r>
            <a:endParaRPr lang="en-US" sz="1300" dirty="0"/>
          </a:p>
        </p:txBody>
      </p:sp>
      <p:sp>
        <p:nvSpPr>
          <p:cNvPr id="29" name="Dato S/ 57 130"/>
          <p:cNvSpPr/>
          <p:nvPr/>
        </p:nvSpPr>
        <p:spPr>
          <a:xfrm>
            <a:off x="457200" y="4663440"/>
            <a:ext cx="2651760" cy="1188720"/>
          </a:xfrm>
          <a:prstGeom prst="roundRect">
            <a:avLst>
              <a:gd name="adj" fmla="val 9231"/>
            </a:avLst>
          </a:prstGeom>
          <a:solidFill>
            <a:schemeClr val="bg2"/>
          </a:solidFill>
          <a:ln w="12700">
            <a:solidFill>
              <a:schemeClr val="bg2"/>
            </a:solidFill>
            <a:prstDash val="solid"/>
          </a:ln>
        </p:spPr>
      </p:sp>
      <p:sp>
        <p:nvSpPr>
          <p:cNvPr id="30" name="Text 27"/>
          <p:cNvSpPr txBox="1"/>
          <p:nvPr/>
        </p:nvSpPr>
        <p:spPr>
          <a:xfrm>
            <a:off x="685800" y="4773168"/>
            <a:ext cx="2194560" cy="640080"/>
          </a:xfrm>
          <a:prstGeom prst="rect">
            <a:avLst/>
          </a:prstGeom>
          <a:noFill/>
          <a:ln/>
        </p:spPr>
        <p:txBody>
          <a:bodyPr wrap="square" lIns="0" tIns="0" rIns="0" bIns="0" rtlCol="0" anchor="ctr"/>
          <a:lstStyle/>
          <a:p>
            <a:pPr marL="0" indent="0">
              <a:buNone/>
            </a:pPr>
            <a:r>
              <a:rPr lang="en-US" sz="2600" b="1" dirty="0">
                <a:solidFill>
                  <a:schemeClr val="accent1"/>
                </a:solidFill>
                <a:latin typeface="Cambria" pitchFamily="34" charset="0"/>
                <a:ea typeface="Cambria" pitchFamily="34" charset="-122"/>
                <a:cs typeface="Cambria" pitchFamily="34" charset="-120"/>
              </a:rPr>
              <a:t>S/ 57 130</a:t>
            </a:r>
            <a:endParaRPr lang="en-US" sz="2600" dirty="0"/>
          </a:p>
        </p:txBody>
      </p:sp>
      <p:sp>
        <p:nvSpPr>
          <p:cNvPr id="31" name="Text 28"/>
          <p:cNvSpPr txBox="1"/>
          <p:nvPr/>
        </p:nvSpPr>
        <p:spPr>
          <a:xfrm>
            <a:off x="685800" y="5413248"/>
            <a:ext cx="2194560" cy="365760"/>
          </a:xfrm>
          <a:prstGeom prst="rect">
            <a:avLst/>
          </a:prstGeom>
          <a:noFill/>
          <a:ln/>
        </p:spPr>
        <p:txBody>
          <a:bodyPr wrap="square" lIns="0" tIns="0" rIns="0" bIns="0" rtlCol="0" anchor="t"/>
          <a:lstStyle/>
          <a:p>
            <a:pPr marL="0" indent="0">
              <a:buNone/>
            </a:pPr>
            <a:r>
              <a:rPr lang="en-US" sz="1300" dirty="0">
                <a:solidFill>
                  <a:schemeClr val="tx2"/>
                </a:solidFill>
                <a:latin typeface="Calibri" pitchFamily="34" charset="0"/>
                <a:ea typeface="Calibri" pitchFamily="34" charset="-122"/>
                <a:cs typeface="Calibri" pitchFamily="34" charset="-120"/>
              </a:rPr>
              <a:t>Comisión pagada a apps</a:t>
            </a:r>
            <a:endParaRPr lang="en-US" sz="1300" dirty="0"/>
          </a:p>
        </p:txBody>
      </p:sp>
      <p:sp>
        <p:nvSpPr>
          <p:cNvPr id="32" name="Dato 3.97 / 5"/>
          <p:cNvSpPr/>
          <p:nvPr/>
        </p:nvSpPr>
        <p:spPr>
          <a:xfrm>
            <a:off x="3291840" y="4663440"/>
            <a:ext cx="2651760" cy="1188720"/>
          </a:xfrm>
          <a:prstGeom prst="roundRect">
            <a:avLst>
              <a:gd name="adj" fmla="val 9231"/>
            </a:avLst>
          </a:prstGeom>
          <a:solidFill>
            <a:schemeClr val="bg2"/>
          </a:solidFill>
          <a:ln w="12700">
            <a:solidFill>
              <a:schemeClr val="bg2"/>
            </a:solidFill>
            <a:prstDash val="solid"/>
          </a:ln>
        </p:spPr>
      </p:sp>
      <p:sp>
        <p:nvSpPr>
          <p:cNvPr id="33" name="Text 30"/>
          <p:cNvSpPr txBox="1"/>
          <p:nvPr/>
        </p:nvSpPr>
        <p:spPr>
          <a:xfrm>
            <a:off x="3520440" y="4773168"/>
            <a:ext cx="2194560" cy="640080"/>
          </a:xfrm>
          <a:prstGeom prst="rect">
            <a:avLst/>
          </a:prstGeom>
          <a:noFill/>
          <a:ln/>
        </p:spPr>
        <p:txBody>
          <a:bodyPr wrap="square" lIns="0" tIns="0" rIns="0" bIns="0" rtlCol="0" anchor="ctr"/>
          <a:lstStyle/>
          <a:p>
            <a:pPr marL="0" indent="0">
              <a:buNone/>
            </a:pPr>
            <a:r>
              <a:rPr lang="en-US" sz="2600" b="1" dirty="0">
                <a:solidFill>
                  <a:schemeClr val="accent2"/>
                </a:solidFill>
                <a:latin typeface="Cambria" pitchFamily="34" charset="0"/>
                <a:ea typeface="Cambria" pitchFamily="34" charset="-122"/>
                <a:cs typeface="Cambria" pitchFamily="34" charset="-120"/>
              </a:rPr>
              <a:t>3.97 / 5</a:t>
            </a:r>
            <a:endParaRPr lang="en-US" sz="2600" dirty="0"/>
          </a:p>
        </p:txBody>
      </p:sp>
      <p:sp>
        <p:nvSpPr>
          <p:cNvPr id="34" name="Text 31"/>
          <p:cNvSpPr txBox="1"/>
          <p:nvPr/>
        </p:nvSpPr>
        <p:spPr>
          <a:xfrm>
            <a:off x="3520440" y="5413248"/>
            <a:ext cx="2194560" cy="365760"/>
          </a:xfrm>
          <a:prstGeom prst="rect">
            <a:avLst/>
          </a:prstGeom>
          <a:noFill/>
          <a:ln/>
        </p:spPr>
        <p:txBody>
          <a:bodyPr wrap="square" lIns="0" tIns="0" rIns="0" bIns="0" rtlCol="0" anchor="t"/>
          <a:lstStyle/>
          <a:p>
            <a:pPr marL="0" indent="0">
              <a:buNone/>
            </a:pPr>
            <a:r>
              <a:rPr lang="en-US" sz="1300" dirty="0">
                <a:solidFill>
                  <a:schemeClr val="tx2"/>
                </a:solidFill>
                <a:latin typeface="Calibri" pitchFamily="34" charset="0"/>
                <a:ea typeface="Calibri" pitchFamily="34" charset="-122"/>
                <a:cs typeface="Calibri" pitchFamily="34" charset="-120"/>
              </a:rPr>
              <a:t>Calificación de apps</a:t>
            </a:r>
            <a:endParaRPr lang="en-US" sz="1300" dirty="0"/>
          </a:p>
        </p:txBody>
      </p:sp>
      <p:sp>
        <p:nvSpPr>
          <p:cNvPr id="35" name="Dato 34 min"/>
          <p:cNvSpPr/>
          <p:nvPr/>
        </p:nvSpPr>
        <p:spPr>
          <a:xfrm>
            <a:off x="6126480" y="4663440"/>
            <a:ext cx="2651760" cy="1188720"/>
          </a:xfrm>
          <a:prstGeom prst="roundRect">
            <a:avLst>
              <a:gd name="adj" fmla="val 9231"/>
            </a:avLst>
          </a:prstGeom>
          <a:solidFill>
            <a:schemeClr val="bg2"/>
          </a:solidFill>
          <a:ln w="12700">
            <a:solidFill>
              <a:schemeClr val="bg2"/>
            </a:solidFill>
            <a:prstDash val="solid"/>
          </a:ln>
        </p:spPr>
      </p:sp>
      <p:sp>
        <p:nvSpPr>
          <p:cNvPr id="36" name="Text 33"/>
          <p:cNvSpPr txBox="1"/>
          <p:nvPr/>
        </p:nvSpPr>
        <p:spPr>
          <a:xfrm>
            <a:off x="6355080" y="4773168"/>
            <a:ext cx="2194560" cy="640080"/>
          </a:xfrm>
          <a:prstGeom prst="rect">
            <a:avLst/>
          </a:prstGeom>
          <a:noFill/>
          <a:ln/>
        </p:spPr>
        <p:txBody>
          <a:bodyPr wrap="square" lIns="0" tIns="0" rIns="0" bIns="0" rtlCol="0" anchor="ctr"/>
          <a:lstStyle/>
          <a:p>
            <a:pPr marL="0" indent="0">
              <a:buNone/>
            </a:pPr>
            <a:r>
              <a:rPr lang="en-US" sz="2600" b="1" dirty="0">
                <a:solidFill>
                  <a:schemeClr val="accent1"/>
                </a:solidFill>
                <a:latin typeface="Cambria" pitchFamily="34" charset="0"/>
                <a:ea typeface="Cambria" pitchFamily="34" charset="-122"/>
                <a:cs typeface="Cambria" pitchFamily="34" charset="-120"/>
              </a:rPr>
              <a:t>34 min</a:t>
            </a:r>
            <a:endParaRPr lang="en-US" sz="2600" dirty="0"/>
          </a:p>
        </p:txBody>
      </p:sp>
      <p:sp>
        <p:nvSpPr>
          <p:cNvPr id="37" name="Text 34"/>
          <p:cNvSpPr txBox="1"/>
          <p:nvPr/>
        </p:nvSpPr>
        <p:spPr>
          <a:xfrm>
            <a:off x="6355080" y="5413248"/>
            <a:ext cx="2194560" cy="365760"/>
          </a:xfrm>
          <a:prstGeom prst="rect">
            <a:avLst/>
          </a:prstGeom>
          <a:noFill/>
          <a:ln/>
        </p:spPr>
        <p:txBody>
          <a:bodyPr wrap="square" lIns="0" tIns="0" rIns="0" bIns="0" rtlCol="0" anchor="t"/>
          <a:lstStyle/>
          <a:p>
            <a:pPr marL="0" indent="0">
              <a:buNone/>
            </a:pPr>
            <a:r>
              <a:rPr lang="en-US" sz="1300" dirty="0">
                <a:solidFill>
                  <a:schemeClr val="tx2"/>
                </a:solidFill>
                <a:latin typeface="Calibri" pitchFamily="34" charset="0"/>
                <a:ea typeface="Calibri" pitchFamily="34" charset="-122"/>
                <a:cs typeface="Calibri" pitchFamily="34" charset="-120"/>
              </a:rPr>
              <a:t>Entrega por apps</a:t>
            </a:r>
            <a:endParaRPr lang="en-US" sz="1300" dirty="0"/>
          </a:p>
        </p:txBody>
      </p:sp>
      <p:sp>
        <p:nvSpPr>
          <p:cNvPr id="38" name="Text 35"/>
          <p:cNvSpPr txBox="1"/>
          <p:nvPr/>
        </p:nvSpPr>
        <p:spPr>
          <a:xfrm>
            <a:off x="457200" y="5989320"/>
            <a:ext cx="11247120" cy="320040"/>
          </a:xfrm>
          <a:prstGeom prst="rect">
            <a:avLst/>
          </a:prstGeom>
          <a:noFill/>
          <a:ln/>
        </p:spPr>
        <p:txBody>
          <a:bodyPr wrap="square" lIns="0" tIns="0" rIns="0" bIns="0" rtlCol="0" anchor="t"/>
          <a:lstStyle/>
          <a:p>
            <a:pPr marL="0" indent="0">
              <a:buNone/>
            </a:pPr>
            <a:r>
              <a:rPr lang="en-US" sz="1400" dirty="0">
                <a:solidFill>
                  <a:schemeClr val="tx2"/>
                </a:solidFill>
                <a:latin typeface="Calibri" pitchFamily="34" charset="0"/>
                <a:ea typeface="Calibri" pitchFamily="34" charset="-122"/>
                <a:cs typeface="Calibri" pitchFamily="34" charset="-120"/>
              </a:rPr>
              <a:t>Periodo analizado: octubre de 2025 a septiembre de 2026 · Cada KPI con fuente, fórmula y responsable</a:t>
            </a:r>
            <a:endParaRPr lang="en-US" sz="1400" dirty="0"/>
          </a:p>
        </p:txBody>
      </p:sp>
      <p:sp>
        <p:nvSpPr>
          <p:cNvPr id="4"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1005840"/>
            <a:ext cx="1124712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Dashboard en Power BI</a:t>
            </a:r>
            <a:endParaRPr lang="en-US" sz="3200" dirty="0"/>
          </a:p>
        </p:txBody>
      </p:sp>
      <p:sp>
        <p:nvSpPr>
          <p:cNvPr id="3" name="Text 1"/>
          <p:cNvSpPr txBox="1"/>
          <p:nvPr/>
        </p:nvSpPr>
        <p:spPr>
          <a:xfrm>
            <a:off x="5760720" y="457200"/>
            <a:ext cx="5943600" cy="274320"/>
          </a:xfrm>
          <a:prstGeom prst="rect">
            <a:avLst/>
          </a:prstGeom>
          <a:noFill/>
          <a:ln/>
        </p:spPr>
        <p:txBody>
          <a:bodyPr wrap="square" lIns="0" tIns="0" rIns="0" bIns="0" rtlCol="0" anchor="t"/>
          <a:lstStyle/>
          <a:p>
            <a:pPr marL="0" indent="0" algn="r">
              <a:buNone/>
            </a:pPr>
            <a:r>
              <a:rPr lang="en-US" sz="1200" b="1" kern="0" spc="200" dirty="0">
                <a:solidFill>
                  <a:schemeClr val="accent1"/>
                </a:solidFill>
                <a:latin typeface="Calibri" pitchFamily="34" charset="0"/>
                <a:ea typeface="Calibri" pitchFamily="34" charset="-122"/>
                <a:cs typeface="Calibri" pitchFamily="34" charset="-120"/>
              </a:rPr>
              <a:t>PARTE 2 · DECIDIR CON DATOS</a:t>
            </a:r>
            <a:endParaRPr lang="en-US" sz="1200" dirty="0"/>
          </a:p>
        </p:txBody>
      </p:sp>
      <p:pic>
        <p:nvPicPr>
          <p:cNvPr id="5" name="Image 0" descr="Tablero de Power BI con los KPIs de La Esquina"/>
          <p:cNvPicPr>
            <a:picLocks noChangeAspect="1"/>
          </p:cNvPicPr>
          <p:nvPr/>
        </p:nvPicPr>
        <p:blipFill>
          <a:blip r:embed="rId3"/>
          <a:stretch>
            <a:fillRect/>
          </a:stretch>
        </p:blipFill>
        <p:spPr>
          <a:xfrm>
            <a:off x="457200" y="1965960"/>
            <a:ext cx="7589520" cy="4206240"/>
          </a:xfrm>
          <a:prstGeom prst="rect">
            <a:avLst/>
          </a:prstGeom>
        </p:spPr>
      </p:pic>
      <p:sp>
        <p:nvSpPr>
          <p:cNvPr id="6" name="Pregunta P1"/>
          <p:cNvSpPr/>
          <p:nvPr/>
        </p:nvSpPr>
        <p:spPr>
          <a:xfrm>
            <a:off x="8412480" y="1965960"/>
            <a:ext cx="3291840" cy="1280160"/>
          </a:xfrm>
          <a:prstGeom prst="roundRect">
            <a:avLst>
              <a:gd name="adj" fmla="val 8571"/>
            </a:avLst>
          </a:prstGeom>
          <a:solidFill>
            <a:schemeClr val="bg2"/>
          </a:solidFill>
          <a:ln w="12700">
            <a:solidFill>
              <a:schemeClr val="bg2"/>
            </a:solidFill>
            <a:prstDash val="solid"/>
          </a:ln>
        </p:spPr>
      </p:sp>
      <p:sp>
        <p:nvSpPr>
          <p:cNvPr id="7" name="Text 3"/>
          <p:cNvSpPr txBox="1"/>
          <p:nvPr/>
        </p:nvSpPr>
        <p:spPr>
          <a:xfrm>
            <a:off x="8595360" y="2011680"/>
            <a:ext cx="914400" cy="1188720"/>
          </a:xfrm>
          <a:prstGeom prst="rect">
            <a:avLst/>
          </a:prstGeom>
          <a:noFill/>
          <a:ln/>
        </p:spPr>
        <p:txBody>
          <a:bodyPr wrap="square" lIns="0" tIns="0" rIns="0" bIns="0" rtlCol="0" anchor="ctr"/>
          <a:lstStyle/>
          <a:p>
            <a:pPr marL="0" indent="0">
              <a:buNone/>
            </a:pPr>
            <a:r>
              <a:rPr lang="en-US" sz="3400" b="1" dirty="0">
                <a:solidFill>
                  <a:schemeClr val="accent1"/>
                </a:solidFill>
                <a:latin typeface="Cambria" pitchFamily="34" charset="0"/>
                <a:ea typeface="Cambria" pitchFamily="34" charset="-122"/>
                <a:cs typeface="Cambria" pitchFamily="34" charset="-120"/>
              </a:rPr>
              <a:t>P1</a:t>
            </a:r>
            <a:endParaRPr lang="en-US" sz="3400" dirty="0"/>
          </a:p>
        </p:txBody>
      </p:sp>
      <p:sp>
        <p:nvSpPr>
          <p:cNvPr id="8" name="Text 4"/>
          <p:cNvSpPr txBox="1"/>
          <p:nvPr/>
        </p:nvSpPr>
        <p:spPr>
          <a:xfrm>
            <a:off x="9555480" y="2011680"/>
            <a:ext cx="2057400" cy="1188720"/>
          </a:xfrm>
          <a:prstGeom prst="rect">
            <a:avLst/>
          </a:prstGeom>
          <a:noFill/>
          <a:ln/>
        </p:spPr>
        <p:txBody>
          <a:bodyPr wrap="square" lIns="0" tIns="0" rIns="0" bIns="0" rtlCol="0" anchor="ctr"/>
          <a:lstStyle/>
          <a:p>
            <a:pPr marL="0" indent="0">
              <a:buNone/>
            </a:pPr>
            <a:r>
              <a:rPr lang="en-US" sz="1500" b="1" dirty="0">
                <a:solidFill>
                  <a:schemeClr val="tx1"/>
                </a:solidFill>
                <a:latin typeface="Calibri" pitchFamily="34" charset="0"/>
                <a:ea typeface="Calibri" pitchFamily="34" charset="-122"/>
                <a:cs typeface="Calibri" pitchFamily="34" charset="-120"/>
              </a:rPr>
              <a:t>Top 8 de platos y ventas por categoría</a:t>
            </a:r>
            <a:endParaRPr lang="en-US" sz="1500" dirty="0"/>
          </a:p>
        </p:txBody>
      </p:sp>
      <p:sp>
        <p:nvSpPr>
          <p:cNvPr id="9" name="Pregunta P2"/>
          <p:cNvSpPr/>
          <p:nvPr/>
        </p:nvSpPr>
        <p:spPr>
          <a:xfrm>
            <a:off x="8412480" y="3383280"/>
            <a:ext cx="3291840" cy="1280160"/>
          </a:xfrm>
          <a:prstGeom prst="roundRect">
            <a:avLst>
              <a:gd name="adj" fmla="val 8571"/>
            </a:avLst>
          </a:prstGeom>
          <a:solidFill>
            <a:schemeClr val="bg2"/>
          </a:solidFill>
          <a:ln w="12700">
            <a:solidFill>
              <a:schemeClr val="bg2"/>
            </a:solidFill>
            <a:prstDash val="solid"/>
          </a:ln>
        </p:spPr>
      </p:sp>
      <p:sp>
        <p:nvSpPr>
          <p:cNvPr id="10" name="Text 6"/>
          <p:cNvSpPr txBox="1"/>
          <p:nvPr/>
        </p:nvSpPr>
        <p:spPr>
          <a:xfrm>
            <a:off x="8595360" y="3429000"/>
            <a:ext cx="914400" cy="1188720"/>
          </a:xfrm>
          <a:prstGeom prst="rect">
            <a:avLst/>
          </a:prstGeom>
          <a:noFill/>
          <a:ln/>
        </p:spPr>
        <p:txBody>
          <a:bodyPr wrap="square" lIns="0" tIns="0" rIns="0" bIns="0" rtlCol="0" anchor="ctr"/>
          <a:lstStyle/>
          <a:p>
            <a:pPr marL="0" indent="0">
              <a:buNone/>
            </a:pPr>
            <a:r>
              <a:rPr lang="en-US" sz="3400" b="1" dirty="0">
                <a:solidFill>
                  <a:schemeClr val="accent2"/>
                </a:solidFill>
                <a:latin typeface="Cambria" pitchFamily="34" charset="0"/>
                <a:ea typeface="Cambria" pitchFamily="34" charset="-122"/>
                <a:cs typeface="Cambria" pitchFamily="34" charset="-120"/>
              </a:rPr>
              <a:t>P2</a:t>
            </a:r>
            <a:endParaRPr lang="en-US" sz="3400" dirty="0"/>
          </a:p>
        </p:txBody>
      </p:sp>
      <p:sp>
        <p:nvSpPr>
          <p:cNvPr id="11" name="Text 7"/>
          <p:cNvSpPr txBox="1"/>
          <p:nvPr/>
        </p:nvSpPr>
        <p:spPr>
          <a:xfrm>
            <a:off x="9555480" y="3429000"/>
            <a:ext cx="2057400" cy="1188720"/>
          </a:xfrm>
          <a:prstGeom prst="rect">
            <a:avLst/>
          </a:prstGeom>
          <a:noFill/>
          <a:ln/>
        </p:spPr>
        <p:txBody>
          <a:bodyPr wrap="square" lIns="0" tIns="0" rIns="0" bIns="0" rtlCol="0" anchor="ctr"/>
          <a:lstStyle/>
          <a:p>
            <a:pPr marL="0" indent="0">
              <a:buNone/>
            </a:pPr>
            <a:r>
              <a:rPr lang="en-US" sz="1500" b="1" dirty="0">
                <a:solidFill>
                  <a:schemeClr val="tx1"/>
                </a:solidFill>
                <a:latin typeface="Calibri" pitchFamily="34" charset="0"/>
                <a:ea typeface="Calibri" pitchFamily="34" charset="-122"/>
                <a:cs typeface="Calibri" pitchFamily="34" charset="-120"/>
              </a:rPr>
              <a:t>Mapa de calor por día y turno</a:t>
            </a:r>
            <a:endParaRPr lang="en-US" sz="1500" dirty="0"/>
          </a:p>
        </p:txBody>
      </p:sp>
      <p:sp>
        <p:nvSpPr>
          <p:cNvPr id="12" name="Pregunta P3"/>
          <p:cNvSpPr/>
          <p:nvPr/>
        </p:nvSpPr>
        <p:spPr>
          <a:xfrm>
            <a:off x="8412480" y="4800600"/>
            <a:ext cx="3291840" cy="1280160"/>
          </a:xfrm>
          <a:prstGeom prst="roundRect">
            <a:avLst>
              <a:gd name="adj" fmla="val 8571"/>
            </a:avLst>
          </a:prstGeom>
          <a:solidFill>
            <a:schemeClr val="bg2"/>
          </a:solidFill>
          <a:ln w="12700">
            <a:solidFill>
              <a:schemeClr val="bg2"/>
            </a:solidFill>
            <a:prstDash val="solid"/>
          </a:ln>
        </p:spPr>
      </p:sp>
      <p:sp>
        <p:nvSpPr>
          <p:cNvPr id="13" name="Text 9"/>
          <p:cNvSpPr txBox="1"/>
          <p:nvPr/>
        </p:nvSpPr>
        <p:spPr>
          <a:xfrm>
            <a:off x="8595360" y="4846320"/>
            <a:ext cx="914400" cy="1188720"/>
          </a:xfrm>
          <a:prstGeom prst="rect">
            <a:avLst/>
          </a:prstGeom>
          <a:noFill/>
          <a:ln/>
        </p:spPr>
        <p:txBody>
          <a:bodyPr wrap="square" lIns="0" tIns="0" rIns="0" bIns="0" rtlCol="0" anchor="ctr"/>
          <a:lstStyle/>
          <a:p>
            <a:pPr marL="0" indent="0">
              <a:buNone/>
            </a:pPr>
            <a:r>
              <a:rPr lang="en-US" sz="3400" b="1" dirty="0">
                <a:solidFill>
                  <a:schemeClr val="accent1"/>
                </a:solidFill>
                <a:latin typeface="Cambria" pitchFamily="34" charset="0"/>
                <a:ea typeface="Cambria" pitchFamily="34" charset="-122"/>
                <a:cs typeface="Cambria" pitchFamily="34" charset="-120"/>
              </a:rPr>
              <a:t>P3</a:t>
            </a:r>
            <a:endParaRPr lang="en-US" sz="3400" dirty="0"/>
          </a:p>
        </p:txBody>
      </p:sp>
      <p:sp>
        <p:nvSpPr>
          <p:cNvPr id="14" name="Text 10"/>
          <p:cNvSpPr txBox="1"/>
          <p:nvPr/>
        </p:nvSpPr>
        <p:spPr>
          <a:xfrm>
            <a:off x="9555480" y="4846320"/>
            <a:ext cx="2057400" cy="1188720"/>
          </a:xfrm>
          <a:prstGeom prst="rect">
            <a:avLst/>
          </a:prstGeom>
          <a:noFill/>
          <a:ln/>
        </p:spPr>
        <p:txBody>
          <a:bodyPr wrap="square" lIns="0" tIns="0" rIns="0" bIns="0" rtlCol="0" anchor="ctr"/>
          <a:lstStyle/>
          <a:p>
            <a:pPr marL="0" indent="0">
              <a:buNone/>
            </a:pPr>
            <a:r>
              <a:rPr lang="en-US" sz="1500" b="1" dirty="0">
                <a:solidFill>
                  <a:schemeClr val="tx1"/>
                </a:solidFill>
                <a:latin typeface="Calibri" pitchFamily="34" charset="0"/>
                <a:ea typeface="Calibri" pitchFamily="34" charset="-122"/>
                <a:cs typeface="Calibri" pitchFamily="34" charset="-120"/>
              </a:rPr>
              <a:t>Ventas por canal y comisiones de las apps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1005840"/>
            <a:ext cx="1124712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Análisis OLAP: 5 operaciones</a:t>
            </a:r>
            <a:endParaRPr lang="en-US" sz="3200" dirty="0"/>
          </a:p>
        </p:txBody>
      </p:sp>
      <p:sp>
        <p:nvSpPr>
          <p:cNvPr id="3" name="Text 1"/>
          <p:cNvSpPr txBox="1"/>
          <p:nvPr/>
        </p:nvSpPr>
        <p:spPr>
          <a:xfrm>
            <a:off x="5760720" y="457200"/>
            <a:ext cx="5943600" cy="274320"/>
          </a:xfrm>
          <a:prstGeom prst="rect">
            <a:avLst/>
          </a:prstGeom>
          <a:noFill/>
          <a:ln/>
        </p:spPr>
        <p:txBody>
          <a:bodyPr wrap="square" lIns="0" tIns="0" rIns="0" bIns="0" rtlCol="0" anchor="t"/>
          <a:lstStyle/>
          <a:p>
            <a:pPr marL="0" indent="0" algn="r">
              <a:buNone/>
            </a:pPr>
            <a:r>
              <a:rPr lang="en-US" sz="1200" b="1" kern="0" spc="200" dirty="0">
                <a:solidFill>
                  <a:schemeClr val="accent1"/>
                </a:solidFill>
                <a:latin typeface="Calibri" pitchFamily="34" charset="0"/>
                <a:ea typeface="Calibri" pitchFamily="34" charset="-122"/>
                <a:cs typeface="Calibri" pitchFamily="34" charset="-120"/>
              </a:rPr>
              <a:t>PARTE 2 · DECIDIR CON DATOS</a:t>
            </a:r>
            <a:endParaRPr lang="en-US" sz="1200" dirty="0"/>
          </a:p>
        </p:txBody>
      </p:sp>
      <p:sp>
        <p:nvSpPr>
          <p:cNvPr id="5" name="Text 2"/>
          <p:cNvSpPr txBox="1"/>
          <p:nvPr/>
        </p:nvSpPr>
        <p:spPr>
          <a:xfrm>
            <a:off x="457200" y="1965960"/>
            <a:ext cx="5486400" cy="320040"/>
          </a:xfrm>
          <a:prstGeom prst="rect">
            <a:avLst/>
          </a:prstGeom>
          <a:noFill/>
          <a:ln/>
        </p:spPr>
        <p:txBody>
          <a:bodyPr wrap="square" lIns="0" tIns="0" rIns="0" bIns="0" rtlCol="0" anchor="t"/>
          <a:lstStyle/>
          <a:p>
            <a:pPr marL="0" indent="0">
              <a:buNone/>
            </a:pPr>
            <a:r>
              <a:rPr lang="en-US" sz="1600" b="1" dirty="0">
                <a:solidFill>
                  <a:schemeClr val="tx1"/>
                </a:solidFill>
                <a:latin typeface="Calibri" pitchFamily="34" charset="0"/>
                <a:ea typeface="Calibri" pitchFamily="34" charset="-122"/>
                <a:cs typeface="Calibri" pitchFamily="34" charset="-120"/>
              </a:rPr>
              <a:t>Roll-up: ventas netas por trimestre (S/)</a:t>
            </a:r>
            <a:endParaRPr lang="en-US" sz="1600" dirty="0"/>
          </a:p>
        </p:txBody>
      </p:sp>
      <p:graphicFrame>
        <p:nvGraphicFramePr>
          <p:cNvPr id="6" name="Chart 0"/>
          <p:cNvGraphicFramePr/>
          <p:nvPr/>
        </p:nvGraphicFramePr>
        <p:xfrm>
          <a:off x="365760" y="2331720"/>
          <a:ext cx="5669280" cy="301752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3"/>
          <p:cNvSpPr txBox="1"/>
          <p:nvPr/>
        </p:nvSpPr>
        <p:spPr>
          <a:xfrm>
            <a:off x="6309360" y="1965960"/>
            <a:ext cx="5394960" cy="320040"/>
          </a:xfrm>
          <a:prstGeom prst="rect">
            <a:avLst/>
          </a:prstGeom>
          <a:noFill/>
          <a:ln/>
        </p:spPr>
        <p:txBody>
          <a:bodyPr wrap="square" lIns="0" tIns="0" rIns="0" bIns="0" rtlCol="0" anchor="t"/>
          <a:lstStyle/>
          <a:p>
            <a:pPr marL="0" indent="0">
              <a:buNone/>
            </a:pPr>
            <a:r>
              <a:rPr lang="en-US" sz="1600" b="1" dirty="0">
                <a:solidFill>
                  <a:schemeClr val="tx1"/>
                </a:solidFill>
                <a:latin typeface="Calibri" pitchFamily="34" charset="0"/>
                <a:ea typeface="Calibri" pitchFamily="34" charset="-122"/>
                <a:cs typeface="Calibri" pitchFamily="34" charset="-120"/>
              </a:rPr>
              <a:t>Drill-down: Ceviches → platos (S/)</a:t>
            </a:r>
            <a:endParaRPr lang="en-US" sz="1600" dirty="0"/>
          </a:p>
        </p:txBody>
      </p:sp>
      <p:graphicFrame>
        <p:nvGraphicFramePr>
          <p:cNvPr id="17" name="Tabla drill-down"/>
          <p:cNvGraphicFramePr>
            <a:graphicFrameLocks noGrp="1"/>
          </p:cNvGraphicFramePr>
          <p:nvPr>
            <p:extLst>
              <p:ext uri="{D42A27DB-BD31-4B8C-83A1-F6EECF244321}">
                <p14:modId xmlns:p14="http://schemas.microsoft.com/office/powerpoint/2010/main" val="1579011935"/>
              </p:ext>
            </p:extLst>
          </p:nvPr>
        </p:nvGraphicFramePr>
        <p:xfrm>
          <a:off x="6309360" y="2377440"/>
          <a:ext cx="5394960" cy="2743200"/>
        </p:xfrm>
        <a:graphic>
          <a:graphicData uri="http://schemas.openxmlformats.org/drawingml/2006/table">
            <a:tbl>
              <a:tblPr/>
              <a:tblGrid>
                <a:gridCol w="365760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tblGrid>
              <a:tr h="457200">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Plato</a:t>
                      </a:r>
                      <a:endParaRPr lang="en-US" sz="14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111111"/>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Ventas netas</a:t>
                      </a:r>
                      <a:endParaRPr lang="en-US" sz="14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111111"/>
                    </a:solidFill>
                  </a:tcPr>
                </a:tc>
                <a:extLst>
                  <a:ext uri="{0D108BD9-81ED-4DB2-BD59-A6C34878D82A}">
                    <a16:rowId xmlns:a16="http://schemas.microsoft.com/office/drawing/2014/main" val="10000"/>
                  </a:ext>
                </a:extLst>
              </a:tr>
              <a:tr h="457200">
                <a:tc>
                  <a:txBody>
                    <a:bodyPr/>
                    <a:lstStyle/>
                    <a:p>
                      <a:pPr marL="0" indent="0">
                        <a:buNone/>
                      </a:pPr>
                      <a:r>
                        <a:rPr lang="en-US" sz="1300" dirty="0">
                          <a:solidFill>
                            <a:srgbClr val="111111"/>
                          </a:solidFill>
                          <a:latin typeface="Calibri" pitchFamily="34" charset="0"/>
                          <a:ea typeface="Calibri" pitchFamily="34" charset="-122"/>
                          <a:cs typeface="Calibri" pitchFamily="34" charset="-120"/>
                        </a:rPr>
                        <a:t>Tiradito Nikkei</a:t>
                      </a:r>
                      <a:endParaRPr lang="en-US" sz="13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lgn="r">
                        <a:buNone/>
                      </a:pPr>
                      <a:r>
                        <a:rPr lang="en-US" sz="1300" b="1" dirty="0">
                          <a:solidFill>
                            <a:srgbClr val="111111"/>
                          </a:solidFill>
                          <a:latin typeface="Calibri" pitchFamily="34" charset="0"/>
                          <a:ea typeface="Calibri" pitchFamily="34" charset="-122"/>
                          <a:cs typeface="Calibri" pitchFamily="34" charset="-120"/>
                        </a:rPr>
                        <a:t>135 945</a:t>
                      </a:r>
                      <a:endParaRPr lang="en-US" sz="13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300" dirty="0">
                          <a:solidFill>
                            <a:srgbClr val="111111"/>
                          </a:solidFill>
                          <a:latin typeface="Calibri" pitchFamily="34" charset="0"/>
                          <a:ea typeface="Calibri" pitchFamily="34" charset="-122"/>
                          <a:cs typeface="Calibri" pitchFamily="34" charset="-120"/>
                        </a:rPr>
                        <a:t>Ceviche Mixto</a:t>
                      </a:r>
                      <a:endParaRPr lang="en-US" sz="13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lgn="r">
                        <a:buNone/>
                      </a:pPr>
                      <a:r>
                        <a:rPr lang="en-US" sz="1300" b="1" dirty="0">
                          <a:solidFill>
                            <a:srgbClr val="111111"/>
                          </a:solidFill>
                          <a:latin typeface="Calibri" pitchFamily="34" charset="0"/>
                          <a:ea typeface="Calibri" pitchFamily="34" charset="-122"/>
                          <a:cs typeface="Calibri" pitchFamily="34" charset="-120"/>
                        </a:rPr>
                        <a:t>101 225</a:t>
                      </a:r>
                      <a:endParaRPr lang="en-US" sz="13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300" dirty="0">
                          <a:solidFill>
                            <a:srgbClr val="111111"/>
                          </a:solidFill>
                          <a:latin typeface="Calibri" pitchFamily="34" charset="0"/>
                          <a:ea typeface="Calibri" pitchFamily="34" charset="-122"/>
                          <a:cs typeface="Calibri" pitchFamily="34" charset="-120"/>
                        </a:rPr>
                        <a:t>Ceviche Carretillero</a:t>
                      </a:r>
                      <a:endParaRPr lang="en-US" sz="13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lgn="r">
                        <a:buNone/>
                      </a:pPr>
                      <a:r>
                        <a:rPr lang="en-US" sz="1300" b="1" dirty="0">
                          <a:solidFill>
                            <a:srgbClr val="111111"/>
                          </a:solidFill>
                          <a:latin typeface="Calibri" pitchFamily="34" charset="0"/>
                          <a:ea typeface="Calibri" pitchFamily="34" charset="-122"/>
                          <a:cs typeface="Calibri" pitchFamily="34" charset="-120"/>
                        </a:rPr>
                        <a:t>89 221</a:t>
                      </a:r>
                      <a:endParaRPr lang="en-US" sz="13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300" dirty="0">
                          <a:solidFill>
                            <a:srgbClr val="111111"/>
                          </a:solidFill>
                          <a:latin typeface="Calibri" pitchFamily="34" charset="0"/>
                          <a:ea typeface="Calibri" pitchFamily="34" charset="-122"/>
                          <a:cs typeface="Calibri" pitchFamily="34" charset="-120"/>
                        </a:rPr>
                        <a:t>Ceviche de Camarón</a:t>
                      </a:r>
                      <a:endParaRPr lang="en-US" sz="13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lgn="r">
                        <a:buNone/>
                      </a:pPr>
                      <a:r>
                        <a:rPr lang="en-US" sz="1300" b="1" dirty="0">
                          <a:solidFill>
                            <a:srgbClr val="111111"/>
                          </a:solidFill>
                          <a:latin typeface="Calibri" pitchFamily="34" charset="0"/>
                          <a:ea typeface="Calibri" pitchFamily="34" charset="-122"/>
                          <a:cs typeface="Calibri" pitchFamily="34" charset="-120"/>
                        </a:rPr>
                        <a:t>86 321</a:t>
                      </a:r>
                      <a:endParaRPr lang="en-US" sz="13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300" dirty="0">
                          <a:solidFill>
                            <a:srgbClr val="111111"/>
                          </a:solidFill>
                          <a:latin typeface="Calibri" pitchFamily="34" charset="0"/>
                          <a:ea typeface="Calibri" pitchFamily="34" charset="-122"/>
                          <a:cs typeface="Calibri" pitchFamily="34" charset="-120"/>
                        </a:rPr>
                        <a:t>Ceviche de Conchas Negras</a:t>
                      </a:r>
                      <a:endParaRPr lang="en-US" sz="13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lgn="r">
                        <a:buNone/>
                      </a:pPr>
                      <a:r>
                        <a:rPr lang="en-US" sz="1300" b="1" dirty="0">
                          <a:solidFill>
                            <a:srgbClr val="111111"/>
                          </a:solidFill>
                          <a:latin typeface="Calibri" pitchFamily="34" charset="0"/>
                          <a:ea typeface="Calibri" pitchFamily="34" charset="-122"/>
                          <a:cs typeface="Calibri" pitchFamily="34" charset="-120"/>
                        </a:rPr>
                        <a:t>80 477</a:t>
                      </a:r>
                      <a:endParaRPr lang="en-US" sz="1300" dirty="0">
                        <a:latin typeface="Calibri" charset="0"/>
                        <a:ea typeface="Calibri" charset="0"/>
                        <a:cs typeface="Calibri" charset="0"/>
                      </a:endParaRPr>
                    </a:p>
                  </a:txBody>
                  <a:tcPr marL="109728" marR="109728" marT="27432" marB="27432"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9" name="Chip Slice"/>
          <p:cNvSpPr/>
          <p:nvPr/>
        </p:nvSpPr>
        <p:spPr>
          <a:xfrm>
            <a:off x="457200" y="5486400"/>
            <a:ext cx="2194560" cy="685800"/>
          </a:xfrm>
          <a:prstGeom prst="roundRect">
            <a:avLst>
              <a:gd name="adj" fmla="val 16000"/>
            </a:avLst>
          </a:prstGeom>
          <a:solidFill>
            <a:schemeClr val="tx1"/>
          </a:solidFill>
          <a:ln w="12700">
            <a:solidFill>
              <a:schemeClr val="tx1"/>
            </a:solidFill>
            <a:prstDash val="solid"/>
          </a:ln>
        </p:spPr>
      </p:sp>
      <p:sp>
        <p:nvSpPr>
          <p:cNvPr id="10" name="Text 5"/>
          <p:cNvSpPr txBox="1"/>
          <p:nvPr/>
        </p:nvSpPr>
        <p:spPr>
          <a:xfrm>
            <a:off x="594360" y="5486400"/>
            <a:ext cx="1920240" cy="685800"/>
          </a:xfrm>
          <a:prstGeom prst="rect">
            <a:avLst/>
          </a:prstGeom>
          <a:noFill/>
          <a:ln/>
        </p:spPr>
        <p:txBody>
          <a:bodyPr wrap="square" lIns="0" tIns="0" rIns="0" bIns="0" rtlCol="0" anchor="ctr"/>
          <a:lstStyle/>
          <a:p>
            <a:pPr marL="0" indent="0">
              <a:buNone/>
            </a:pPr>
            <a:r>
              <a:rPr lang="en-US" sz="1300" b="1" dirty="0">
                <a:solidFill>
                  <a:schemeClr val="bg1"/>
                </a:solidFill>
                <a:latin typeface="Calibri" pitchFamily="34" charset="0"/>
                <a:ea typeface="Calibri" pitchFamily="34" charset="-122"/>
                <a:cs typeface="Calibri" pitchFamily="34" charset="-120"/>
              </a:rPr>
              <a:t>Slice: Canal PedidosYa</a:t>
            </a:r>
            <a:endParaRPr lang="en-US" sz="1300" dirty="0"/>
          </a:p>
        </p:txBody>
      </p:sp>
      <p:sp>
        <p:nvSpPr>
          <p:cNvPr id="11" name="Chip Dice"/>
          <p:cNvSpPr/>
          <p:nvPr/>
        </p:nvSpPr>
        <p:spPr>
          <a:xfrm>
            <a:off x="2834640" y="5486400"/>
            <a:ext cx="5577840" cy="685800"/>
          </a:xfrm>
          <a:prstGeom prst="roundRect">
            <a:avLst>
              <a:gd name="adj" fmla="val 16000"/>
            </a:avLst>
          </a:prstGeom>
          <a:solidFill>
            <a:schemeClr val="tx1"/>
          </a:solidFill>
          <a:ln w="12700">
            <a:solidFill>
              <a:schemeClr val="tx1"/>
            </a:solidFill>
            <a:prstDash val="solid"/>
          </a:ln>
        </p:spPr>
      </p:sp>
      <p:sp>
        <p:nvSpPr>
          <p:cNvPr id="12" name="Text 7"/>
          <p:cNvSpPr txBox="1"/>
          <p:nvPr/>
        </p:nvSpPr>
        <p:spPr>
          <a:xfrm>
            <a:off x="2971800" y="5486400"/>
            <a:ext cx="5303520" cy="685800"/>
          </a:xfrm>
          <a:prstGeom prst="rect">
            <a:avLst/>
          </a:prstGeom>
          <a:noFill/>
          <a:ln/>
        </p:spPr>
        <p:txBody>
          <a:bodyPr wrap="square" lIns="0" tIns="0" rIns="0" bIns="0" rtlCol="0" anchor="ctr"/>
          <a:lstStyle/>
          <a:p>
            <a:pPr marL="0" indent="0">
              <a:buNone/>
            </a:pPr>
            <a:r>
              <a:rPr lang="en-US" sz="1300" b="1" dirty="0">
                <a:solidFill>
                  <a:schemeClr val="bg1"/>
                </a:solidFill>
                <a:latin typeface="Calibri" pitchFamily="34" charset="0"/>
                <a:ea typeface="Calibri" pitchFamily="34" charset="-122"/>
                <a:cs typeface="Calibri" pitchFamily="34" charset="-120"/>
              </a:rPr>
              <a:t>Dice: T1 2026 · Ceviches y Arroces · Yape y Plin = S/ 86 153</a:t>
            </a:r>
            <a:endParaRPr lang="en-US" sz="1300" dirty="0"/>
          </a:p>
        </p:txBody>
      </p:sp>
      <p:sp>
        <p:nvSpPr>
          <p:cNvPr id="13" name="Chip Pivot"/>
          <p:cNvSpPr/>
          <p:nvPr/>
        </p:nvSpPr>
        <p:spPr>
          <a:xfrm>
            <a:off x="8595360" y="5486400"/>
            <a:ext cx="3566160" cy="685800"/>
          </a:xfrm>
          <a:prstGeom prst="roundRect">
            <a:avLst>
              <a:gd name="adj" fmla="val 16000"/>
            </a:avLst>
          </a:prstGeom>
          <a:solidFill>
            <a:schemeClr val="tx1"/>
          </a:solidFill>
          <a:ln w="12700">
            <a:solidFill>
              <a:schemeClr val="tx1"/>
            </a:solidFill>
            <a:prstDash val="solid"/>
          </a:ln>
        </p:spPr>
      </p:sp>
      <p:sp>
        <p:nvSpPr>
          <p:cNvPr id="14" name="Text 9"/>
          <p:cNvSpPr txBox="1"/>
          <p:nvPr/>
        </p:nvSpPr>
        <p:spPr>
          <a:xfrm>
            <a:off x="8732520" y="5486400"/>
            <a:ext cx="3291840" cy="685800"/>
          </a:xfrm>
          <a:prstGeom prst="rect">
            <a:avLst/>
          </a:prstGeom>
          <a:noFill/>
          <a:ln/>
        </p:spPr>
        <p:txBody>
          <a:bodyPr wrap="square" lIns="0" tIns="0" rIns="0" bIns="0" rtlCol="0" anchor="ctr"/>
          <a:lstStyle/>
          <a:p>
            <a:pPr marL="0" indent="0">
              <a:buNone/>
            </a:pPr>
            <a:r>
              <a:rPr lang="en-US" sz="1300" b="1" dirty="0">
                <a:solidFill>
                  <a:schemeClr val="bg1"/>
                </a:solidFill>
                <a:latin typeface="Calibri" pitchFamily="34" charset="0"/>
                <a:ea typeface="Calibri" pitchFamily="34" charset="-122"/>
                <a:cs typeface="Calibri" pitchFamily="34" charset="-120"/>
              </a:rPr>
              <a:t>Pivot: Día × turno</a:t>
            </a:r>
            <a:endParaRPr lang="en-US" sz="13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1005840"/>
            <a:ext cx="1124712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Conclusiones del dashboard</a:t>
            </a:r>
            <a:endParaRPr lang="en-US" sz="3200" dirty="0"/>
          </a:p>
        </p:txBody>
      </p:sp>
      <p:sp>
        <p:nvSpPr>
          <p:cNvPr id="3" name="Text 1"/>
          <p:cNvSpPr txBox="1"/>
          <p:nvPr/>
        </p:nvSpPr>
        <p:spPr>
          <a:xfrm>
            <a:off x="5760720" y="457200"/>
            <a:ext cx="5943600" cy="274320"/>
          </a:xfrm>
          <a:prstGeom prst="rect">
            <a:avLst/>
          </a:prstGeom>
          <a:noFill/>
          <a:ln/>
        </p:spPr>
        <p:txBody>
          <a:bodyPr wrap="square" lIns="0" tIns="0" rIns="0" bIns="0" rtlCol="0" anchor="t"/>
          <a:lstStyle/>
          <a:p>
            <a:pPr marL="0" indent="0" algn="r">
              <a:buNone/>
            </a:pPr>
            <a:r>
              <a:rPr lang="en-US" sz="1200" b="1" kern="0" spc="200" dirty="0">
                <a:solidFill>
                  <a:schemeClr val="accent1"/>
                </a:solidFill>
                <a:latin typeface="Calibri" pitchFamily="34" charset="0"/>
                <a:ea typeface="Calibri" pitchFamily="34" charset="-122"/>
                <a:cs typeface="Calibri" pitchFamily="34" charset="-120"/>
              </a:rPr>
              <a:t>PARTE 2 · DECIDIR CON DATOS</a:t>
            </a:r>
            <a:endParaRPr lang="en-US" sz="1200" dirty="0"/>
          </a:p>
        </p:txBody>
      </p:sp>
      <p:sp>
        <p:nvSpPr>
          <p:cNvPr id="5" name="Tarjeta P1 · Qué vender"/>
          <p:cNvSpPr/>
          <p:nvPr/>
        </p:nvSpPr>
        <p:spPr>
          <a:xfrm>
            <a:off x="457200" y="2011680"/>
            <a:ext cx="3657600" cy="4114800"/>
          </a:xfrm>
          <a:prstGeom prst="roundRect">
            <a:avLst>
              <a:gd name="adj" fmla="val 3000"/>
            </a:avLst>
          </a:prstGeom>
          <a:solidFill>
            <a:schemeClr val="bg2"/>
          </a:solidFill>
          <a:ln w="12700">
            <a:solidFill>
              <a:schemeClr val="bg2"/>
            </a:solidFill>
            <a:prstDash val="solid"/>
          </a:ln>
        </p:spPr>
      </p:sp>
      <p:sp>
        <p:nvSpPr>
          <p:cNvPr id="6" name="Franja P1 · Qué vender"/>
          <p:cNvSpPr/>
          <p:nvPr/>
        </p:nvSpPr>
        <p:spPr>
          <a:xfrm>
            <a:off x="457200" y="2011680"/>
            <a:ext cx="3657600" cy="91440"/>
          </a:xfrm>
          <a:prstGeom prst="rect">
            <a:avLst/>
          </a:prstGeom>
          <a:solidFill>
            <a:srgbClr val="D7263D"/>
          </a:solidFill>
          <a:ln w="12700">
            <a:solidFill>
              <a:srgbClr val="D7263D"/>
            </a:solidFill>
            <a:prstDash val="solid"/>
          </a:ln>
        </p:spPr>
      </p:sp>
      <p:sp>
        <p:nvSpPr>
          <p:cNvPr id="7" name="Text 4"/>
          <p:cNvSpPr txBox="1"/>
          <p:nvPr/>
        </p:nvSpPr>
        <p:spPr>
          <a:xfrm>
            <a:off x="731520" y="2286000"/>
            <a:ext cx="3108960" cy="36576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P1 · Qué vender</a:t>
            </a:r>
            <a:endParaRPr lang="en-US" sz="1600" dirty="0"/>
          </a:p>
        </p:txBody>
      </p:sp>
      <p:sp>
        <p:nvSpPr>
          <p:cNvPr id="8" name="Text 5"/>
          <p:cNvSpPr txBox="1"/>
          <p:nvPr/>
        </p:nvSpPr>
        <p:spPr>
          <a:xfrm>
            <a:off x="731520" y="2697480"/>
            <a:ext cx="3108960" cy="868680"/>
          </a:xfrm>
          <a:prstGeom prst="rect">
            <a:avLst/>
          </a:prstGeom>
          <a:noFill/>
          <a:ln/>
        </p:spPr>
        <p:txBody>
          <a:bodyPr wrap="square" lIns="0" tIns="0" rIns="0" bIns="0" rtlCol="0" anchor="ctr"/>
          <a:lstStyle/>
          <a:p>
            <a:pPr marL="0" indent="0">
              <a:buNone/>
            </a:pPr>
            <a:r>
              <a:rPr lang="en-US" sz="5000" b="1" dirty="0">
                <a:solidFill>
                  <a:srgbClr val="D7263D"/>
                </a:solidFill>
                <a:latin typeface="Cambria" pitchFamily="34" charset="0"/>
                <a:ea typeface="Cambria" pitchFamily="34" charset="-122"/>
                <a:cs typeface="Cambria" pitchFamily="34" charset="-120"/>
              </a:rPr>
              <a:t>40.1 %</a:t>
            </a:r>
            <a:endParaRPr lang="en-US" sz="5000" dirty="0"/>
          </a:p>
        </p:txBody>
      </p:sp>
      <p:sp>
        <p:nvSpPr>
          <p:cNvPr id="9" name="Text 6"/>
          <p:cNvSpPr txBox="1"/>
          <p:nvPr/>
        </p:nvSpPr>
        <p:spPr>
          <a:xfrm>
            <a:off x="731520" y="3611880"/>
            <a:ext cx="3108960" cy="640080"/>
          </a:xfrm>
          <a:prstGeom prst="rect">
            <a:avLst/>
          </a:prstGeom>
          <a:noFill/>
          <a:ln/>
        </p:spPr>
        <p:txBody>
          <a:bodyPr wrap="square" lIns="0" tIns="0" rIns="0" bIns="0" rtlCol="0" anchor="t"/>
          <a:lstStyle/>
          <a:p>
            <a:pPr marL="0" indent="0">
              <a:buNone/>
            </a:pPr>
            <a:r>
              <a:rPr lang="en-US" sz="1500" b="1" dirty="0">
                <a:solidFill>
                  <a:schemeClr val="tx1"/>
                </a:solidFill>
                <a:latin typeface="Calibri" pitchFamily="34" charset="0"/>
                <a:ea typeface="Calibri" pitchFamily="34" charset="-122"/>
                <a:cs typeface="Calibri" pitchFamily="34" charset="-120"/>
              </a:rPr>
              <a:t>de las ventas viene de los ceviches</a:t>
            </a:r>
            <a:endParaRPr lang="en-US" sz="1500" dirty="0"/>
          </a:p>
        </p:txBody>
      </p:sp>
      <p:sp>
        <p:nvSpPr>
          <p:cNvPr id="10" name="Text 7"/>
          <p:cNvSpPr txBox="1"/>
          <p:nvPr/>
        </p:nvSpPr>
        <p:spPr>
          <a:xfrm>
            <a:off x="731520" y="4389120"/>
            <a:ext cx="3108960" cy="1554480"/>
          </a:xfrm>
          <a:prstGeom prst="rect">
            <a:avLst/>
          </a:prstGeom>
          <a:noFill/>
          <a:ln/>
        </p:spPr>
        <p:txBody>
          <a:bodyPr wrap="square" lIns="0" tIns="0" rIns="0" bIns="0" rtlCol="0" anchor="t"/>
          <a:lstStyle/>
          <a:p>
            <a:pPr marL="0" indent="0">
              <a:buNone/>
            </a:pPr>
            <a:r>
              <a:rPr lang="en-US" sz="1400" dirty="0">
                <a:solidFill>
                  <a:schemeClr val="tx2"/>
                </a:solidFill>
                <a:latin typeface="Calibri" pitchFamily="34" charset="0"/>
                <a:ea typeface="Calibri" pitchFamily="34" charset="-122"/>
                <a:cs typeface="Calibri" pitchFamily="34" charset="-120"/>
              </a:rPr>
              <a:t>Tiradito Nikkei lidera con S/ 135 945. Los márgenes por categoría van de 62.7 % a 67.8 %: manda el volumen</a:t>
            </a:r>
            <a:endParaRPr lang="en-US" sz="1400" dirty="0"/>
          </a:p>
        </p:txBody>
      </p:sp>
      <p:sp>
        <p:nvSpPr>
          <p:cNvPr id="11" name="Tarjeta P2 · Cuándo reforzar"/>
          <p:cNvSpPr/>
          <p:nvPr/>
        </p:nvSpPr>
        <p:spPr>
          <a:xfrm>
            <a:off x="4251960" y="2011680"/>
            <a:ext cx="3657600" cy="4114800"/>
          </a:xfrm>
          <a:prstGeom prst="roundRect">
            <a:avLst>
              <a:gd name="adj" fmla="val 3000"/>
            </a:avLst>
          </a:prstGeom>
          <a:solidFill>
            <a:schemeClr val="bg2"/>
          </a:solidFill>
          <a:ln w="12700">
            <a:solidFill>
              <a:schemeClr val="bg2"/>
            </a:solidFill>
            <a:prstDash val="solid"/>
          </a:ln>
        </p:spPr>
      </p:sp>
      <p:sp>
        <p:nvSpPr>
          <p:cNvPr id="12" name="Franja P2 · Cuándo reforzar"/>
          <p:cNvSpPr/>
          <p:nvPr/>
        </p:nvSpPr>
        <p:spPr>
          <a:xfrm>
            <a:off x="4251960" y="2011680"/>
            <a:ext cx="3657600" cy="91440"/>
          </a:xfrm>
          <a:prstGeom prst="rect">
            <a:avLst/>
          </a:prstGeom>
          <a:solidFill>
            <a:srgbClr val="1B998B"/>
          </a:solidFill>
          <a:ln w="12700">
            <a:solidFill>
              <a:srgbClr val="1B998B"/>
            </a:solidFill>
            <a:prstDash val="solid"/>
          </a:ln>
        </p:spPr>
      </p:sp>
      <p:sp>
        <p:nvSpPr>
          <p:cNvPr id="13" name="Text 10"/>
          <p:cNvSpPr txBox="1"/>
          <p:nvPr/>
        </p:nvSpPr>
        <p:spPr>
          <a:xfrm>
            <a:off x="4526280" y="2286000"/>
            <a:ext cx="3108960" cy="36576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P2 · Cuándo reforzar</a:t>
            </a:r>
            <a:endParaRPr lang="en-US" sz="1600" dirty="0"/>
          </a:p>
        </p:txBody>
      </p:sp>
      <p:sp>
        <p:nvSpPr>
          <p:cNvPr id="14" name="Text 11"/>
          <p:cNvSpPr txBox="1"/>
          <p:nvPr/>
        </p:nvSpPr>
        <p:spPr>
          <a:xfrm>
            <a:off x="4526280" y="2697480"/>
            <a:ext cx="3108960" cy="868680"/>
          </a:xfrm>
          <a:prstGeom prst="rect">
            <a:avLst/>
          </a:prstGeom>
          <a:noFill/>
          <a:ln/>
        </p:spPr>
        <p:txBody>
          <a:bodyPr wrap="square" lIns="0" tIns="0" rIns="0" bIns="0" rtlCol="0" anchor="ctr"/>
          <a:lstStyle/>
          <a:p>
            <a:pPr marL="0" indent="0">
              <a:buNone/>
            </a:pPr>
            <a:r>
              <a:rPr lang="en-US" sz="5000" b="1" dirty="0">
                <a:solidFill>
                  <a:srgbClr val="1B998B"/>
                </a:solidFill>
                <a:latin typeface="Cambria" pitchFamily="34" charset="0"/>
                <a:ea typeface="Cambria" pitchFamily="34" charset="-122"/>
                <a:cs typeface="Cambria" pitchFamily="34" charset="-120"/>
              </a:rPr>
              <a:t>58.2 %</a:t>
            </a:r>
            <a:endParaRPr lang="en-US" sz="5000" dirty="0"/>
          </a:p>
        </p:txBody>
      </p:sp>
      <p:sp>
        <p:nvSpPr>
          <p:cNvPr id="15" name="Text 12"/>
          <p:cNvSpPr txBox="1"/>
          <p:nvPr/>
        </p:nvSpPr>
        <p:spPr>
          <a:xfrm>
            <a:off x="4526280" y="3611880"/>
            <a:ext cx="3108960" cy="640080"/>
          </a:xfrm>
          <a:prstGeom prst="rect">
            <a:avLst/>
          </a:prstGeom>
          <a:noFill/>
          <a:ln/>
        </p:spPr>
        <p:txBody>
          <a:bodyPr wrap="square" lIns="0" tIns="0" rIns="0" bIns="0" rtlCol="0" anchor="t"/>
          <a:lstStyle/>
          <a:p>
            <a:pPr marL="0" indent="0">
              <a:buNone/>
            </a:pPr>
            <a:r>
              <a:rPr lang="en-US" sz="1500" b="1" dirty="0">
                <a:solidFill>
                  <a:schemeClr val="tx1"/>
                </a:solidFill>
                <a:latin typeface="Calibri" pitchFamily="34" charset="0"/>
                <a:ea typeface="Calibri" pitchFamily="34" charset="-122"/>
                <a:cs typeface="Calibri" pitchFamily="34" charset="-120"/>
              </a:rPr>
              <a:t>de las ventas propias, de viernes a domingo</a:t>
            </a:r>
            <a:endParaRPr lang="en-US" sz="1500" dirty="0"/>
          </a:p>
        </p:txBody>
      </p:sp>
      <p:sp>
        <p:nvSpPr>
          <p:cNvPr id="16" name="Text 13"/>
          <p:cNvSpPr txBox="1"/>
          <p:nvPr/>
        </p:nvSpPr>
        <p:spPr>
          <a:xfrm>
            <a:off x="4526280" y="4389120"/>
            <a:ext cx="3108960" cy="1554480"/>
          </a:xfrm>
          <a:prstGeom prst="rect">
            <a:avLst/>
          </a:prstGeom>
          <a:noFill/>
          <a:ln/>
        </p:spPr>
        <p:txBody>
          <a:bodyPr wrap="square" lIns="0" tIns="0" rIns="0" bIns="0" rtlCol="0" anchor="t"/>
          <a:lstStyle/>
          <a:p>
            <a:pPr marL="0" indent="0">
              <a:buNone/>
            </a:pPr>
            <a:r>
              <a:rPr lang="en-US" sz="1400" dirty="0">
                <a:solidFill>
                  <a:schemeClr val="tx2"/>
                </a:solidFill>
                <a:latin typeface="Calibri" pitchFamily="34" charset="0"/>
                <a:ea typeface="Calibri" pitchFamily="34" charset="-122"/>
                <a:cs typeface="Calibri" pitchFamily="34" charset="-120"/>
              </a:rPr>
              <a:t>El domingo al almuerzo llega a S/ 176 406. De lunes a jueves, tarde y noche son los turnos más débiles</a:t>
            </a:r>
            <a:endParaRPr lang="en-US" sz="1400" dirty="0"/>
          </a:p>
        </p:txBody>
      </p:sp>
      <p:sp>
        <p:nvSpPr>
          <p:cNvPr id="17" name="Tarjeta P3 · Por qué canal"/>
          <p:cNvSpPr/>
          <p:nvPr/>
        </p:nvSpPr>
        <p:spPr>
          <a:xfrm>
            <a:off x="8046720" y="2011680"/>
            <a:ext cx="3657600" cy="4114800"/>
          </a:xfrm>
          <a:prstGeom prst="roundRect">
            <a:avLst>
              <a:gd name="adj" fmla="val 3000"/>
            </a:avLst>
          </a:prstGeom>
          <a:solidFill>
            <a:schemeClr val="bg2"/>
          </a:solidFill>
          <a:ln w="12700">
            <a:solidFill>
              <a:schemeClr val="bg2"/>
            </a:solidFill>
            <a:prstDash val="solid"/>
          </a:ln>
        </p:spPr>
      </p:sp>
      <p:sp>
        <p:nvSpPr>
          <p:cNvPr id="18" name="Franja P3 · Por qué canal"/>
          <p:cNvSpPr/>
          <p:nvPr/>
        </p:nvSpPr>
        <p:spPr>
          <a:xfrm>
            <a:off x="8046720" y="2011680"/>
            <a:ext cx="3657600" cy="91440"/>
          </a:xfrm>
          <a:prstGeom prst="rect">
            <a:avLst/>
          </a:prstGeom>
          <a:solidFill>
            <a:srgbClr val="3D5A80"/>
          </a:solidFill>
          <a:ln w="12700">
            <a:solidFill>
              <a:srgbClr val="3D5A80"/>
            </a:solidFill>
            <a:prstDash val="solid"/>
          </a:ln>
        </p:spPr>
      </p:sp>
      <p:sp>
        <p:nvSpPr>
          <p:cNvPr id="19" name="Text 16"/>
          <p:cNvSpPr txBox="1"/>
          <p:nvPr/>
        </p:nvSpPr>
        <p:spPr>
          <a:xfrm>
            <a:off x="8321040" y="2286000"/>
            <a:ext cx="3108960" cy="365760"/>
          </a:xfrm>
          <a:prstGeom prst="rect">
            <a:avLst/>
          </a:prstGeom>
          <a:noFill/>
          <a:ln/>
        </p:spPr>
        <p:txBody>
          <a:bodyPr wrap="square" lIns="0" tIns="0" rIns="0" bIns="0" rtlCol="0" anchor="t"/>
          <a:lstStyle/>
          <a:p>
            <a:pPr marL="0" indent="0">
              <a:buNone/>
            </a:pPr>
            <a:r>
              <a:rPr lang="en-US" sz="1600" b="1" dirty="0">
                <a:solidFill>
                  <a:schemeClr val="tx2"/>
                </a:solidFill>
                <a:latin typeface="Calibri" pitchFamily="34" charset="0"/>
                <a:ea typeface="Calibri" pitchFamily="34" charset="-122"/>
                <a:cs typeface="Calibri" pitchFamily="34" charset="-120"/>
              </a:rPr>
              <a:t>P3 · Por qué canal</a:t>
            </a:r>
            <a:endParaRPr lang="en-US" sz="1600" dirty="0"/>
          </a:p>
        </p:txBody>
      </p:sp>
      <p:sp>
        <p:nvSpPr>
          <p:cNvPr id="20" name="Text 17"/>
          <p:cNvSpPr txBox="1"/>
          <p:nvPr/>
        </p:nvSpPr>
        <p:spPr>
          <a:xfrm>
            <a:off x="8321040" y="2697480"/>
            <a:ext cx="3108960" cy="868680"/>
          </a:xfrm>
          <a:prstGeom prst="rect">
            <a:avLst/>
          </a:prstGeom>
          <a:noFill/>
          <a:ln/>
        </p:spPr>
        <p:txBody>
          <a:bodyPr wrap="square" lIns="0" tIns="0" rIns="0" bIns="0" rtlCol="0" anchor="ctr"/>
          <a:lstStyle/>
          <a:p>
            <a:pPr marL="0" indent="0">
              <a:buNone/>
            </a:pPr>
            <a:r>
              <a:rPr lang="en-US" sz="5000" b="1" dirty="0">
                <a:solidFill>
                  <a:srgbClr val="3D5A80"/>
                </a:solidFill>
                <a:latin typeface="Cambria" pitchFamily="34" charset="0"/>
                <a:ea typeface="Cambria" pitchFamily="34" charset="-122"/>
                <a:cs typeface="Cambria" pitchFamily="34" charset="-120"/>
              </a:rPr>
              <a:t>21.7 %</a:t>
            </a:r>
            <a:endParaRPr lang="en-US" sz="5000" dirty="0"/>
          </a:p>
        </p:txBody>
      </p:sp>
      <p:sp>
        <p:nvSpPr>
          <p:cNvPr id="21" name="Text 18"/>
          <p:cNvSpPr txBox="1"/>
          <p:nvPr/>
        </p:nvSpPr>
        <p:spPr>
          <a:xfrm>
            <a:off x="8321040" y="3611880"/>
            <a:ext cx="3108960" cy="640080"/>
          </a:xfrm>
          <a:prstGeom prst="rect">
            <a:avLst/>
          </a:prstGeom>
          <a:noFill/>
          <a:ln/>
        </p:spPr>
        <p:txBody>
          <a:bodyPr wrap="square" lIns="0" tIns="0" rIns="0" bIns="0" rtlCol="0" anchor="t"/>
          <a:lstStyle/>
          <a:p>
            <a:pPr marL="0" indent="0">
              <a:buNone/>
            </a:pPr>
            <a:r>
              <a:rPr lang="en-US" sz="1500" b="1" dirty="0">
                <a:solidFill>
                  <a:schemeClr val="tx1"/>
                </a:solidFill>
                <a:latin typeface="Calibri" pitchFamily="34" charset="0"/>
                <a:ea typeface="Calibri" pitchFamily="34" charset="-122"/>
                <a:cs typeface="Calibri" pitchFamily="34" charset="-120"/>
              </a:rPr>
              <a:t>de la venta bruta de las apps se va en comisión</a:t>
            </a:r>
            <a:endParaRPr lang="en-US" sz="1500" dirty="0"/>
          </a:p>
        </p:txBody>
      </p:sp>
      <p:sp>
        <p:nvSpPr>
          <p:cNvPr id="22" name="Text 19"/>
          <p:cNvSpPr txBox="1"/>
          <p:nvPr/>
        </p:nvSpPr>
        <p:spPr>
          <a:xfrm>
            <a:off x="8321040" y="4389120"/>
            <a:ext cx="3108960" cy="1554480"/>
          </a:xfrm>
          <a:prstGeom prst="rect">
            <a:avLst/>
          </a:prstGeom>
          <a:noFill/>
          <a:ln/>
        </p:spPr>
        <p:txBody>
          <a:bodyPr wrap="square" lIns="0" tIns="0" rIns="0" bIns="0" rtlCol="0" anchor="t"/>
          <a:lstStyle/>
          <a:p>
            <a:pPr marL="0" indent="0">
              <a:buNone/>
            </a:pPr>
            <a:r>
              <a:rPr lang="en-US" sz="1400" dirty="0">
                <a:solidFill>
                  <a:schemeClr val="tx2"/>
                </a:solidFill>
                <a:latin typeface="Calibri" pitchFamily="34" charset="0"/>
                <a:ea typeface="Calibri" pitchFamily="34" charset="-122"/>
                <a:cs typeface="Calibri" pitchFamily="34" charset="-120"/>
              </a:rPr>
              <a:t>Las apps aportan 12.2 % de las ventas netas y su margen es 60 %, frente a 65.4 % en canales propios</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1005840"/>
            <a:ext cx="1124712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Estrategias</a:t>
            </a:r>
            <a:endParaRPr lang="en-US" sz="3200" dirty="0"/>
          </a:p>
        </p:txBody>
      </p:sp>
      <p:sp>
        <p:nvSpPr>
          <p:cNvPr id="3" name="Text 1"/>
          <p:cNvSpPr txBox="1"/>
          <p:nvPr/>
        </p:nvSpPr>
        <p:spPr>
          <a:xfrm>
            <a:off x="5760720" y="457200"/>
            <a:ext cx="5943600" cy="274320"/>
          </a:xfrm>
          <a:prstGeom prst="rect">
            <a:avLst/>
          </a:prstGeom>
          <a:noFill/>
          <a:ln/>
        </p:spPr>
        <p:txBody>
          <a:bodyPr wrap="square" lIns="0" tIns="0" rIns="0" bIns="0" rtlCol="0" anchor="t"/>
          <a:lstStyle/>
          <a:p>
            <a:pPr marL="0" indent="0" algn="r">
              <a:buNone/>
            </a:pPr>
            <a:r>
              <a:rPr lang="en-US" sz="1200" b="1" kern="0" spc="200" dirty="0">
                <a:solidFill>
                  <a:schemeClr val="accent1"/>
                </a:solidFill>
                <a:latin typeface="Calibri" pitchFamily="34" charset="0"/>
                <a:ea typeface="Calibri" pitchFamily="34" charset="-122"/>
                <a:cs typeface="Calibri" pitchFamily="34" charset="-120"/>
              </a:rPr>
              <a:t>PARTE 2 · DECIDIR CON DATOS</a:t>
            </a:r>
            <a:endParaRPr lang="en-US" sz="1200" dirty="0"/>
          </a:p>
        </p:txBody>
      </p:sp>
      <p:sp>
        <p:nvSpPr>
          <p:cNvPr id="5" name="Fila estrategia 1"/>
          <p:cNvSpPr/>
          <p:nvPr/>
        </p:nvSpPr>
        <p:spPr>
          <a:xfrm>
            <a:off x="457200" y="1965960"/>
            <a:ext cx="11247120" cy="731520"/>
          </a:xfrm>
          <a:prstGeom prst="roundRect">
            <a:avLst>
              <a:gd name="adj" fmla="val 15000"/>
            </a:avLst>
          </a:prstGeom>
          <a:solidFill>
            <a:schemeClr val="bg2"/>
          </a:solidFill>
          <a:ln w="12700">
            <a:solidFill>
              <a:schemeClr val="bg2"/>
            </a:solidFill>
            <a:prstDash val="solid"/>
          </a:ln>
        </p:spPr>
      </p:sp>
      <p:sp>
        <p:nvSpPr>
          <p:cNvPr id="6" name="Número 1"/>
          <p:cNvSpPr/>
          <p:nvPr/>
        </p:nvSpPr>
        <p:spPr>
          <a:xfrm>
            <a:off x="640080" y="2075688"/>
            <a:ext cx="512064" cy="512064"/>
          </a:xfrm>
          <a:prstGeom prst="ellipse">
            <a:avLst/>
          </a:prstGeom>
          <a:solidFill>
            <a:schemeClr val="accent1"/>
          </a:solidFill>
          <a:ln w="12700">
            <a:solidFill>
              <a:schemeClr val="accent1"/>
            </a:solidFill>
            <a:prstDash val="solid"/>
          </a:ln>
        </p:spPr>
      </p:sp>
      <p:sp>
        <p:nvSpPr>
          <p:cNvPr id="7" name="Text 4"/>
          <p:cNvSpPr txBox="1"/>
          <p:nvPr/>
        </p:nvSpPr>
        <p:spPr>
          <a:xfrm>
            <a:off x="640080" y="2075688"/>
            <a:ext cx="512064" cy="512064"/>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1</a:t>
            </a:r>
            <a:endParaRPr lang="en-US" sz="1800" dirty="0"/>
          </a:p>
        </p:txBody>
      </p:sp>
      <p:sp>
        <p:nvSpPr>
          <p:cNvPr id="8" name="Text 5"/>
          <p:cNvSpPr txBox="1"/>
          <p:nvPr/>
        </p:nvSpPr>
        <p:spPr>
          <a:xfrm>
            <a:off x="1371600" y="1965960"/>
            <a:ext cx="6675120" cy="731520"/>
          </a:xfrm>
          <a:prstGeom prst="rect">
            <a:avLst/>
          </a:prstGeom>
          <a:noFill/>
          <a:ln/>
        </p:spPr>
        <p:txBody>
          <a:bodyPr wrap="square" lIns="0" tIns="0" rIns="0" bIns="0" rtlCol="0" anchor="ctr"/>
          <a:lstStyle/>
          <a:p>
            <a:pPr marL="0" indent="0">
              <a:buNone/>
            </a:pPr>
            <a:r>
              <a:rPr lang="en-US" sz="1800" b="1" dirty="0">
                <a:solidFill>
                  <a:schemeClr val="tx1"/>
                </a:solidFill>
                <a:latin typeface="Calibri" pitchFamily="34" charset="0"/>
                <a:ea typeface="Calibri" pitchFamily="34" charset="-122"/>
                <a:cs typeface="Calibri" pitchFamily="34" charset="-120"/>
              </a:rPr>
              <a:t>Impulsar los ceviches y el Tiradito Nikkei</a:t>
            </a:r>
            <a:endParaRPr lang="en-US" sz="1800" dirty="0"/>
          </a:p>
        </p:txBody>
      </p:sp>
      <p:sp>
        <p:nvSpPr>
          <p:cNvPr id="9" name="Text 6"/>
          <p:cNvSpPr txBox="1"/>
          <p:nvPr/>
        </p:nvSpPr>
        <p:spPr>
          <a:xfrm>
            <a:off x="8138160" y="1965960"/>
            <a:ext cx="3383280" cy="731520"/>
          </a:xfrm>
          <a:prstGeom prst="rect">
            <a:avLst/>
          </a:prstGeom>
          <a:noFill/>
          <a:ln/>
        </p:spPr>
        <p:txBody>
          <a:bodyPr wrap="square" lIns="0" tIns="0" rIns="0" bIns="0" rtlCol="0" anchor="ctr"/>
          <a:lstStyle/>
          <a:p>
            <a:pPr marL="0" indent="0" algn="r">
              <a:buNone/>
            </a:pPr>
            <a:r>
              <a:rPr lang="en-US" sz="1600" b="1" dirty="0">
                <a:solidFill>
                  <a:schemeClr val="accent1"/>
                </a:solidFill>
                <a:latin typeface="Calibri" pitchFamily="34" charset="0"/>
                <a:ea typeface="Calibri" pitchFamily="34" charset="-122"/>
                <a:cs typeface="Calibri" pitchFamily="34" charset="-120"/>
              </a:rPr>
              <a:t>40.1 % de las ventas</a:t>
            </a:r>
            <a:endParaRPr lang="en-US" sz="1600" dirty="0"/>
          </a:p>
        </p:txBody>
      </p:sp>
      <p:sp>
        <p:nvSpPr>
          <p:cNvPr id="10" name="Fila estrategia 2"/>
          <p:cNvSpPr/>
          <p:nvPr/>
        </p:nvSpPr>
        <p:spPr>
          <a:xfrm>
            <a:off x="457200" y="2816352"/>
            <a:ext cx="11247120" cy="731520"/>
          </a:xfrm>
          <a:prstGeom prst="roundRect">
            <a:avLst>
              <a:gd name="adj" fmla="val 15000"/>
            </a:avLst>
          </a:prstGeom>
          <a:solidFill>
            <a:schemeClr val="bg2"/>
          </a:solidFill>
          <a:ln w="12700">
            <a:solidFill>
              <a:schemeClr val="bg2"/>
            </a:solidFill>
            <a:prstDash val="solid"/>
          </a:ln>
        </p:spPr>
      </p:sp>
      <p:sp>
        <p:nvSpPr>
          <p:cNvPr id="11" name="Número 2"/>
          <p:cNvSpPr/>
          <p:nvPr/>
        </p:nvSpPr>
        <p:spPr>
          <a:xfrm>
            <a:off x="640080" y="2926080"/>
            <a:ext cx="512064" cy="512064"/>
          </a:xfrm>
          <a:prstGeom prst="ellipse">
            <a:avLst/>
          </a:prstGeom>
          <a:solidFill>
            <a:schemeClr val="accent1"/>
          </a:solidFill>
          <a:ln w="12700">
            <a:solidFill>
              <a:schemeClr val="accent1"/>
            </a:solidFill>
            <a:prstDash val="solid"/>
          </a:ln>
        </p:spPr>
      </p:sp>
      <p:sp>
        <p:nvSpPr>
          <p:cNvPr id="12" name="Text 9"/>
          <p:cNvSpPr txBox="1"/>
          <p:nvPr/>
        </p:nvSpPr>
        <p:spPr>
          <a:xfrm>
            <a:off x="640080" y="2926080"/>
            <a:ext cx="512064" cy="512064"/>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2</a:t>
            </a:r>
            <a:endParaRPr lang="en-US" sz="1800" dirty="0"/>
          </a:p>
        </p:txBody>
      </p:sp>
      <p:sp>
        <p:nvSpPr>
          <p:cNvPr id="13" name="Text 10"/>
          <p:cNvSpPr txBox="1"/>
          <p:nvPr/>
        </p:nvSpPr>
        <p:spPr>
          <a:xfrm>
            <a:off x="1371600" y="2816352"/>
            <a:ext cx="6675120" cy="731520"/>
          </a:xfrm>
          <a:prstGeom prst="rect">
            <a:avLst/>
          </a:prstGeom>
          <a:noFill/>
          <a:ln/>
        </p:spPr>
        <p:txBody>
          <a:bodyPr wrap="square" lIns="0" tIns="0" rIns="0" bIns="0" rtlCol="0" anchor="ctr"/>
          <a:lstStyle/>
          <a:p>
            <a:pPr marL="0" indent="0">
              <a:buNone/>
            </a:pPr>
            <a:r>
              <a:rPr lang="en-US" sz="1800" b="1" dirty="0">
                <a:solidFill>
                  <a:schemeClr val="tx1"/>
                </a:solidFill>
                <a:latin typeface="Calibri" pitchFamily="34" charset="0"/>
                <a:ea typeface="Calibri" pitchFamily="34" charset="-122"/>
                <a:cs typeface="Calibri" pitchFamily="34" charset="-120"/>
              </a:rPr>
              <a:t>Promociones de lunes a jueves, en la tarde y la noche</a:t>
            </a:r>
            <a:endParaRPr lang="en-US" sz="1800" dirty="0"/>
          </a:p>
        </p:txBody>
      </p:sp>
      <p:sp>
        <p:nvSpPr>
          <p:cNvPr id="14" name="Text 11"/>
          <p:cNvSpPr txBox="1"/>
          <p:nvPr/>
        </p:nvSpPr>
        <p:spPr>
          <a:xfrm>
            <a:off x="8138160" y="2816352"/>
            <a:ext cx="3383280" cy="731520"/>
          </a:xfrm>
          <a:prstGeom prst="rect">
            <a:avLst/>
          </a:prstGeom>
          <a:noFill/>
          <a:ln/>
        </p:spPr>
        <p:txBody>
          <a:bodyPr wrap="square" lIns="0" tIns="0" rIns="0" bIns="0" rtlCol="0" anchor="ctr"/>
          <a:lstStyle/>
          <a:p>
            <a:pPr marL="0" indent="0" algn="r">
              <a:buNone/>
            </a:pPr>
            <a:r>
              <a:rPr lang="en-US" sz="1600" b="1" dirty="0">
                <a:solidFill>
                  <a:schemeClr val="accent1"/>
                </a:solidFill>
                <a:latin typeface="Calibri" pitchFamily="34" charset="0"/>
                <a:ea typeface="Calibri" pitchFamily="34" charset="-122"/>
                <a:cs typeface="Calibri" pitchFamily="34" charset="-120"/>
              </a:rPr>
              <a:t>los turnos más débiles</a:t>
            </a:r>
            <a:endParaRPr lang="en-US" sz="1600" dirty="0"/>
          </a:p>
        </p:txBody>
      </p:sp>
      <p:sp>
        <p:nvSpPr>
          <p:cNvPr id="15" name="Fila estrategia 3"/>
          <p:cNvSpPr/>
          <p:nvPr/>
        </p:nvSpPr>
        <p:spPr>
          <a:xfrm>
            <a:off x="457200" y="3666744"/>
            <a:ext cx="11247120" cy="731520"/>
          </a:xfrm>
          <a:prstGeom prst="roundRect">
            <a:avLst>
              <a:gd name="adj" fmla="val 15000"/>
            </a:avLst>
          </a:prstGeom>
          <a:solidFill>
            <a:schemeClr val="bg2"/>
          </a:solidFill>
          <a:ln w="12700">
            <a:solidFill>
              <a:schemeClr val="bg2"/>
            </a:solidFill>
            <a:prstDash val="solid"/>
          </a:ln>
        </p:spPr>
      </p:sp>
      <p:sp>
        <p:nvSpPr>
          <p:cNvPr id="16" name="Número 3"/>
          <p:cNvSpPr/>
          <p:nvPr/>
        </p:nvSpPr>
        <p:spPr>
          <a:xfrm>
            <a:off x="640080" y="3776472"/>
            <a:ext cx="512064" cy="512064"/>
          </a:xfrm>
          <a:prstGeom prst="ellipse">
            <a:avLst/>
          </a:prstGeom>
          <a:solidFill>
            <a:schemeClr val="accent1"/>
          </a:solidFill>
          <a:ln w="12700">
            <a:solidFill>
              <a:schemeClr val="accent1"/>
            </a:solidFill>
            <a:prstDash val="solid"/>
          </a:ln>
        </p:spPr>
      </p:sp>
      <p:sp>
        <p:nvSpPr>
          <p:cNvPr id="17" name="Text 14"/>
          <p:cNvSpPr txBox="1"/>
          <p:nvPr/>
        </p:nvSpPr>
        <p:spPr>
          <a:xfrm>
            <a:off x="640080" y="3776472"/>
            <a:ext cx="512064" cy="512064"/>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3</a:t>
            </a:r>
            <a:endParaRPr lang="en-US" sz="1800" dirty="0"/>
          </a:p>
        </p:txBody>
      </p:sp>
      <p:sp>
        <p:nvSpPr>
          <p:cNvPr id="18" name="Text 15"/>
          <p:cNvSpPr txBox="1"/>
          <p:nvPr/>
        </p:nvSpPr>
        <p:spPr>
          <a:xfrm>
            <a:off x="1371600" y="3666744"/>
            <a:ext cx="6675120" cy="731520"/>
          </a:xfrm>
          <a:prstGeom prst="rect">
            <a:avLst/>
          </a:prstGeom>
          <a:noFill/>
          <a:ln/>
        </p:spPr>
        <p:txBody>
          <a:bodyPr wrap="square" lIns="0" tIns="0" rIns="0" bIns="0" rtlCol="0" anchor="ctr"/>
          <a:lstStyle/>
          <a:p>
            <a:pPr marL="0" indent="0">
              <a:buNone/>
            </a:pPr>
            <a:r>
              <a:rPr lang="en-US" sz="1800" b="1" dirty="0">
                <a:solidFill>
                  <a:schemeClr val="tx1"/>
                </a:solidFill>
                <a:latin typeface="Calibri" pitchFamily="34" charset="0"/>
                <a:ea typeface="Calibri" pitchFamily="34" charset="-122"/>
                <a:cs typeface="Calibri" pitchFamily="34" charset="-120"/>
              </a:rPr>
              <a:t>Priorizar salón y delivery propio</a:t>
            </a:r>
            <a:endParaRPr lang="en-US" sz="1800" dirty="0"/>
          </a:p>
        </p:txBody>
      </p:sp>
      <p:sp>
        <p:nvSpPr>
          <p:cNvPr id="19" name="Text 16"/>
          <p:cNvSpPr txBox="1"/>
          <p:nvPr/>
        </p:nvSpPr>
        <p:spPr>
          <a:xfrm>
            <a:off x="8138160" y="3666744"/>
            <a:ext cx="3383280" cy="731520"/>
          </a:xfrm>
          <a:prstGeom prst="rect">
            <a:avLst/>
          </a:prstGeom>
          <a:noFill/>
          <a:ln/>
        </p:spPr>
        <p:txBody>
          <a:bodyPr wrap="square" lIns="0" tIns="0" rIns="0" bIns="0" rtlCol="0" anchor="ctr"/>
          <a:lstStyle/>
          <a:p>
            <a:pPr marL="0" indent="0" algn="r">
              <a:buNone/>
            </a:pPr>
            <a:r>
              <a:rPr lang="en-US" sz="1600" b="1" dirty="0">
                <a:solidFill>
                  <a:schemeClr val="accent1"/>
                </a:solidFill>
                <a:latin typeface="Calibri" pitchFamily="34" charset="0"/>
                <a:ea typeface="Calibri" pitchFamily="34" charset="-122"/>
                <a:cs typeface="Calibri" pitchFamily="34" charset="-120"/>
              </a:rPr>
              <a:t>margen 65.4 % frente a 60 %</a:t>
            </a:r>
            <a:endParaRPr lang="en-US" sz="1600" dirty="0"/>
          </a:p>
        </p:txBody>
      </p:sp>
      <p:sp>
        <p:nvSpPr>
          <p:cNvPr id="20" name="Fila estrategia 4"/>
          <p:cNvSpPr/>
          <p:nvPr/>
        </p:nvSpPr>
        <p:spPr>
          <a:xfrm>
            <a:off x="457200" y="4517136"/>
            <a:ext cx="11247120" cy="731520"/>
          </a:xfrm>
          <a:prstGeom prst="roundRect">
            <a:avLst>
              <a:gd name="adj" fmla="val 15000"/>
            </a:avLst>
          </a:prstGeom>
          <a:solidFill>
            <a:schemeClr val="bg2"/>
          </a:solidFill>
          <a:ln w="12700">
            <a:solidFill>
              <a:schemeClr val="bg2"/>
            </a:solidFill>
            <a:prstDash val="solid"/>
          </a:ln>
        </p:spPr>
      </p:sp>
      <p:sp>
        <p:nvSpPr>
          <p:cNvPr id="21" name="Número 4"/>
          <p:cNvSpPr/>
          <p:nvPr/>
        </p:nvSpPr>
        <p:spPr>
          <a:xfrm>
            <a:off x="640080" y="4626864"/>
            <a:ext cx="512064" cy="512064"/>
          </a:xfrm>
          <a:prstGeom prst="ellipse">
            <a:avLst/>
          </a:prstGeom>
          <a:solidFill>
            <a:schemeClr val="accent1"/>
          </a:solidFill>
          <a:ln w="12700">
            <a:solidFill>
              <a:schemeClr val="accent1"/>
            </a:solidFill>
            <a:prstDash val="solid"/>
          </a:ln>
        </p:spPr>
      </p:sp>
      <p:sp>
        <p:nvSpPr>
          <p:cNvPr id="22" name="Text 19"/>
          <p:cNvSpPr txBox="1"/>
          <p:nvPr/>
        </p:nvSpPr>
        <p:spPr>
          <a:xfrm>
            <a:off x="640080" y="4626864"/>
            <a:ext cx="512064" cy="512064"/>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4</a:t>
            </a:r>
            <a:endParaRPr lang="en-US" sz="1800" dirty="0"/>
          </a:p>
        </p:txBody>
      </p:sp>
      <p:sp>
        <p:nvSpPr>
          <p:cNvPr id="23" name="Text 20"/>
          <p:cNvSpPr txBox="1"/>
          <p:nvPr/>
        </p:nvSpPr>
        <p:spPr>
          <a:xfrm>
            <a:off x="1371600" y="4517136"/>
            <a:ext cx="6675120" cy="731520"/>
          </a:xfrm>
          <a:prstGeom prst="rect">
            <a:avLst/>
          </a:prstGeom>
          <a:noFill/>
          <a:ln/>
        </p:spPr>
        <p:txBody>
          <a:bodyPr wrap="square" lIns="0" tIns="0" rIns="0" bIns="0" rtlCol="0" anchor="ctr"/>
          <a:lstStyle/>
          <a:p>
            <a:pPr marL="0" indent="0">
              <a:buNone/>
            </a:pPr>
            <a:r>
              <a:rPr lang="en-US" sz="1800" b="1" dirty="0">
                <a:solidFill>
                  <a:schemeClr val="tx1"/>
                </a:solidFill>
                <a:latin typeface="Calibri" pitchFamily="34" charset="0"/>
                <a:ea typeface="Calibri" pitchFamily="34" charset="-122"/>
                <a:cs typeface="Calibri" pitchFamily="34" charset="-120"/>
              </a:rPr>
              <a:t>Revisar las comisiones de las apps</a:t>
            </a:r>
            <a:endParaRPr lang="en-US" sz="1800" dirty="0"/>
          </a:p>
        </p:txBody>
      </p:sp>
      <p:sp>
        <p:nvSpPr>
          <p:cNvPr id="24" name="Text 21"/>
          <p:cNvSpPr txBox="1"/>
          <p:nvPr/>
        </p:nvSpPr>
        <p:spPr>
          <a:xfrm>
            <a:off x="8138160" y="4517136"/>
            <a:ext cx="3383280" cy="731520"/>
          </a:xfrm>
          <a:prstGeom prst="rect">
            <a:avLst/>
          </a:prstGeom>
          <a:noFill/>
          <a:ln/>
        </p:spPr>
        <p:txBody>
          <a:bodyPr wrap="square" lIns="0" tIns="0" rIns="0" bIns="0" rtlCol="0" anchor="ctr"/>
          <a:lstStyle/>
          <a:p>
            <a:pPr marL="0" indent="0" algn="r">
              <a:buNone/>
            </a:pPr>
            <a:r>
              <a:rPr lang="en-US" sz="1600" b="1" dirty="0">
                <a:solidFill>
                  <a:schemeClr val="accent1"/>
                </a:solidFill>
                <a:latin typeface="Calibri" pitchFamily="34" charset="0"/>
                <a:ea typeface="Calibri" pitchFamily="34" charset="-122"/>
                <a:cs typeface="Calibri" pitchFamily="34" charset="-120"/>
              </a:rPr>
              <a:t>21.7 % de la venta bruta</a:t>
            </a:r>
            <a:endParaRPr lang="en-US" sz="1600" dirty="0"/>
          </a:p>
        </p:txBody>
      </p:sp>
      <p:sp>
        <p:nvSpPr>
          <p:cNvPr id="25" name="Fila estrategia 5"/>
          <p:cNvSpPr/>
          <p:nvPr/>
        </p:nvSpPr>
        <p:spPr>
          <a:xfrm>
            <a:off x="457200" y="5367528"/>
            <a:ext cx="11247120" cy="731520"/>
          </a:xfrm>
          <a:prstGeom prst="roundRect">
            <a:avLst>
              <a:gd name="adj" fmla="val 15000"/>
            </a:avLst>
          </a:prstGeom>
          <a:solidFill>
            <a:schemeClr val="bg2"/>
          </a:solidFill>
          <a:ln w="12700">
            <a:solidFill>
              <a:schemeClr val="bg2"/>
            </a:solidFill>
            <a:prstDash val="solid"/>
          </a:ln>
        </p:spPr>
      </p:sp>
      <p:sp>
        <p:nvSpPr>
          <p:cNvPr id="26" name="Número 5"/>
          <p:cNvSpPr/>
          <p:nvPr/>
        </p:nvSpPr>
        <p:spPr>
          <a:xfrm>
            <a:off x="640080" y="5477256"/>
            <a:ext cx="512064" cy="512064"/>
          </a:xfrm>
          <a:prstGeom prst="ellipse">
            <a:avLst/>
          </a:prstGeom>
          <a:solidFill>
            <a:schemeClr val="accent1"/>
          </a:solidFill>
          <a:ln w="12700">
            <a:solidFill>
              <a:schemeClr val="accent1"/>
            </a:solidFill>
            <a:prstDash val="solid"/>
          </a:ln>
        </p:spPr>
      </p:sp>
      <p:sp>
        <p:nvSpPr>
          <p:cNvPr id="27" name="Text 24"/>
          <p:cNvSpPr txBox="1"/>
          <p:nvPr/>
        </p:nvSpPr>
        <p:spPr>
          <a:xfrm>
            <a:off x="640080" y="5477256"/>
            <a:ext cx="512064" cy="512064"/>
          </a:xfrm>
          <a:prstGeom prst="rect">
            <a:avLst/>
          </a:prstGeom>
          <a:noFill/>
          <a:ln/>
        </p:spPr>
        <p:txBody>
          <a:bodyPr wrap="square" lIns="0" tIns="0" rIns="0" bIns="0" rtlCol="0" anchor="ctr"/>
          <a:lstStyle/>
          <a:p>
            <a:pPr marL="0" indent="0" algn="ctr">
              <a:buNone/>
            </a:pPr>
            <a:r>
              <a:rPr lang="en-US" sz="1800" b="1" dirty="0">
                <a:solidFill>
                  <a:schemeClr val="bg1"/>
                </a:solidFill>
                <a:latin typeface="Calibri" pitchFamily="34" charset="0"/>
                <a:ea typeface="Calibri" pitchFamily="34" charset="-122"/>
                <a:cs typeface="Calibri" pitchFamily="34" charset="-120"/>
              </a:rPr>
              <a:t>5</a:t>
            </a:r>
            <a:endParaRPr lang="en-US" sz="1800" dirty="0"/>
          </a:p>
        </p:txBody>
      </p:sp>
      <p:sp>
        <p:nvSpPr>
          <p:cNvPr id="28" name="Text 25"/>
          <p:cNvSpPr txBox="1"/>
          <p:nvPr/>
        </p:nvSpPr>
        <p:spPr>
          <a:xfrm>
            <a:off x="1371600" y="5367528"/>
            <a:ext cx="6675120" cy="731520"/>
          </a:xfrm>
          <a:prstGeom prst="rect">
            <a:avLst/>
          </a:prstGeom>
          <a:noFill/>
          <a:ln/>
        </p:spPr>
        <p:txBody>
          <a:bodyPr wrap="square" lIns="0" tIns="0" rIns="0" bIns="0" rtlCol="0" anchor="ctr"/>
          <a:lstStyle/>
          <a:p>
            <a:pPr marL="0" indent="0">
              <a:buNone/>
            </a:pPr>
            <a:r>
              <a:rPr lang="en-US" sz="1800" b="1" dirty="0">
                <a:solidFill>
                  <a:schemeClr val="tx1"/>
                </a:solidFill>
                <a:latin typeface="Calibri" pitchFamily="34" charset="0"/>
                <a:ea typeface="Calibri" pitchFamily="34" charset="-122"/>
                <a:cs typeface="Calibri" pitchFamily="34" charset="-120"/>
              </a:rPr>
              <a:t>Reforzar el personal el domingo al almuerzo</a:t>
            </a:r>
            <a:endParaRPr lang="en-US" sz="1800" dirty="0"/>
          </a:p>
        </p:txBody>
      </p:sp>
      <p:sp>
        <p:nvSpPr>
          <p:cNvPr id="29" name="Text 26"/>
          <p:cNvSpPr txBox="1"/>
          <p:nvPr/>
        </p:nvSpPr>
        <p:spPr>
          <a:xfrm>
            <a:off x="8138160" y="5367528"/>
            <a:ext cx="3383280" cy="731520"/>
          </a:xfrm>
          <a:prstGeom prst="rect">
            <a:avLst/>
          </a:prstGeom>
          <a:noFill/>
          <a:ln/>
        </p:spPr>
        <p:txBody>
          <a:bodyPr wrap="square" lIns="0" tIns="0" rIns="0" bIns="0" rtlCol="0" anchor="ctr"/>
          <a:lstStyle/>
          <a:p>
            <a:pPr marL="0" indent="0" algn="r">
              <a:buNone/>
            </a:pPr>
            <a:r>
              <a:rPr lang="en-US" sz="1600" b="1" dirty="0">
                <a:solidFill>
                  <a:schemeClr val="accent1"/>
                </a:solidFill>
                <a:latin typeface="Calibri" pitchFamily="34" charset="0"/>
                <a:ea typeface="Calibri" pitchFamily="34" charset="-122"/>
                <a:cs typeface="Calibri" pitchFamily="34" charset="-120"/>
              </a:rPr>
              <a:t>S/ 176 406 en ese turno</a:t>
            </a:r>
            <a:endParaRPr lang="en-US" sz="1600" dirty="0"/>
          </a:p>
        </p:txBody>
      </p:sp>
      <p:sp>
        <p:nvSpPr>
          <p:cNvPr id="4"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1005840"/>
            <a:ext cx="1124712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SQL Server + MongoDB</a:t>
            </a:r>
            <a:endParaRPr lang="en-US" sz="3200" dirty="0"/>
          </a:p>
        </p:txBody>
      </p:sp>
      <p:sp>
        <p:nvSpPr>
          <p:cNvPr id="3" name="Text 1"/>
          <p:cNvSpPr txBox="1"/>
          <p:nvPr/>
        </p:nvSpPr>
        <p:spPr>
          <a:xfrm>
            <a:off x="5760720" y="457200"/>
            <a:ext cx="5943600" cy="274320"/>
          </a:xfrm>
          <a:prstGeom prst="rect">
            <a:avLst/>
          </a:prstGeom>
          <a:noFill/>
          <a:ln/>
        </p:spPr>
        <p:txBody>
          <a:bodyPr wrap="square" lIns="0" tIns="0" rIns="0" bIns="0" rtlCol="0" anchor="t"/>
          <a:lstStyle/>
          <a:p>
            <a:pPr marL="0" indent="0" algn="r">
              <a:buNone/>
            </a:pPr>
            <a:r>
              <a:rPr lang="en-US" sz="1200" b="1" kern="0" spc="200" dirty="0">
                <a:solidFill>
                  <a:schemeClr val="accent1"/>
                </a:solidFill>
                <a:latin typeface="Calibri" pitchFamily="34" charset="0"/>
                <a:ea typeface="Calibri" pitchFamily="34" charset="-122"/>
                <a:cs typeface="Calibri" pitchFamily="34" charset="-120"/>
              </a:rPr>
              <a:t>PARTE 3 · BIG DATA Y CIERRE</a:t>
            </a:r>
            <a:endParaRPr lang="en-US" sz="1200" dirty="0"/>
          </a:p>
        </p:txBody>
      </p:sp>
      <p:sp>
        <p:nvSpPr>
          <p:cNvPr id="5" name="Text 2"/>
          <p:cNvSpPr txBox="1"/>
          <p:nvPr/>
        </p:nvSpPr>
        <p:spPr>
          <a:xfrm>
            <a:off x="457200" y="1965960"/>
            <a:ext cx="5943600" cy="320040"/>
          </a:xfrm>
          <a:prstGeom prst="rect">
            <a:avLst/>
          </a:prstGeom>
          <a:noFill/>
          <a:ln/>
        </p:spPr>
        <p:txBody>
          <a:bodyPr wrap="square" lIns="0" tIns="0" rIns="0" bIns="0" rtlCol="0" anchor="t"/>
          <a:lstStyle/>
          <a:p>
            <a:pPr marL="0" indent="0">
              <a:buNone/>
            </a:pPr>
            <a:r>
              <a:rPr lang="en-US" sz="1600" b="1" dirty="0">
                <a:solidFill>
                  <a:schemeClr val="tx1"/>
                </a:solidFill>
                <a:latin typeface="Calibri" pitchFamily="34" charset="0"/>
                <a:ea typeface="Calibri" pitchFamily="34" charset="-122"/>
                <a:cs typeface="Calibri" pitchFamily="34" charset="-120"/>
              </a:rPr>
              <a:t>Puntaje ponderado (1 a 5)</a:t>
            </a:r>
            <a:endParaRPr lang="en-US" sz="1600" dirty="0"/>
          </a:p>
        </p:txBody>
      </p:sp>
      <p:graphicFrame>
        <p:nvGraphicFramePr>
          <p:cNvPr id="6" name="Chart 0"/>
          <p:cNvGraphicFramePr/>
          <p:nvPr/>
        </p:nvGraphicFramePr>
        <p:xfrm>
          <a:off x="365760" y="2331720"/>
          <a:ext cx="6035040" cy="3657600"/>
        </p:xfrm>
        <a:graphic>
          <a:graphicData uri="http://schemas.openxmlformats.org/drawingml/2006/chart">
            <c:chart xmlns:c="http://schemas.openxmlformats.org/drawingml/2006/chart" xmlns:r="http://schemas.openxmlformats.org/officeDocument/2006/relationships" r:id="rId3"/>
          </a:graphicData>
        </a:graphic>
      </p:graphicFrame>
      <p:sp>
        <p:nvSpPr>
          <p:cNvPr id="7" name="Criterios"/>
          <p:cNvSpPr/>
          <p:nvPr/>
        </p:nvSpPr>
        <p:spPr>
          <a:xfrm>
            <a:off x="6766560" y="2011680"/>
            <a:ext cx="4937760" cy="1737360"/>
          </a:xfrm>
          <a:prstGeom prst="roundRect">
            <a:avLst>
              <a:gd name="adj" fmla="val 6316"/>
            </a:avLst>
          </a:prstGeom>
          <a:solidFill>
            <a:schemeClr val="bg2"/>
          </a:solidFill>
          <a:ln w="12700">
            <a:solidFill>
              <a:schemeClr val="bg2"/>
            </a:solidFill>
            <a:prstDash val="solid"/>
          </a:ln>
        </p:spPr>
      </p:sp>
      <p:sp>
        <p:nvSpPr>
          <p:cNvPr id="8" name="Text 4"/>
          <p:cNvSpPr txBox="1"/>
          <p:nvPr/>
        </p:nvSpPr>
        <p:spPr>
          <a:xfrm>
            <a:off x="6995160" y="2103120"/>
            <a:ext cx="4572000" cy="320040"/>
          </a:xfrm>
          <a:prstGeom prst="rect">
            <a:avLst/>
          </a:prstGeom>
          <a:noFill/>
          <a:ln/>
        </p:spPr>
        <p:txBody>
          <a:bodyPr wrap="square" lIns="0" tIns="0" rIns="0" bIns="0" rtlCol="0" anchor="t"/>
          <a:lstStyle/>
          <a:p>
            <a:pPr marL="0" indent="0">
              <a:buNone/>
            </a:pPr>
            <a:r>
              <a:rPr lang="en-US" sz="1500" b="1" dirty="0">
                <a:solidFill>
                  <a:schemeClr val="tx1"/>
                </a:solidFill>
                <a:latin typeface="Calibri" pitchFamily="34" charset="0"/>
                <a:ea typeface="Calibri" pitchFamily="34" charset="-122"/>
                <a:cs typeface="Calibri" pitchFamily="34" charset="-120"/>
              </a:rPr>
              <a:t>4 criterios ponderados</a:t>
            </a:r>
            <a:endParaRPr lang="en-US" sz="1500" dirty="0"/>
          </a:p>
        </p:txBody>
      </p:sp>
      <p:sp>
        <p:nvSpPr>
          <p:cNvPr id="9" name="Text 5"/>
          <p:cNvSpPr txBox="1"/>
          <p:nvPr/>
        </p:nvSpPr>
        <p:spPr>
          <a:xfrm>
            <a:off x="6995160" y="2514600"/>
            <a:ext cx="4572000" cy="1097280"/>
          </a:xfrm>
          <a:prstGeom prst="rect">
            <a:avLst/>
          </a:prstGeom>
          <a:noFill/>
          <a:ln/>
        </p:spPr>
        <p:txBody>
          <a:bodyPr wrap="square" lIns="0" tIns="0" rIns="0" bIns="0" rtlCol="0" anchor="t"/>
          <a:lstStyle/>
          <a:p>
            <a:pPr marL="0" indent="0">
              <a:buNone/>
            </a:pPr>
            <a:r>
              <a:rPr lang="en-US" sz="1500" dirty="0">
                <a:solidFill>
                  <a:schemeClr val="tx2"/>
                </a:solidFill>
                <a:latin typeface="Calibri" pitchFamily="34" charset="0"/>
                <a:ea typeface="Calibri" pitchFamily="34" charset="-122"/>
                <a:cs typeface="Calibri" pitchFamily="34" charset="-120"/>
              </a:rPr>
              <a:t>Modelo de datos 25 % · Consistencia 30 %</a:t>
            </a:r>
            <a:endParaRPr lang="en-US" sz="1500" dirty="0"/>
          </a:p>
          <a:p>
            <a:pPr marL="0" indent="0">
              <a:buNone/>
            </a:pPr>
            <a:r>
              <a:rPr lang="en-US" sz="1500" dirty="0">
                <a:solidFill>
                  <a:schemeClr val="tx2"/>
                </a:solidFill>
                <a:latin typeface="Calibri" pitchFamily="34" charset="0"/>
                <a:ea typeface="Calibri" pitchFamily="34" charset="-122"/>
                <a:cs typeface="Calibri" pitchFamily="34" charset="-120"/>
              </a:rPr>
              <a:t>Escalabilidad 20 % · Latencia 25 %</a:t>
            </a:r>
            <a:endParaRPr lang="en-US" sz="1500" dirty="0"/>
          </a:p>
        </p:txBody>
      </p:sp>
      <p:sp>
        <p:nvSpPr>
          <p:cNvPr id="10" name="Decisión"/>
          <p:cNvSpPr/>
          <p:nvPr/>
        </p:nvSpPr>
        <p:spPr>
          <a:xfrm>
            <a:off x="6766560" y="3931920"/>
            <a:ext cx="4937760" cy="2194560"/>
          </a:xfrm>
          <a:prstGeom prst="roundRect">
            <a:avLst>
              <a:gd name="adj" fmla="val 5000"/>
            </a:avLst>
          </a:prstGeom>
          <a:solidFill>
            <a:schemeClr val="tx1"/>
          </a:solidFill>
          <a:ln w="12700">
            <a:solidFill>
              <a:schemeClr val="tx1"/>
            </a:solidFill>
            <a:prstDash val="solid"/>
          </a:ln>
        </p:spPr>
      </p:sp>
      <p:sp>
        <p:nvSpPr>
          <p:cNvPr id="11" name="Text 7"/>
          <p:cNvSpPr txBox="1"/>
          <p:nvPr/>
        </p:nvSpPr>
        <p:spPr>
          <a:xfrm>
            <a:off x="6995160" y="4023360"/>
            <a:ext cx="4572000" cy="365760"/>
          </a:xfrm>
          <a:prstGeom prst="rect">
            <a:avLst/>
          </a:prstGeom>
          <a:noFill/>
          <a:ln/>
        </p:spPr>
        <p:txBody>
          <a:bodyPr wrap="square" lIns="0" tIns="0" rIns="0" bIns="0" rtlCol="0" anchor="t"/>
          <a:lstStyle/>
          <a:p>
            <a:pPr marL="0" indent="0">
              <a:buNone/>
            </a:pPr>
            <a:r>
              <a:rPr lang="en-US" sz="1700" b="1" dirty="0">
                <a:solidFill>
                  <a:schemeClr val="accent1"/>
                </a:solidFill>
                <a:latin typeface="Calibri" pitchFamily="34" charset="0"/>
                <a:ea typeface="Calibri" pitchFamily="34" charset="-122"/>
                <a:cs typeface="Calibri" pitchFamily="34" charset="-120"/>
              </a:rPr>
              <a:t>Decisión: arquitectura híbrida</a:t>
            </a:r>
            <a:endParaRPr lang="en-US" sz="1700" dirty="0"/>
          </a:p>
        </p:txBody>
      </p:sp>
      <p:sp>
        <p:nvSpPr>
          <p:cNvPr id="12" name="Text 8"/>
          <p:cNvSpPr txBox="1"/>
          <p:nvPr/>
        </p:nvSpPr>
        <p:spPr>
          <a:xfrm>
            <a:off x="6995160" y="4480560"/>
            <a:ext cx="4480560" cy="1554480"/>
          </a:xfrm>
          <a:prstGeom prst="rect">
            <a:avLst/>
          </a:prstGeom>
          <a:noFill/>
          <a:ln/>
        </p:spPr>
        <p:txBody>
          <a:bodyPr wrap="square" lIns="0" tIns="0" rIns="0" bIns="0" rtlCol="0" anchor="t"/>
          <a:lstStyle/>
          <a:p>
            <a:pPr marL="0" indent="0">
              <a:buNone/>
            </a:pPr>
            <a:r>
              <a:rPr lang="en-US" sz="1500" dirty="0">
                <a:solidFill>
                  <a:schemeClr val="bg1"/>
                </a:solidFill>
                <a:latin typeface="Calibri" pitchFamily="34" charset="0"/>
                <a:ea typeface="Calibri" pitchFamily="34" charset="-122"/>
                <a:cs typeface="Calibri" pitchFamily="34" charset="-120"/>
              </a:rPr>
              <a:t>SQL Server para ventas, pagos, personal y auditoría. MongoDB para el catálogo y las 5 200 </a:t>
            </a:r>
            <a:r>
              <a:rPr lang="en-US" sz="1500" dirty="0" err="1">
                <a:solidFill>
                  <a:schemeClr val="bg1"/>
                </a:solidFill>
                <a:latin typeface="Calibri" pitchFamily="34" charset="0"/>
                <a:ea typeface="Calibri" pitchFamily="34" charset="-122"/>
                <a:cs typeface="Calibri" pitchFamily="34" charset="-120"/>
              </a:rPr>
              <a:t>reseñas</a:t>
            </a:r>
            <a:r>
              <a:rPr lang="en-US" sz="1500" dirty="0">
                <a:solidFill>
                  <a:schemeClr val="bg1"/>
                </a:solidFill>
                <a:latin typeface="Calibri" pitchFamily="34" charset="0"/>
                <a:ea typeface="Calibri" pitchFamily="34" charset="-122"/>
                <a:cs typeface="Calibri" pitchFamily="34" charset="-120"/>
              </a:rPr>
              <a:t>.</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18</a:t>
            </a:fld>
            <a:endParaRPr lang="en-US"/>
          </a:p>
        </p:txBody>
      </p:sp>
    </p:spTree>
    <p:extLst>
      <p:ext uri="{BB962C8B-B14F-4D97-AF65-F5344CB8AC3E}">
        <p14:creationId xmlns:p14="http://schemas.microsoft.com/office/powerpoint/2010/main" val="22936574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1005840"/>
            <a:ext cx="1124712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Gráfico 1: ventas por día de la semana</a:t>
            </a:r>
            <a:endParaRPr lang="en-US" sz="3200" dirty="0"/>
          </a:p>
        </p:txBody>
      </p:sp>
      <p:sp>
        <p:nvSpPr>
          <p:cNvPr id="3" name="Text 1"/>
          <p:cNvSpPr txBox="1"/>
          <p:nvPr/>
        </p:nvSpPr>
        <p:spPr>
          <a:xfrm>
            <a:off x="5760720" y="457200"/>
            <a:ext cx="5943600" cy="274320"/>
          </a:xfrm>
          <a:prstGeom prst="rect">
            <a:avLst/>
          </a:prstGeom>
          <a:noFill/>
          <a:ln/>
        </p:spPr>
        <p:txBody>
          <a:bodyPr wrap="square" lIns="0" tIns="0" rIns="0" bIns="0" rtlCol="0" anchor="t"/>
          <a:lstStyle/>
          <a:p>
            <a:pPr marL="0" indent="0" algn="r">
              <a:buNone/>
            </a:pPr>
            <a:r>
              <a:rPr lang="en-US" sz="1200" b="1" kern="0" spc="200" dirty="0">
                <a:solidFill>
                  <a:schemeClr val="accent1"/>
                </a:solidFill>
                <a:latin typeface="Calibri" pitchFamily="34" charset="0"/>
                <a:ea typeface="Calibri" pitchFamily="34" charset="-122"/>
                <a:cs typeface="Calibri" pitchFamily="34" charset="-120"/>
              </a:rPr>
              <a:t>PARTE 3 · BIG DATA Y CIERRE</a:t>
            </a:r>
            <a:endParaRPr lang="en-US" sz="1200" dirty="0"/>
          </a:p>
        </p:txBody>
      </p:sp>
      <p:graphicFrame>
        <p:nvGraphicFramePr>
          <p:cNvPr id="5" name="Chart 0"/>
          <p:cNvGraphicFramePr/>
          <p:nvPr/>
        </p:nvGraphicFramePr>
        <p:xfrm>
          <a:off x="457200" y="1920240"/>
          <a:ext cx="749808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6" name="Dato S/ 347 408"/>
          <p:cNvSpPr/>
          <p:nvPr/>
        </p:nvSpPr>
        <p:spPr>
          <a:xfrm>
            <a:off x="8321040" y="2011680"/>
            <a:ext cx="3383280" cy="1920240"/>
          </a:xfrm>
          <a:prstGeom prst="roundRect">
            <a:avLst>
              <a:gd name="adj" fmla="val 5714"/>
            </a:avLst>
          </a:prstGeom>
          <a:solidFill>
            <a:schemeClr val="bg2"/>
          </a:solidFill>
          <a:ln w="12700">
            <a:solidFill>
              <a:schemeClr val="bg2"/>
            </a:solidFill>
            <a:prstDash val="solid"/>
          </a:ln>
        </p:spPr>
      </p:sp>
      <p:sp>
        <p:nvSpPr>
          <p:cNvPr id="7" name="Text 3"/>
          <p:cNvSpPr txBox="1"/>
          <p:nvPr/>
        </p:nvSpPr>
        <p:spPr>
          <a:xfrm>
            <a:off x="8549640" y="2121408"/>
            <a:ext cx="2926080" cy="960120"/>
          </a:xfrm>
          <a:prstGeom prst="rect">
            <a:avLst/>
          </a:prstGeom>
          <a:noFill/>
          <a:ln/>
        </p:spPr>
        <p:txBody>
          <a:bodyPr wrap="square" lIns="0" tIns="0" rIns="0" bIns="0" rtlCol="0" anchor="ctr"/>
          <a:lstStyle/>
          <a:p>
            <a:pPr marL="0" indent="0">
              <a:buNone/>
            </a:pPr>
            <a:r>
              <a:rPr lang="en-US" sz="3000" b="1" dirty="0">
                <a:solidFill>
                  <a:schemeClr val="accent1"/>
                </a:solidFill>
                <a:latin typeface="Cambria" pitchFamily="34" charset="0"/>
                <a:ea typeface="Cambria" pitchFamily="34" charset="-122"/>
                <a:cs typeface="Cambria" pitchFamily="34" charset="-120"/>
              </a:rPr>
              <a:t>S/ 347 408</a:t>
            </a:r>
            <a:endParaRPr lang="en-US" sz="3000" dirty="0"/>
          </a:p>
        </p:txBody>
      </p:sp>
      <p:sp>
        <p:nvSpPr>
          <p:cNvPr id="8" name="Text 4"/>
          <p:cNvSpPr txBox="1"/>
          <p:nvPr/>
        </p:nvSpPr>
        <p:spPr>
          <a:xfrm>
            <a:off x="8549640" y="3081528"/>
            <a:ext cx="2926080" cy="777240"/>
          </a:xfrm>
          <a:prstGeom prst="rect">
            <a:avLst/>
          </a:prstGeom>
          <a:noFill/>
          <a:ln/>
        </p:spPr>
        <p:txBody>
          <a:bodyPr wrap="square" lIns="0" tIns="0" rIns="0" bIns="0" rtlCol="0" anchor="t"/>
          <a:lstStyle/>
          <a:p>
            <a:pPr marL="0" indent="0">
              <a:buNone/>
            </a:pPr>
            <a:r>
              <a:rPr lang="en-US" sz="1400" dirty="0">
                <a:solidFill>
                  <a:schemeClr val="tx2"/>
                </a:solidFill>
                <a:latin typeface="Calibri" pitchFamily="34" charset="0"/>
                <a:ea typeface="Calibri" pitchFamily="34" charset="-122"/>
                <a:cs typeface="Calibri" pitchFamily="34" charset="-120"/>
              </a:rPr>
              <a:t>vende el domingo, más del doble que el promedio de lunes a jueves</a:t>
            </a:r>
            <a:endParaRPr lang="en-US" sz="1400" dirty="0"/>
          </a:p>
        </p:txBody>
      </p:sp>
      <p:sp>
        <p:nvSpPr>
          <p:cNvPr id="9" name="Dato 58.2 %"/>
          <p:cNvSpPr/>
          <p:nvPr/>
        </p:nvSpPr>
        <p:spPr>
          <a:xfrm>
            <a:off x="8321040" y="4114800"/>
            <a:ext cx="3383280" cy="1920240"/>
          </a:xfrm>
          <a:prstGeom prst="roundRect">
            <a:avLst>
              <a:gd name="adj" fmla="val 5714"/>
            </a:avLst>
          </a:prstGeom>
          <a:solidFill>
            <a:schemeClr val="bg2"/>
          </a:solidFill>
          <a:ln w="12700">
            <a:solidFill>
              <a:schemeClr val="bg2"/>
            </a:solidFill>
            <a:prstDash val="solid"/>
          </a:ln>
        </p:spPr>
      </p:sp>
      <p:sp>
        <p:nvSpPr>
          <p:cNvPr id="10" name="Text 6"/>
          <p:cNvSpPr txBox="1"/>
          <p:nvPr/>
        </p:nvSpPr>
        <p:spPr>
          <a:xfrm>
            <a:off x="8549640" y="4224528"/>
            <a:ext cx="2926080" cy="960120"/>
          </a:xfrm>
          <a:prstGeom prst="rect">
            <a:avLst/>
          </a:prstGeom>
          <a:noFill/>
          <a:ln/>
        </p:spPr>
        <p:txBody>
          <a:bodyPr wrap="square" lIns="0" tIns="0" rIns="0" bIns="0" rtlCol="0" anchor="ctr"/>
          <a:lstStyle/>
          <a:p>
            <a:pPr marL="0" indent="0">
              <a:buNone/>
            </a:pPr>
            <a:r>
              <a:rPr lang="en-US" sz="3400" b="1" dirty="0">
                <a:solidFill>
                  <a:schemeClr val="accent2"/>
                </a:solidFill>
                <a:latin typeface="Cambria" pitchFamily="34" charset="0"/>
                <a:ea typeface="Cambria" pitchFamily="34" charset="-122"/>
                <a:cs typeface="Cambria" pitchFamily="34" charset="-120"/>
              </a:rPr>
              <a:t>58.2 %</a:t>
            </a:r>
            <a:endParaRPr lang="en-US" sz="3400" dirty="0"/>
          </a:p>
        </p:txBody>
      </p:sp>
      <p:sp>
        <p:nvSpPr>
          <p:cNvPr id="11" name="Text 7"/>
          <p:cNvSpPr txBox="1"/>
          <p:nvPr/>
        </p:nvSpPr>
        <p:spPr>
          <a:xfrm>
            <a:off x="8549640" y="5184648"/>
            <a:ext cx="2926080" cy="777240"/>
          </a:xfrm>
          <a:prstGeom prst="rect">
            <a:avLst/>
          </a:prstGeom>
          <a:noFill/>
          <a:ln/>
        </p:spPr>
        <p:txBody>
          <a:bodyPr wrap="square" lIns="0" tIns="0" rIns="0" bIns="0" rtlCol="0" anchor="t"/>
          <a:lstStyle/>
          <a:p>
            <a:pPr marL="0" indent="0">
              <a:buNone/>
            </a:pPr>
            <a:r>
              <a:rPr lang="en-US" sz="1400" dirty="0">
                <a:solidFill>
                  <a:schemeClr val="tx2"/>
                </a:solidFill>
                <a:latin typeface="Calibri" pitchFamily="34" charset="0"/>
                <a:ea typeface="Calibri" pitchFamily="34" charset="-122"/>
                <a:cs typeface="Calibri" pitchFamily="34" charset="-120"/>
              </a:rPr>
              <a:t>de las ventas de canales propios, de viernes a domingo</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1005840"/>
            <a:ext cx="11247120" cy="777240"/>
          </a:xfrm>
          <a:prstGeom prst="rect">
            <a:avLst/>
          </a:prstGeom>
          <a:noFill/>
          <a:ln/>
        </p:spPr>
        <p:txBody>
          <a:bodyPr wrap="square" lIns="0" tIns="0" rIns="0" bIns="0" rtlCol="0" anchor="ctr"/>
          <a:lstStyle/>
          <a:p>
            <a:pPr marL="0" indent="0" algn="l">
              <a:buNone/>
            </a:pPr>
            <a:r>
              <a:rPr lang="en-US" sz="3200" b="1" dirty="0" err="1">
                <a:solidFill>
                  <a:schemeClr val="tx1"/>
                </a:solidFill>
                <a:latin typeface="Cambria" pitchFamily="34" charset="0"/>
                <a:ea typeface="Cambria" pitchFamily="34" charset="-122"/>
                <a:cs typeface="Cambria" pitchFamily="34" charset="-120"/>
              </a:rPr>
              <a:t>Gráfico</a:t>
            </a:r>
            <a:r>
              <a:rPr lang="en-US" sz="3200" b="1" dirty="0">
                <a:solidFill>
                  <a:schemeClr val="tx1"/>
                </a:solidFill>
                <a:latin typeface="Cambria" pitchFamily="34" charset="0"/>
                <a:ea typeface="Cambria" pitchFamily="34" charset="-122"/>
                <a:cs typeface="Cambria" pitchFamily="34" charset="-120"/>
              </a:rPr>
              <a:t> 3: </a:t>
            </a:r>
            <a:r>
              <a:rPr lang="en-US" sz="3200" b="1" dirty="0" err="1">
                <a:solidFill>
                  <a:schemeClr val="tx1"/>
                </a:solidFill>
                <a:latin typeface="Cambria" pitchFamily="34" charset="0"/>
                <a:ea typeface="Cambria" pitchFamily="34" charset="-122"/>
                <a:cs typeface="Cambria" pitchFamily="34" charset="-120"/>
              </a:rPr>
              <a:t>ventas</a:t>
            </a:r>
            <a:r>
              <a:rPr lang="en-US" dirty="0"/>
              <a:t> </a:t>
            </a:r>
            <a:r>
              <a:rPr lang="en-US" dirty="0" err="1"/>
              <a:t>por</a:t>
            </a:r>
            <a:r>
              <a:rPr lang="en-US" dirty="0"/>
              <a:t> </a:t>
            </a:r>
            <a:r>
              <a:rPr lang="en-US" sz="3200" b="1" dirty="0" err="1">
                <a:solidFill>
                  <a:schemeClr val="tx1"/>
                </a:solidFill>
                <a:latin typeface="Cambria" pitchFamily="34" charset="0"/>
                <a:ea typeface="Cambria" pitchFamily="34" charset="-122"/>
                <a:cs typeface="Cambria" pitchFamily="34" charset="-120"/>
              </a:rPr>
              <a:t>categoría</a:t>
            </a:r>
            <a:endParaRPr lang="en-US" sz="3200" dirty="0"/>
          </a:p>
        </p:txBody>
      </p:sp>
      <p:sp>
        <p:nvSpPr>
          <p:cNvPr id="3" name="Text 1"/>
          <p:cNvSpPr txBox="1"/>
          <p:nvPr/>
        </p:nvSpPr>
        <p:spPr>
          <a:xfrm>
            <a:off x="5760720" y="457200"/>
            <a:ext cx="5943600" cy="274320"/>
          </a:xfrm>
          <a:prstGeom prst="rect">
            <a:avLst/>
          </a:prstGeom>
          <a:noFill/>
          <a:ln/>
        </p:spPr>
        <p:txBody>
          <a:bodyPr wrap="square" lIns="0" tIns="0" rIns="0" bIns="0" rtlCol="0" anchor="t"/>
          <a:lstStyle/>
          <a:p>
            <a:pPr marL="0" indent="0" algn="r">
              <a:buNone/>
            </a:pPr>
            <a:r>
              <a:rPr lang="en-US" sz="1200" b="1" kern="0" spc="200" dirty="0">
                <a:solidFill>
                  <a:schemeClr val="accent1"/>
                </a:solidFill>
                <a:latin typeface="Calibri" pitchFamily="34" charset="0"/>
                <a:ea typeface="Calibri" pitchFamily="34" charset="-122"/>
                <a:cs typeface="Calibri" pitchFamily="34" charset="-120"/>
              </a:rPr>
              <a:t>PARTE 3 · BIG DATA Y CIERRE</a:t>
            </a:r>
            <a:endParaRPr lang="en-US" sz="1200" dirty="0"/>
          </a:p>
        </p:txBody>
      </p:sp>
      <p:graphicFrame>
        <p:nvGraphicFramePr>
          <p:cNvPr id="5" name="Chart 0"/>
          <p:cNvGraphicFramePr/>
          <p:nvPr>
            <p:extLst>
              <p:ext uri="{D42A27DB-BD31-4B8C-83A1-F6EECF244321}">
                <p14:modId xmlns:p14="http://schemas.microsoft.com/office/powerpoint/2010/main" val="327147360"/>
              </p:ext>
            </p:extLst>
          </p:nvPr>
        </p:nvGraphicFramePr>
        <p:xfrm>
          <a:off x="457200" y="1920240"/>
          <a:ext cx="7498080" cy="4297680"/>
        </p:xfrm>
        <a:graphic>
          <a:graphicData uri="http://schemas.openxmlformats.org/drawingml/2006/chart">
            <c:chart xmlns:c="http://schemas.openxmlformats.org/drawingml/2006/chart" xmlns:r="http://schemas.openxmlformats.org/officeDocument/2006/relationships" r:id="rId3"/>
          </a:graphicData>
        </a:graphic>
      </p:graphicFrame>
      <p:sp>
        <p:nvSpPr>
          <p:cNvPr id="6" name="Dato 23×"/>
          <p:cNvSpPr/>
          <p:nvPr/>
        </p:nvSpPr>
        <p:spPr>
          <a:xfrm>
            <a:off x="8166848" y="2935045"/>
            <a:ext cx="3383280" cy="1554480"/>
          </a:xfrm>
          <a:prstGeom prst="roundRect">
            <a:avLst>
              <a:gd name="adj" fmla="val 7059"/>
            </a:avLst>
          </a:prstGeom>
          <a:solidFill>
            <a:schemeClr val="bg2"/>
          </a:solidFill>
          <a:ln w="12700">
            <a:solidFill>
              <a:schemeClr val="bg2"/>
            </a:solidFill>
            <a:prstDash val="solid"/>
          </a:ln>
        </p:spPr>
        <p:txBody>
          <a:bodyPr/>
          <a:lstStyle/>
          <a:p>
            <a:endParaRPr lang="es-PE" dirty="0"/>
          </a:p>
        </p:txBody>
      </p:sp>
      <p:sp>
        <p:nvSpPr>
          <p:cNvPr id="7" name="Text 3"/>
          <p:cNvSpPr txBox="1"/>
          <p:nvPr/>
        </p:nvSpPr>
        <p:spPr>
          <a:xfrm>
            <a:off x="8519160" y="3012769"/>
            <a:ext cx="3185160" cy="1399032"/>
          </a:xfrm>
          <a:prstGeom prst="rect">
            <a:avLst/>
          </a:prstGeom>
          <a:noFill/>
          <a:ln/>
        </p:spPr>
        <p:txBody>
          <a:bodyPr wrap="square" lIns="0" tIns="0" rIns="0" bIns="0" rtlCol="0" anchor="ctr"/>
          <a:lstStyle/>
          <a:p>
            <a:pPr marL="0" indent="0">
              <a:buNone/>
            </a:pPr>
            <a:r>
              <a:rPr lang="en-US" sz="2800" b="1" dirty="0">
                <a:solidFill>
                  <a:schemeClr val="accent1"/>
                </a:solidFill>
                <a:latin typeface="Cambria" pitchFamily="34" charset="0"/>
                <a:ea typeface="Cambria" pitchFamily="34" charset="-122"/>
              </a:rPr>
              <a:t>Más </a:t>
            </a:r>
            <a:r>
              <a:rPr lang="en-US" sz="2800" b="1" dirty="0" err="1">
                <a:solidFill>
                  <a:schemeClr val="accent1"/>
                </a:solidFill>
                <a:latin typeface="Cambria" pitchFamily="34" charset="0"/>
                <a:ea typeface="Cambria" pitchFamily="34" charset="-122"/>
              </a:rPr>
              <a:t>vendido</a:t>
            </a:r>
            <a:r>
              <a:rPr lang="en-US" sz="2800" b="1" dirty="0">
                <a:solidFill>
                  <a:schemeClr val="accent1"/>
                </a:solidFill>
                <a:latin typeface="Cambria" pitchFamily="34" charset="0"/>
                <a:ea typeface="Cambria" pitchFamily="34" charset="-122"/>
              </a:rPr>
              <a:t>: Ceviche</a:t>
            </a:r>
            <a:endParaRPr lang="en-US" sz="2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20</a:t>
            </a:fld>
            <a:endParaRPr lang="en-US"/>
          </a:p>
        </p:txBody>
      </p:sp>
      <p:pic>
        <p:nvPicPr>
          <p:cNvPr id="13" name="Imagen 12">
            <a:extLst>
              <a:ext uri="{FF2B5EF4-FFF2-40B4-BE49-F238E27FC236}">
                <a16:creationId xmlns:a16="http://schemas.microsoft.com/office/drawing/2014/main" id="{B40A42E8-BC55-0E4A-ECCB-C4AF56F178FE}"/>
              </a:ext>
            </a:extLst>
          </p:cNvPr>
          <p:cNvPicPr>
            <a:picLocks noChangeAspect="1"/>
          </p:cNvPicPr>
          <p:nvPr/>
        </p:nvPicPr>
        <p:blipFill>
          <a:blip r:embed="rId4"/>
          <a:stretch>
            <a:fillRect/>
          </a:stretch>
        </p:blipFill>
        <p:spPr>
          <a:xfrm>
            <a:off x="1111555" y="2423124"/>
            <a:ext cx="6400938" cy="3291911"/>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1005840"/>
            <a:ext cx="11247120" cy="777240"/>
          </a:xfrm>
          <a:prstGeom prst="rect">
            <a:avLst/>
          </a:prstGeom>
          <a:noFill/>
          <a:ln/>
        </p:spPr>
        <p:txBody>
          <a:bodyPr wrap="square" lIns="0" tIns="0" rIns="0" bIns="0" rtlCol="0" anchor="ctr"/>
          <a:lstStyle/>
          <a:p>
            <a:pPr marL="0" indent="0" algn="l">
              <a:buNone/>
            </a:pPr>
            <a:r>
              <a:rPr lang="en-US" sz="3200" b="1" dirty="0" err="1">
                <a:solidFill>
                  <a:schemeClr val="tx1"/>
                </a:solidFill>
                <a:latin typeface="Cambria" pitchFamily="34" charset="0"/>
                <a:ea typeface="Cambria" pitchFamily="34" charset="-122"/>
                <a:cs typeface="Cambria" pitchFamily="34" charset="-120"/>
              </a:rPr>
              <a:t>Gráfico</a:t>
            </a:r>
            <a:r>
              <a:rPr lang="en-US" sz="3200" b="1" dirty="0">
                <a:solidFill>
                  <a:schemeClr val="tx1"/>
                </a:solidFill>
                <a:latin typeface="Cambria" pitchFamily="34" charset="0"/>
                <a:ea typeface="Cambria" pitchFamily="34" charset="-122"/>
                <a:cs typeface="Cambria" pitchFamily="34" charset="-120"/>
              </a:rPr>
              <a:t> 3: reseñas frente a ventas por plato</a:t>
            </a:r>
            <a:endParaRPr lang="en-US" sz="3200" dirty="0"/>
          </a:p>
        </p:txBody>
      </p:sp>
      <p:sp>
        <p:nvSpPr>
          <p:cNvPr id="3" name="Text 1"/>
          <p:cNvSpPr txBox="1"/>
          <p:nvPr/>
        </p:nvSpPr>
        <p:spPr>
          <a:xfrm>
            <a:off x="5760720" y="457200"/>
            <a:ext cx="5943600" cy="274320"/>
          </a:xfrm>
          <a:prstGeom prst="rect">
            <a:avLst/>
          </a:prstGeom>
          <a:noFill/>
          <a:ln/>
        </p:spPr>
        <p:txBody>
          <a:bodyPr wrap="square" lIns="0" tIns="0" rIns="0" bIns="0" rtlCol="0" anchor="t"/>
          <a:lstStyle/>
          <a:p>
            <a:pPr marL="0" indent="0" algn="r">
              <a:buNone/>
            </a:pPr>
            <a:r>
              <a:rPr lang="en-US" sz="1200" b="1" kern="0" spc="200" dirty="0">
                <a:solidFill>
                  <a:schemeClr val="accent1"/>
                </a:solidFill>
                <a:latin typeface="Calibri" pitchFamily="34" charset="0"/>
                <a:ea typeface="Calibri" pitchFamily="34" charset="-122"/>
                <a:cs typeface="Calibri" pitchFamily="34" charset="-120"/>
              </a:rPr>
              <a:t>PARTE 3 · BIG DATA Y CIERRE</a:t>
            </a:r>
            <a:endParaRPr lang="en-US" sz="1200" dirty="0"/>
          </a:p>
        </p:txBody>
      </p:sp>
      <p:pic>
        <p:nvPicPr>
          <p:cNvPr id="5" name="Image 0" descr="Dispersión de puntuación media de reseñas contra ventas por plato"/>
          <p:cNvPicPr>
            <a:picLocks noChangeAspect="1"/>
          </p:cNvPicPr>
          <p:nvPr/>
        </p:nvPicPr>
        <p:blipFill>
          <a:blip r:embed="rId3"/>
          <a:stretch>
            <a:fillRect/>
          </a:stretch>
        </p:blipFill>
        <p:spPr>
          <a:xfrm>
            <a:off x="457200" y="1920240"/>
            <a:ext cx="6766560" cy="4251960"/>
          </a:xfrm>
          <a:prstGeom prst="rect">
            <a:avLst/>
          </a:prstGeom>
        </p:spPr>
      </p:pic>
      <p:sp>
        <p:nvSpPr>
          <p:cNvPr id="6" name="Dato r = 0.66"/>
          <p:cNvSpPr/>
          <p:nvPr/>
        </p:nvSpPr>
        <p:spPr>
          <a:xfrm>
            <a:off x="7589520" y="2011680"/>
            <a:ext cx="4114800" cy="1920240"/>
          </a:xfrm>
          <a:prstGeom prst="roundRect">
            <a:avLst>
              <a:gd name="adj" fmla="val 5714"/>
            </a:avLst>
          </a:prstGeom>
          <a:solidFill>
            <a:schemeClr val="bg2"/>
          </a:solidFill>
          <a:ln w="12700">
            <a:solidFill>
              <a:schemeClr val="bg2"/>
            </a:solidFill>
            <a:prstDash val="solid"/>
          </a:ln>
        </p:spPr>
      </p:sp>
      <p:sp>
        <p:nvSpPr>
          <p:cNvPr id="7" name="Text 3"/>
          <p:cNvSpPr txBox="1"/>
          <p:nvPr/>
        </p:nvSpPr>
        <p:spPr>
          <a:xfrm>
            <a:off x="7818120" y="2121408"/>
            <a:ext cx="3657600" cy="960120"/>
          </a:xfrm>
          <a:prstGeom prst="rect">
            <a:avLst/>
          </a:prstGeom>
          <a:noFill/>
          <a:ln/>
        </p:spPr>
        <p:txBody>
          <a:bodyPr wrap="square" lIns="0" tIns="0" rIns="0" bIns="0" rtlCol="0" anchor="ctr"/>
          <a:lstStyle/>
          <a:p>
            <a:pPr marL="0" indent="0">
              <a:buNone/>
            </a:pPr>
            <a:r>
              <a:rPr lang="en-US" sz="3800" b="1" dirty="0">
                <a:solidFill>
                  <a:schemeClr val="accent1"/>
                </a:solidFill>
                <a:latin typeface="Cambria" pitchFamily="34" charset="0"/>
                <a:ea typeface="Cambria" pitchFamily="34" charset="-122"/>
                <a:cs typeface="Cambria" pitchFamily="34" charset="-120"/>
              </a:rPr>
              <a:t>r = 0.66</a:t>
            </a:r>
            <a:endParaRPr lang="en-US" sz="3800" dirty="0"/>
          </a:p>
        </p:txBody>
      </p:sp>
      <p:sp>
        <p:nvSpPr>
          <p:cNvPr id="8" name="Text 4"/>
          <p:cNvSpPr txBox="1"/>
          <p:nvPr/>
        </p:nvSpPr>
        <p:spPr>
          <a:xfrm>
            <a:off x="7818120" y="3081528"/>
            <a:ext cx="3657600" cy="777240"/>
          </a:xfrm>
          <a:prstGeom prst="rect">
            <a:avLst/>
          </a:prstGeom>
          <a:noFill/>
          <a:ln/>
        </p:spPr>
        <p:txBody>
          <a:bodyPr wrap="square" lIns="0" tIns="0" rIns="0" bIns="0" rtlCol="0" anchor="t"/>
          <a:lstStyle/>
          <a:p>
            <a:pPr marL="0" indent="0">
              <a:buNone/>
            </a:pPr>
            <a:r>
              <a:rPr lang="en-US" sz="1400" dirty="0">
                <a:solidFill>
                  <a:schemeClr val="tx2"/>
                </a:solidFill>
                <a:latin typeface="Calibri" pitchFamily="34" charset="0"/>
                <a:ea typeface="Calibri" pitchFamily="34" charset="-122"/>
                <a:cs typeface="Calibri" pitchFamily="34" charset="-120"/>
              </a:rPr>
              <a:t>correlación entre puntuación de reseñas y ventas por plato</a:t>
            </a:r>
            <a:endParaRPr lang="en-US" sz="1400" dirty="0"/>
          </a:p>
        </p:txBody>
      </p:sp>
      <p:sp>
        <p:nvSpPr>
          <p:cNvPr id="9" name="Lectura"/>
          <p:cNvSpPr/>
          <p:nvPr/>
        </p:nvSpPr>
        <p:spPr>
          <a:xfrm>
            <a:off x="7589520" y="4114800"/>
            <a:ext cx="4114800" cy="1920240"/>
          </a:xfrm>
          <a:prstGeom prst="roundRect">
            <a:avLst>
              <a:gd name="adj" fmla="val 5714"/>
            </a:avLst>
          </a:prstGeom>
          <a:solidFill>
            <a:schemeClr val="bg2"/>
          </a:solidFill>
          <a:ln w="12700">
            <a:solidFill>
              <a:schemeClr val="bg2"/>
            </a:solidFill>
            <a:prstDash val="solid"/>
          </a:ln>
        </p:spPr>
      </p:sp>
      <p:sp>
        <p:nvSpPr>
          <p:cNvPr id="10" name="Text 6"/>
          <p:cNvSpPr txBox="1"/>
          <p:nvPr/>
        </p:nvSpPr>
        <p:spPr>
          <a:xfrm>
            <a:off x="7863840" y="4297680"/>
            <a:ext cx="3566160" cy="1554480"/>
          </a:xfrm>
          <a:prstGeom prst="rect">
            <a:avLst/>
          </a:prstGeom>
          <a:noFill/>
          <a:ln/>
        </p:spPr>
        <p:txBody>
          <a:bodyPr wrap="square" lIns="0" tIns="0" rIns="0" bIns="0" rtlCol="0" anchor="ctr"/>
          <a:lstStyle/>
          <a:p>
            <a:pPr marL="0" indent="0">
              <a:buNone/>
            </a:pPr>
            <a:r>
              <a:rPr lang="en-US" sz="1600" b="1" dirty="0">
                <a:solidFill>
                  <a:schemeClr val="tx1"/>
                </a:solidFill>
                <a:latin typeface="Calibri" pitchFamily="34" charset="0"/>
                <a:ea typeface="Calibri" pitchFamily="34" charset="-122"/>
                <a:cs typeface="Calibri" pitchFamily="34" charset="-120"/>
              </a:rPr>
              <a:t>Spark une el JSON de reseñas con las ventas del Data Warehouse: los platos mejor valorados tienden a vender más</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457200" y="1005840"/>
            <a:ext cx="11247120" cy="777240"/>
          </a:xfrm>
          <a:prstGeom prst="rect">
            <a:avLst/>
          </a:prstGeom>
          <a:noFill/>
          <a:ln/>
        </p:spPr>
        <p:txBody>
          <a:bodyPr wrap="square" lIns="0" tIns="0" rIns="0" bIns="0" rtlCol="0" anchor="ctr"/>
          <a:lstStyle/>
          <a:p>
            <a:pPr marL="0" indent="0" algn="l">
              <a:buNone/>
            </a:pPr>
            <a:r>
              <a:rPr lang="en-US" sz="3200" b="1" dirty="0">
                <a:solidFill>
                  <a:schemeClr val="tx1"/>
                </a:solidFill>
                <a:latin typeface="Cambria" pitchFamily="34" charset="0"/>
                <a:ea typeface="Cambria" pitchFamily="34" charset="-122"/>
                <a:cs typeface="Cambria" pitchFamily="34" charset="-120"/>
              </a:rPr>
              <a:t>Reflexión ética: tres dilemas</a:t>
            </a:r>
            <a:endParaRPr lang="en-US" sz="3200" dirty="0"/>
          </a:p>
        </p:txBody>
      </p:sp>
      <p:sp>
        <p:nvSpPr>
          <p:cNvPr id="3" name="Text 1"/>
          <p:cNvSpPr txBox="1"/>
          <p:nvPr/>
        </p:nvSpPr>
        <p:spPr>
          <a:xfrm>
            <a:off x="5760720" y="457200"/>
            <a:ext cx="5943600" cy="274320"/>
          </a:xfrm>
          <a:prstGeom prst="rect">
            <a:avLst/>
          </a:prstGeom>
          <a:noFill/>
          <a:ln/>
        </p:spPr>
        <p:txBody>
          <a:bodyPr wrap="square" lIns="0" tIns="0" rIns="0" bIns="0" rtlCol="0" anchor="t"/>
          <a:lstStyle/>
          <a:p>
            <a:pPr marL="0" indent="0" algn="r">
              <a:buNone/>
            </a:pPr>
            <a:r>
              <a:rPr lang="en-US" sz="1200" b="1" kern="0" spc="200" dirty="0">
                <a:solidFill>
                  <a:schemeClr val="accent1"/>
                </a:solidFill>
                <a:latin typeface="Calibri" pitchFamily="34" charset="0"/>
                <a:ea typeface="Calibri" pitchFamily="34" charset="-122"/>
                <a:cs typeface="Calibri" pitchFamily="34" charset="-120"/>
              </a:rPr>
              <a:t>PARTE 3 · BIG DATA Y CIERRE</a:t>
            </a:r>
            <a:endParaRPr lang="en-US" sz="1200" dirty="0"/>
          </a:p>
        </p:txBody>
      </p:sp>
      <p:graphicFrame>
        <p:nvGraphicFramePr>
          <p:cNvPr id="24" name="Tabla de dilemas"/>
          <p:cNvGraphicFramePr>
            <a:graphicFrameLocks noGrp="1"/>
          </p:cNvGraphicFramePr>
          <p:nvPr>
            <p:extLst>
              <p:ext uri="{D42A27DB-BD31-4B8C-83A1-F6EECF244321}">
                <p14:modId xmlns:p14="http://schemas.microsoft.com/office/powerpoint/2010/main" val="1579011935"/>
              </p:ext>
            </p:extLst>
          </p:nvPr>
        </p:nvGraphicFramePr>
        <p:xfrm>
          <a:off x="457200" y="1965960"/>
          <a:ext cx="11247120" cy="3127248"/>
        </p:xfrm>
        <a:graphic>
          <a:graphicData uri="http://schemas.openxmlformats.org/drawingml/2006/table">
            <a:tbl>
              <a:tblPr/>
              <a:tblGrid>
                <a:gridCol w="265176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29184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tblGrid>
              <a:tr h="38404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Dilema</a:t>
                      </a:r>
                      <a:endParaRPr lang="en-US" sz="1400" dirty="0">
                        <a:latin typeface="Calibri" charset="0"/>
                        <a:ea typeface="Calibri" charset="0"/>
                        <a:cs typeface="Calibri" charset="0"/>
                      </a:endParaRPr>
                    </a:p>
                  </a:txBody>
                  <a:tcPr marT="36576" marB="36576"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111111"/>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Tensión</a:t>
                      </a:r>
                      <a:endParaRPr lang="en-US" sz="1400" dirty="0">
                        <a:latin typeface="Calibri" charset="0"/>
                        <a:ea typeface="Calibri" charset="0"/>
                        <a:cs typeface="Calibri" charset="0"/>
                      </a:endParaRPr>
                    </a:p>
                  </a:txBody>
                  <a:tcPr marT="36576" marB="36576"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111111"/>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Decisión</a:t>
                      </a:r>
                      <a:endParaRPr lang="en-US" sz="1400" dirty="0">
                        <a:latin typeface="Calibri" charset="0"/>
                        <a:ea typeface="Calibri" charset="0"/>
                        <a:cs typeface="Calibri" charset="0"/>
                      </a:endParaRPr>
                    </a:p>
                  </a:txBody>
                  <a:tcPr marT="36576" marB="36576"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111111"/>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Consecuencia</a:t>
                      </a:r>
                      <a:endParaRPr lang="en-US" sz="1400" dirty="0">
                        <a:latin typeface="Calibri" charset="0"/>
                        <a:ea typeface="Calibri" charset="0"/>
                        <a:cs typeface="Calibri" charset="0"/>
                      </a:endParaRPr>
                    </a:p>
                  </a:txBody>
                  <a:tcPr marT="36576" marB="36576"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solidFill>
                      <a:srgbClr val="111111"/>
                    </a:solidFill>
                  </a:tcPr>
                </a:tc>
                <a:extLst>
                  <a:ext uri="{0D108BD9-81ED-4DB2-BD59-A6C34878D82A}">
                    <a16:rowId xmlns:a16="http://schemas.microsoft.com/office/drawing/2014/main" val="10000"/>
                  </a:ext>
                </a:extLst>
              </a:tr>
              <a:tr h="914400">
                <a:tc>
                  <a:txBody>
                    <a:bodyPr/>
                    <a:lstStyle/>
                    <a:p>
                      <a:pPr marL="0" indent="0">
                        <a:buNone/>
                      </a:pPr>
                      <a:r>
                        <a:rPr lang="en-US" sz="1300" b="1" dirty="0">
                          <a:solidFill>
                            <a:srgbClr val="D7263D"/>
                          </a:solidFill>
                          <a:latin typeface="Calibri" pitchFamily="34" charset="0"/>
                          <a:ea typeface="Calibri" pitchFamily="34" charset="-122"/>
                          <a:cs typeface="Calibri" pitchFamily="34" charset="-120"/>
                        </a:rPr>
                        <a:t>D1 · Utilidad frente a privacidad</a:t>
                      </a:r>
                      <a:endParaRPr lang="en-US" sz="1300" dirty="0">
                        <a:latin typeface="Calibri" charset="0"/>
                        <a:ea typeface="Calibri" charset="0"/>
                        <a:cs typeface="Calibri" charset="0"/>
                      </a:endParaRPr>
                    </a:p>
                  </a:txBody>
                  <a:tcPr marT="36576" marB="36576"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1200" dirty="0">
                          <a:solidFill>
                            <a:srgbClr val="111111"/>
                          </a:solidFill>
                          <a:latin typeface="Calibri" pitchFamily="34" charset="0"/>
                          <a:ea typeface="Calibri" pitchFamily="34" charset="-122"/>
                          <a:cs typeface="Calibri" pitchFamily="34" charset="-120"/>
                        </a:rPr>
                        <a:t>Para saber quién vuelve hay que vincular pedidos con personas</a:t>
                      </a:r>
                      <a:endParaRPr lang="en-US" sz="1200" dirty="0">
                        <a:latin typeface="Calibri" charset="0"/>
                        <a:ea typeface="Calibri" charset="0"/>
                        <a:cs typeface="Calibri" charset="0"/>
                      </a:endParaRPr>
                    </a:p>
                  </a:txBody>
                  <a:tcPr marT="36576" marB="36576"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1200" dirty="0">
                          <a:solidFill>
                            <a:srgbClr val="111111"/>
                          </a:solidFill>
                          <a:latin typeface="Calibri" pitchFamily="34" charset="0"/>
                          <a:ea typeface="Calibri" pitchFamily="34" charset="-122"/>
                          <a:cs typeface="Calibri" pitchFamily="34" charset="-120"/>
                        </a:rPr>
                        <a:t>DNI con hash; sin nombre, correo ni teléfono en el DW</a:t>
                      </a:r>
                      <a:endParaRPr lang="en-US" sz="1200" dirty="0">
                        <a:latin typeface="Calibri" charset="0"/>
                        <a:ea typeface="Calibri" charset="0"/>
                        <a:cs typeface="Calibri" charset="0"/>
                      </a:endParaRPr>
                    </a:p>
                  </a:txBody>
                  <a:tcPr marT="36576" marB="36576"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1200" b="1" dirty="0">
                          <a:solidFill>
                            <a:srgbClr val="1B998B"/>
                          </a:solidFill>
                          <a:latin typeface="Calibri" pitchFamily="34" charset="0"/>
                          <a:ea typeface="Calibri" pitchFamily="34" charset="-122"/>
                          <a:cs typeface="Calibri" pitchFamily="34" charset="-120"/>
                        </a:rPr>
                        <a:t>Protege a 5 468 clientes identificados</a:t>
                      </a:r>
                      <a:endParaRPr lang="en-US" sz="1200" dirty="0">
                        <a:latin typeface="Calibri" charset="0"/>
                        <a:ea typeface="Calibri" charset="0"/>
                        <a:cs typeface="Calibri" charset="0"/>
                      </a:endParaRPr>
                    </a:p>
                  </a:txBody>
                  <a:tcPr marT="36576" marB="36576"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extLst>
                  <a:ext uri="{0D108BD9-81ED-4DB2-BD59-A6C34878D82A}">
                    <a16:rowId xmlns:a16="http://schemas.microsoft.com/office/drawing/2014/main" val="10001"/>
                  </a:ext>
                </a:extLst>
              </a:tr>
              <a:tr h="914400">
                <a:tc>
                  <a:txBody>
                    <a:bodyPr/>
                    <a:lstStyle/>
                    <a:p>
                      <a:pPr marL="0" indent="0">
                        <a:buNone/>
                      </a:pPr>
                      <a:r>
                        <a:rPr lang="en-US" sz="1300" b="1" dirty="0">
                          <a:solidFill>
                            <a:srgbClr val="D7263D"/>
                          </a:solidFill>
                          <a:latin typeface="Calibri" pitchFamily="34" charset="0"/>
                          <a:ea typeface="Calibri" pitchFamily="34" charset="-122"/>
                          <a:cs typeface="Calibri" pitchFamily="34" charset="-120"/>
                        </a:rPr>
                        <a:t>D2 · Sesgo en los indicadores</a:t>
                      </a:r>
                      <a:endParaRPr lang="en-US" sz="1300" dirty="0">
                        <a:latin typeface="Calibri" charset="0"/>
                        <a:ea typeface="Calibri" charset="0"/>
                        <a:cs typeface="Calibri" charset="0"/>
                      </a:endParaRPr>
                    </a:p>
                  </a:txBody>
                  <a:tcPr marT="36576" marB="36576"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1200" dirty="0">
                          <a:solidFill>
                            <a:srgbClr val="111111"/>
                          </a:solidFill>
                          <a:latin typeface="Calibri" pitchFamily="34" charset="0"/>
                          <a:ea typeface="Calibri" pitchFamily="34" charset="-122"/>
                          <a:cs typeface="Calibri" pitchFamily="34" charset="-120"/>
                        </a:rPr>
                        <a:t>El cliente de paso (1 080 pedidos) y 78 fechas imputadas distorsionan la lealtad</a:t>
                      </a:r>
                      <a:endParaRPr lang="en-US" sz="1200" dirty="0">
                        <a:latin typeface="Calibri" charset="0"/>
                        <a:ea typeface="Calibri" charset="0"/>
                        <a:cs typeface="Calibri" charset="0"/>
                      </a:endParaRPr>
                    </a:p>
                  </a:txBody>
                  <a:tcPr marT="36576" marB="36576"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1200" dirty="0">
                          <a:solidFill>
                            <a:srgbClr val="111111"/>
                          </a:solidFill>
                          <a:latin typeface="Calibri" pitchFamily="34" charset="0"/>
                          <a:ea typeface="Calibri" pitchFamily="34" charset="-122"/>
                          <a:cs typeface="Calibri" pitchFamily="34" charset="-120"/>
                        </a:rPr>
                        <a:t>Supuestos declarados, fecha marcada y cliente de paso fuera del KPI</a:t>
                      </a:r>
                      <a:endParaRPr lang="en-US" sz="1200" dirty="0">
                        <a:latin typeface="Calibri" charset="0"/>
                        <a:ea typeface="Calibri" charset="0"/>
                        <a:cs typeface="Calibri" charset="0"/>
                      </a:endParaRPr>
                    </a:p>
                  </a:txBody>
                  <a:tcPr marT="36576" marB="36576"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1200" b="1" dirty="0">
                          <a:solidFill>
                            <a:srgbClr val="1B998B"/>
                          </a:solidFill>
                          <a:latin typeface="Calibri" pitchFamily="34" charset="0"/>
                          <a:ea typeface="Calibri" pitchFamily="34" charset="-122"/>
                          <a:cs typeface="Calibri" pitchFamily="34" charset="-120"/>
                        </a:rPr>
                        <a:t>Decisiones con datos veraces</a:t>
                      </a:r>
                      <a:endParaRPr lang="en-US" sz="1200" dirty="0">
                        <a:latin typeface="Calibri" charset="0"/>
                        <a:ea typeface="Calibri" charset="0"/>
                        <a:cs typeface="Calibri" charset="0"/>
                      </a:endParaRPr>
                    </a:p>
                  </a:txBody>
                  <a:tcPr marT="36576" marB="36576"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extLst>
                  <a:ext uri="{0D108BD9-81ED-4DB2-BD59-A6C34878D82A}">
                    <a16:rowId xmlns:a16="http://schemas.microsoft.com/office/drawing/2014/main" val="10002"/>
                  </a:ext>
                </a:extLst>
              </a:tr>
              <a:tr h="914400">
                <a:tc>
                  <a:txBody>
                    <a:bodyPr/>
                    <a:lstStyle/>
                    <a:p>
                      <a:pPr marL="0" indent="0">
                        <a:buNone/>
                      </a:pPr>
                      <a:r>
                        <a:rPr lang="en-US" sz="1300" b="1" dirty="0">
                          <a:solidFill>
                            <a:srgbClr val="D7263D"/>
                          </a:solidFill>
                          <a:latin typeface="Calibri" pitchFamily="34" charset="0"/>
                          <a:ea typeface="Calibri" pitchFamily="34" charset="-122"/>
                          <a:cs typeface="Calibri" pitchFamily="34" charset="-120"/>
                        </a:rPr>
                        <a:t>D3 · Medición del personal</a:t>
                      </a:r>
                      <a:endParaRPr lang="en-US" sz="1300" dirty="0">
                        <a:latin typeface="Calibri" charset="0"/>
                        <a:ea typeface="Calibri" charset="0"/>
                        <a:cs typeface="Calibri" charset="0"/>
                      </a:endParaRPr>
                    </a:p>
                  </a:txBody>
                  <a:tcPr marT="36576" marB="36576"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1200" dirty="0">
                          <a:solidFill>
                            <a:srgbClr val="111111"/>
                          </a:solidFill>
                          <a:latin typeface="Calibri" pitchFamily="34" charset="0"/>
                          <a:ea typeface="Calibri" pitchFamily="34" charset="-122"/>
                          <a:cs typeface="Calibri" pitchFamily="34" charset="-120"/>
                        </a:rPr>
                        <a:t>Ventas y asistencia podrían usarse para sancionar o vigilar</a:t>
                      </a:r>
                      <a:endParaRPr lang="en-US" sz="1200" dirty="0">
                        <a:latin typeface="Calibri" charset="0"/>
                        <a:ea typeface="Calibri" charset="0"/>
                        <a:cs typeface="Calibri" charset="0"/>
                      </a:endParaRPr>
                    </a:p>
                  </a:txBody>
                  <a:tcPr marT="36576" marB="36576"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1200" dirty="0">
                          <a:solidFill>
                            <a:srgbClr val="111111"/>
                          </a:solidFill>
                          <a:latin typeface="Calibri" pitchFamily="34" charset="0"/>
                          <a:ea typeface="Calibri" pitchFamily="34" charset="-122"/>
                          <a:cs typeface="Calibri" pitchFamily="34" charset="-120"/>
                        </a:rPr>
                        <a:t>El DW no tiene salario ni DNI; log de auditoría inalterable</a:t>
                      </a:r>
                      <a:endParaRPr lang="en-US" sz="1200" dirty="0">
                        <a:latin typeface="Calibri" charset="0"/>
                        <a:ea typeface="Calibri" charset="0"/>
                        <a:cs typeface="Calibri" charset="0"/>
                      </a:endParaRPr>
                    </a:p>
                  </a:txBody>
                  <a:tcPr marT="36576" marB="36576"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tc>
                  <a:txBody>
                    <a:bodyPr/>
                    <a:lstStyle/>
                    <a:p>
                      <a:pPr marL="0" indent="0">
                        <a:buNone/>
                      </a:pPr>
                      <a:r>
                        <a:rPr lang="en-US" sz="1200" b="1" dirty="0">
                          <a:solidFill>
                            <a:srgbClr val="1B998B"/>
                          </a:solidFill>
                          <a:latin typeface="Calibri" pitchFamily="34" charset="0"/>
                          <a:ea typeface="Calibri" pitchFamily="34" charset="-122"/>
                          <a:cs typeface="Calibri" pitchFamily="34" charset="-120"/>
                        </a:rPr>
                        <a:t>Evita sanciones injustas</a:t>
                      </a:r>
                      <a:endParaRPr lang="en-US" sz="1200" dirty="0">
                        <a:latin typeface="Calibri" charset="0"/>
                        <a:ea typeface="Calibri" charset="0"/>
                        <a:cs typeface="Calibri" charset="0"/>
                      </a:endParaRPr>
                    </a:p>
                  </a:txBody>
                  <a:tcPr marT="36576" marB="36576" anchor="ctr">
                    <a:lnL w="6350" cap="flat" cmpd="sng" algn="ctr">
                      <a:solidFill>
                        <a:srgbClr val="E5E5E5"/>
                      </a:solidFill>
                      <a:prstDash val="solid"/>
                      <a:round/>
                      <a:headEnd type="none" w="med" len="med"/>
                      <a:tailEnd type="none" w="med" len="med"/>
                    </a:lnL>
                    <a:lnR w="6350" cap="flat" cmpd="sng" algn="ctr">
                      <a:solidFill>
                        <a:srgbClr val="E5E5E5"/>
                      </a:solidFill>
                      <a:prstDash val="solid"/>
                      <a:round/>
                      <a:headEnd type="none" w="med" len="med"/>
                      <a:tailEnd type="none" w="med" len="med"/>
                    </a:lnR>
                    <a:lnT w="6350" cap="flat" cmpd="sng" algn="ctr">
                      <a:solidFill>
                        <a:srgbClr val="E5E5E5"/>
                      </a:solidFill>
                      <a:prstDash val="solid"/>
                      <a:round/>
                      <a:headEnd type="none" w="med" len="med"/>
                      <a:tailEnd type="none" w="med" len="med"/>
                    </a:lnT>
                    <a:lnB w="6350" cap="flat" cmpd="sng" algn="ctr">
                      <a:solidFill>
                        <a:srgbClr val="E5E5E5"/>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6" name="Si escala a nivel nacional"/>
          <p:cNvSpPr/>
          <p:nvPr/>
        </p:nvSpPr>
        <p:spPr>
          <a:xfrm>
            <a:off x="457200" y="5349240"/>
            <a:ext cx="11247120" cy="868680"/>
          </a:xfrm>
          <a:prstGeom prst="roundRect">
            <a:avLst>
              <a:gd name="adj" fmla="val 12632"/>
            </a:avLst>
          </a:prstGeom>
          <a:solidFill>
            <a:schemeClr val="tx1"/>
          </a:solidFill>
          <a:ln w="12700">
            <a:solidFill>
              <a:schemeClr val="tx1"/>
            </a:solidFill>
            <a:prstDash val="solid"/>
          </a:ln>
        </p:spPr>
      </p:sp>
      <p:sp>
        <p:nvSpPr>
          <p:cNvPr id="7" name="Text 3"/>
          <p:cNvSpPr txBox="1"/>
          <p:nvPr/>
        </p:nvSpPr>
        <p:spPr>
          <a:xfrm>
            <a:off x="731520" y="5349240"/>
            <a:ext cx="10698480" cy="868680"/>
          </a:xfrm>
          <a:prstGeom prst="rect">
            <a:avLst/>
          </a:prstGeom>
          <a:noFill/>
          <a:ln/>
        </p:spPr>
        <p:txBody>
          <a:bodyPr wrap="square" lIns="0" tIns="0" rIns="0" bIns="0" rtlCol="0" anchor="ctr"/>
          <a:lstStyle/>
          <a:p>
            <a:pPr marL="0" indent="0">
              <a:buNone/>
            </a:pPr>
            <a:r>
              <a:rPr lang="en-US" sz="1500" b="1" dirty="0">
                <a:solidFill>
                  <a:schemeClr val="bg1"/>
                </a:solidFill>
                <a:latin typeface="Calibri" pitchFamily="34" charset="0"/>
                <a:ea typeface="Calibri" pitchFamily="34" charset="-122"/>
                <a:cs typeface="Calibri" pitchFamily="34" charset="-120"/>
              </a:rPr>
              <a:t>Si escala a nivel nacional: tokenizar el DNI · inscribir el banco de datos ante la ANPD · umbral mínimo de agregación · auditar sesgos · roles por local</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tx2"/>
                </a:solidFill>
                <a:latin typeface="Calibri"/>
                <a:ea typeface="Calibri"/>
                <a:cs typeface="Calibri"/>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822960" y="1097280"/>
            <a:ext cx="10515600" cy="822960"/>
          </a:xfrm>
          <a:prstGeom prst="rect">
            <a:avLst/>
          </a:prstGeom>
          <a:noFill/>
          <a:ln/>
        </p:spPr>
        <p:txBody>
          <a:bodyPr wrap="square" lIns="0" tIns="0" rIns="0" bIns="0" rtlCol="0" anchor="ctr"/>
          <a:lstStyle/>
          <a:p>
            <a:pPr marL="0" indent="0" algn="l">
              <a:buNone/>
            </a:pPr>
            <a:r>
              <a:rPr lang="en-US" sz="4000" b="1" dirty="0">
                <a:solidFill>
                  <a:schemeClr val="bg1"/>
                </a:solidFill>
                <a:latin typeface="Cambria" pitchFamily="34" charset="0"/>
                <a:ea typeface="Cambria" pitchFamily="34" charset="-122"/>
                <a:cs typeface="Cambria" pitchFamily="34" charset="-120"/>
              </a:rPr>
              <a:t>Conclusiones</a:t>
            </a:r>
            <a:endParaRPr lang="en-US" sz="4000" dirty="0"/>
          </a:p>
        </p:txBody>
      </p:sp>
      <p:sp>
        <p:nvSpPr>
          <p:cNvPr id="4" name="Número conclusión 1"/>
          <p:cNvSpPr/>
          <p:nvPr/>
        </p:nvSpPr>
        <p:spPr>
          <a:xfrm>
            <a:off x="822960" y="2286000"/>
            <a:ext cx="548640" cy="548640"/>
          </a:xfrm>
          <a:prstGeom prst="ellipse">
            <a:avLst/>
          </a:prstGeom>
          <a:solidFill>
            <a:schemeClr val="accent1"/>
          </a:solidFill>
          <a:ln w="12700">
            <a:solidFill>
              <a:schemeClr val="accent1"/>
            </a:solidFill>
            <a:prstDash val="solid"/>
          </a:ln>
        </p:spPr>
      </p:sp>
      <p:sp>
        <p:nvSpPr>
          <p:cNvPr id="5" name="Text 2"/>
          <p:cNvSpPr txBox="1"/>
          <p:nvPr/>
        </p:nvSpPr>
        <p:spPr>
          <a:xfrm>
            <a:off x="822960" y="228600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latin typeface="Calibri" pitchFamily="34" charset="0"/>
                <a:ea typeface="Calibri" pitchFamily="34" charset="-122"/>
                <a:cs typeface="Calibri" pitchFamily="34" charset="-120"/>
              </a:rPr>
              <a:t>1</a:t>
            </a:r>
            <a:endParaRPr lang="en-US" sz="2000" dirty="0"/>
          </a:p>
        </p:txBody>
      </p:sp>
      <p:sp>
        <p:nvSpPr>
          <p:cNvPr id="6" name="Text 3"/>
          <p:cNvSpPr txBox="1"/>
          <p:nvPr/>
        </p:nvSpPr>
        <p:spPr>
          <a:xfrm>
            <a:off x="1600200" y="2240280"/>
            <a:ext cx="4389120" cy="1097280"/>
          </a:xfrm>
          <a:prstGeom prst="rect">
            <a:avLst/>
          </a:prstGeom>
          <a:noFill/>
          <a:ln/>
        </p:spPr>
        <p:txBody>
          <a:bodyPr wrap="square" lIns="0" tIns="0" rIns="0" bIns="0" rtlCol="0" anchor="t"/>
          <a:lstStyle/>
          <a:p>
            <a:pPr marL="0" indent="0">
              <a:buNone/>
            </a:pPr>
            <a:r>
              <a:rPr lang="en-US" sz="1700" dirty="0">
                <a:solidFill>
                  <a:schemeClr val="bg1"/>
                </a:solidFill>
                <a:latin typeface="Calibri" pitchFamily="34" charset="0"/>
                <a:ea typeface="Calibri" pitchFamily="34" charset="-122"/>
                <a:cs typeface="Calibri" pitchFamily="34" charset="-120"/>
              </a:rPr>
              <a:t>Reglas de negocio dentro del motor: 4 procedimientos, 5 triggers y 3 funciones</a:t>
            </a:r>
            <a:endParaRPr lang="en-US" sz="1700" dirty="0"/>
          </a:p>
        </p:txBody>
      </p:sp>
      <p:sp>
        <p:nvSpPr>
          <p:cNvPr id="7" name="Número conclusión 2"/>
          <p:cNvSpPr/>
          <p:nvPr/>
        </p:nvSpPr>
        <p:spPr>
          <a:xfrm>
            <a:off x="6309360" y="2286000"/>
            <a:ext cx="548640" cy="548640"/>
          </a:xfrm>
          <a:prstGeom prst="ellipse">
            <a:avLst/>
          </a:prstGeom>
          <a:solidFill>
            <a:schemeClr val="accent1"/>
          </a:solidFill>
          <a:ln w="12700">
            <a:solidFill>
              <a:schemeClr val="accent1"/>
            </a:solidFill>
            <a:prstDash val="solid"/>
          </a:ln>
        </p:spPr>
      </p:sp>
      <p:sp>
        <p:nvSpPr>
          <p:cNvPr id="8" name="Text 5"/>
          <p:cNvSpPr txBox="1"/>
          <p:nvPr/>
        </p:nvSpPr>
        <p:spPr>
          <a:xfrm>
            <a:off x="6309360" y="228600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latin typeface="Calibri" pitchFamily="34" charset="0"/>
                <a:ea typeface="Calibri" pitchFamily="34" charset="-122"/>
                <a:cs typeface="Calibri" pitchFamily="34" charset="-120"/>
              </a:rPr>
              <a:t>2</a:t>
            </a:r>
            <a:endParaRPr lang="en-US" sz="2000" dirty="0"/>
          </a:p>
        </p:txBody>
      </p:sp>
      <p:sp>
        <p:nvSpPr>
          <p:cNvPr id="9" name="Text 6"/>
          <p:cNvSpPr txBox="1"/>
          <p:nvPr/>
        </p:nvSpPr>
        <p:spPr>
          <a:xfrm>
            <a:off x="7086600" y="2240280"/>
            <a:ext cx="4389120" cy="1097280"/>
          </a:xfrm>
          <a:prstGeom prst="rect">
            <a:avLst/>
          </a:prstGeom>
          <a:noFill/>
          <a:ln/>
        </p:spPr>
        <p:txBody>
          <a:bodyPr wrap="square" lIns="0" tIns="0" rIns="0" bIns="0" rtlCol="0" anchor="t"/>
          <a:lstStyle/>
          <a:p>
            <a:pPr marL="0" indent="0">
              <a:buNone/>
            </a:pPr>
            <a:r>
              <a:rPr lang="en-US" sz="1700" dirty="0">
                <a:solidFill>
                  <a:schemeClr val="bg1"/>
                </a:solidFill>
                <a:latin typeface="Calibri" pitchFamily="34" charset="0"/>
                <a:ea typeface="Calibri" pitchFamily="34" charset="-122"/>
                <a:cs typeface="Calibri" pitchFamily="34" charset="-120"/>
              </a:rPr>
              <a:t>Seis roles, enmascaramiento y respaldo cubren los arts. 8, 9, 11, 16 y 17 de la Ley 29733</a:t>
            </a:r>
            <a:endParaRPr lang="en-US" sz="1700" dirty="0"/>
          </a:p>
        </p:txBody>
      </p:sp>
      <p:sp>
        <p:nvSpPr>
          <p:cNvPr id="10" name="Número conclusión 3"/>
          <p:cNvSpPr/>
          <p:nvPr/>
        </p:nvSpPr>
        <p:spPr>
          <a:xfrm>
            <a:off x="822960" y="3657600"/>
            <a:ext cx="548640" cy="548640"/>
          </a:xfrm>
          <a:prstGeom prst="ellipse">
            <a:avLst/>
          </a:prstGeom>
          <a:solidFill>
            <a:schemeClr val="accent1"/>
          </a:solidFill>
          <a:ln w="12700">
            <a:solidFill>
              <a:schemeClr val="accent1"/>
            </a:solidFill>
            <a:prstDash val="solid"/>
          </a:ln>
        </p:spPr>
      </p:sp>
      <p:sp>
        <p:nvSpPr>
          <p:cNvPr id="11" name="Text 8"/>
          <p:cNvSpPr txBox="1"/>
          <p:nvPr/>
        </p:nvSpPr>
        <p:spPr>
          <a:xfrm>
            <a:off x="822960" y="365760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latin typeface="Calibri" pitchFamily="34" charset="0"/>
                <a:ea typeface="Calibri" pitchFamily="34" charset="-122"/>
                <a:cs typeface="Calibri" pitchFamily="34" charset="-120"/>
              </a:rPr>
              <a:t>3</a:t>
            </a:r>
            <a:endParaRPr lang="en-US" sz="2000" dirty="0"/>
          </a:p>
        </p:txBody>
      </p:sp>
      <p:sp>
        <p:nvSpPr>
          <p:cNvPr id="12" name="Text 9"/>
          <p:cNvSpPr txBox="1"/>
          <p:nvPr/>
        </p:nvSpPr>
        <p:spPr>
          <a:xfrm>
            <a:off x="1600200" y="3611880"/>
            <a:ext cx="4389120" cy="1097280"/>
          </a:xfrm>
          <a:prstGeom prst="rect">
            <a:avLst/>
          </a:prstGeom>
          <a:noFill/>
          <a:ln/>
        </p:spPr>
        <p:txBody>
          <a:bodyPr wrap="square" lIns="0" tIns="0" rIns="0" bIns="0" rtlCol="0" anchor="t"/>
          <a:lstStyle/>
          <a:p>
            <a:pPr marL="0" indent="0">
              <a:buNone/>
            </a:pPr>
            <a:r>
              <a:rPr lang="en-US" sz="1700" dirty="0">
                <a:solidFill>
                  <a:schemeClr val="bg1"/>
                </a:solidFill>
                <a:latin typeface="Calibri" pitchFamily="34" charset="0"/>
                <a:ea typeface="Calibri" pitchFamily="34" charset="-122"/>
                <a:cs typeface="Calibri" pitchFamily="34" charset="-120"/>
              </a:rPr>
              <a:t>Data Warehouse de 40 867 hechos con 11 KPIs y 5 operaciones OLAP</a:t>
            </a:r>
            <a:endParaRPr lang="en-US" sz="1700" dirty="0"/>
          </a:p>
        </p:txBody>
      </p:sp>
      <p:sp>
        <p:nvSpPr>
          <p:cNvPr id="13" name="Número conclusión 4"/>
          <p:cNvSpPr/>
          <p:nvPr/>
        </p:nvSpPr>
        <p:spPr>
          <a:xfrm>
            <a:off x="6309360" y="3657600"/>
            <a:ext cx="548640" cy="548640"/>
          </a:xfrm>
          <a:prstGeom prst="ellipse">
            <a:avLst/>
          </a:prstGeom>
          <a:solidFill>
            <a:schemeClr val="accent1"/>
          </a:solidFill>
          <a:ln w="12700">
            <a:solidFill>
              <a:schemeClr val="accent1"/>
            </a:solidFill>
            <a:prstDash val="solid"/>
          </a:ln>
        </p:spPr>
      </p:sp>
      <p:sp>
        <p:nvSpPr>
          <p:cNvPr id="14" name="Text 11"/>
          <p:cNvSpPr txBox="1"/>
          <p:nvPr/>
        </p:nvSpPr>
        <p:spPr>
          <a:xfrm>
            <a:off x="6309360" y="365760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latin typeface="Calibri" pitchFamily="34" charset="0"/>
                <a:ea typeface="Calibri" pitchFamily="34" charset="-122"/>
                <a:cs typeface="Calibri" pitchFamily="34" charset="-120"/>
              </a:rPr>
              <a:t>4</a:t>
            </a:r>
            <a:endParaRPr lang="en-US" sz="2000" dirty="0"/>
          </a:p>
        </p:txBody>
      </p:sp>
      <p:sp>
        <p:nvSpPr>
          <p:cNvPr id="15" name="Text 12"/>
          <p:cNvSpPr txBox="1"/>
          <p:nvPr/>
        </p:nvSpPr>
        <p:spPr>
          <a:xfrm>
            <a:off x="7086600" y="3611880"/>
            <a:ext cx="4389120" cy="1097280"/>
          </a:xfrm>
          <a:prstGeom prst="rect">
            <a:avLst/>
          </a:prstGeom>
          <a:noFill/>
          <a:ln/>
        </p:spPr>
        <p:txBody>
          <a:bodyPr wrap="square" lIns="0" tIns="0" rIns="0" bIns="0" rtlCol="0" anchor="t"/>
          <a:lstStyle/>
          <a:p>
            <a:pPr marL="0" indent="0">
              <a:buNone/>
            </a:pPr>
            <a:r>
              <a:rPr lang="en-US" sz="1700" dirty="0">
                <a:solidFill>
                  <a:schemeClr val="bg1"/>
                </a:solidFill>
                <a:latin typeface="Calibri" pitchFamily="34" charset="0"/>
                <a:ea typeface="Calibri" pitchFamily="34" charset="-122"/>
                <a:cs typeface="Calibri" pitchFamily="34" charset="-120"/>
              </a:rPr>
              <a:t>Estrategias concretas: ceviches, turnos débiles, canales propios y comisiones</a:t>
            </a:r>
            <a:endParaRPr lang="en-US" sz="1700" dirty="0"/>
          </a:p>
        </p:txBody>
      </p:sp>
      <p:sp>
        <p:nvSpPr>
          <p:cNvPr id="16" name="Número conclusión 5"/>
          <p:cNvSpPr/>
          <p:nvPr/>
        </p:nvSpPr>
        <p:spPr>
          <a:xfrm>
            <a:off x="822960" y="5029200"/>
            <a:ext cx="548640" cy="548640"/>
          </a:xfrm>
          <a:prstGeom prst="ellipse">
            <a:avLst/>
          </a:prstGeom>
          <a:solidFill>
            <a:schemeClr val="accent1"/>
          </a:solidFill>
          <a:ln w="12700">
            <a:solidFill>
              <a:schemeClr val="accent1"/>
            </a:solidFill>
            <a:prstDash val="solid"/>
          </a:ln>
        </p:spPr>
      </p:sp>
      <p:sp>
        <p:nvSpPr>
          <p:cNvPr id="17" name="Text 14"/>
          <p:cNvSpPr txBox="1"/>
          <p:nvPr/>
        </p:nvSpPr>
        <p:spPr>
          <a:xfrm>
            <a:off x="822960" y="502920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latin typeface="Calibri" pitchFamily="34" charset="0"/>
                <a:ea typeface="Calibri" pitchFamily="34" charset="-122"/>
                <a:cs typeface="Calibri" pitchFamily="34" charset="-120"/>
              </a:rPr>
              <a:t>5</a:t>
            </a:r>
            <a:endParaRPr lang="en-US" sz="2000" dirty="0"/>
          </a:p>
        </p:txBody>
      </p:sp>
      <p:sp>
        <p:nvSpPr>
          <p:cNvPr id="18" name="Text 15"/>
          <p:cNvSpPr txBox="1"/>
          <p:nvPr/>
        </p:nvSpPr>
        <p:spPr>
          <a:xfrm>
            <a:off x="1600200" y="4983480"/>
            <a:ext cx="4389120" cy="1097280"/>
          </a:xfrm>
          <a:prstGeom prst="rect">
            <a:avLst/>
          </a:prstGeom>
          <a:noFill/>
          <a:ln/>
        </p:spPr>
        <p:txBody>
          <a:bodyPr wrap="square" lIns="0" tIns="0" rIns="0" bIns="0" rtlCol="0" anchor="t"/>
          <a:lstStyle/>
          <a:p>
            <a:pPr marL="0" indent="0">
              <a:buNone/>
            </a:pPr>
            <a:r>
              <a:rPr lang="en-US" sz="1700" dirty="0">
                <a:solidFill>
                  <a:schemeClr val="bg1"/>
                </a:solidFill>
                <a:latin typeface="Calibri" pitchFamily="34" charset="0"/>
                <a:ea typeface="Calibri" pitchFamily="34" charset="-122"/>
                <a:cs typeface="Calibri" pitchFamily="34" charset="-120"/>
              </a:rPr>
              <a:t>SQL Server con Power BI para hoy; Spark y MongoDB listos para crecer</a:t>
            </a:r>
            <a:endParaRPr lang="en-US" sz="1700" dirty="0"/>
          </a:p>
        </p:txBody>
      </p:sp>
      <p:sp>
        <p:nvSpPr>
          <p:cNvPr id="19" name="Número conclusión 6"/>
          <p:cNvSpPr/>
          <p:nvPr/>
        </p:nvSpPr>
        <p:spPr>
          <a:xfrm>
            <a:off x="6309360" y="5029200"/>
            <a:ext cx="548640" cy="548640"/>
          </a:xfrm>
          <a:prstGeom prst="ellipse">
            <a:avLst/>
          </a:prstGeom>
          <a:solidFill>
            <a:schemeClr val="accent1"/>
          </a:solidFill>
          <a:ln w="12700">
            <a:solidFill>
              <a:schemeClr val="accent1"/>
            </a:solidFill>
            <a:prstDash val="solid"/>
          </a:ln>
        </p:spPr>
      </p:sp>
      <p:sp>
        <p:nvSpPr>
          <p:cNvPr id="20" name="Text 17"/>
          <p:cNvSpPr txBox="1"/>
          <p:nvPr/>
        </p:nvSpPr>
        <p:spPr>
          <a:xfrm>
            <a:off x="6309360" y="5029200"/>
            <a:ext cx="548640" cy="548640"/>
          </a:xfrm>
          <a:prstGeom prst="rect">
            <a:avLst/>
          </a:prstGeom>
          <a:noFill/>
          <a:ln/>
        </p:spPr>
        <p:txBody>
          <a:bodyPr wrap="square" lIns="0" tIns="0" rIns="0" bIns="0" rtlCol="0" anchor="ctr"/>
          <a:lstStyle/>
          <a:p>
            <a:pPr marL="0" indent="0" algn="ctr">
              <a:buNone/>
            </a:pPr>
            <a:r>
              <a:rPr lang="en-US" sz="2000" b="1" dirty="0">
                <a:solidFill>
                  <a:schemeClr val="bg1"/>
                </a:solidFill>
                <a:latin typeface="Calibri" pitchFamily="34" charset="0"/>
                <a:ea typeface="Calibri" pitchFamily="34" charset="-122"/>
                <a:cs typeface="Calibri" pitchFamily="34" charset="-120"/>
              </a:rPr>
              <a:t>6</a:t>
            </a:r>
            <a:endParaRPr lang="en-US" sz="2000" dirty="0"/>
          </a:p>
        </p:txBody>
      </p:sp>
      <p:sp>
        <p:nvSpPr>
          <p:cNvPr id="21" name="Text 18"/>
          <p:cNvSpPr txBox="1"/>
          <p:nvPr/>
        </p:nvSpPr>
        <p:spPr>
          <a:xfrm>
            <a:off x="7086600" y="4983480"/>
            <a:ext cx="4389120" cy="1097280"/>
          </a:xfrm>
          <a:prstGeom prst="rect">
            <a:avLst/>
          </a:prstGeom>
          <a:noFill/>
          <a:ln/>
        </p:spPr>
        <p:txBody>
          <a:bodyPr wrap="square" lIns="0" tIns="0" rIns="0" bIns="0" rtlCol="0" anchor="t"/>
          <a:lstStyle/>
          <a:p>
            <a:pPr marL="0" indent="0">
              <a:buNone/>
            </a:pPr>
            <a:r>
              <a:rPr lang="en-US" sz="1700" dirty="0">
                <a:solidFill>
                  <a:schemeClr val="bg1"/>
                </a:solidFill>
                <a:latin typeface="Calibri" pitchFamily="34" charset="0"/>
                <a:ea typeface="Calibri" pitchFamily="34" charset="-122"/>
                <a:cs typeface="Calibri" pitchFamily="34" charset="-120"/>
              </a:rPr>
              <a:t>Tres dilemas éticos resueltos con criterios claros</a:t>
            </a:r>
            <a:endParaRPr lang="en-US" sz="17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3" name="Text 0"/>
          <p:cNvSpPr>
            <a:spLocks noGrp="1"/>
          </p:cNvSpPr>
          <p:nvPr>
            <p:ph type="title" idx="101" hasCustomPrompt="1"/>
          </p:nvPr>
        </p:nvSpPr>
        <p:spPr>
          <a:xfrm>
            <a:off x="822960" y="2468880"/>
            <a:ext cx="10515600" cy="1737360"/>
          </a:xfrm>
          <a:prstGeom prst="rect">
            <a:avLst/>
          </a:prstGeom>
          <a:noFill/>
          <a:ln/>
        </p:spPr>
        <p:txBody>
          <a:bodyPr wrap="square" lIns="0" tIns="0" rIns="0" bIns="0" rtlCol="0" anchor="t"/>
          <a:lstStyle/>
          <a:p>
            <a:pPr marL="0" indent="0" algn="ctr">
              <a:buNone/>
            </a:pPr>
            <a:r>
              <a:rPr lang="en-US" sz="4400" b="1" dirty="0">
                <a:solidFill>
                  <a:schemeClr val="bg1"/>
                </a:solidFill>
                <a:latin typeface="Cambria" pitchFamily="34" charset="0"/>
                <a:ea typeface="Cambria" pitchFamily="34" charset="-122"/>
                <a:cs typeface="Cambria" pitchFamily="34" charset="-120"/>
              </a:rPr>
              <a:t>Gracias</a:t>
            </a:r>
            <a:endParaRPr lang="en-US" sz="4400" dirty="0"/>
          </a:p>
        </p:txBody>
      </p:sp>
      <p:sp>
        <p:nvSpPr>
          <p:cNvPr id="6" name="Text 3"/>
          <p:cNvSpPr txBox="1"/>
          <p:nvPr/>
        </p:nvSpPr>
        <p:spPr>
          <a:xfrm>
            <a:off x="822960" y="5029200"/>
            <a:ext cx="10058400" cy="457200"/>
          </a:xfrm>
          <a:prstGeom prst="rect">
            <a:avLst/>
          </a:prstGeom>
          <a:noFill/>
          <a:ln/>
        </p:spPr>
        <p:txBody>
          <a:bodyPr wrap="square" lIns="0" tIns="0" rIns="0" bIns="0" rtlCol="0" anchor="t"/>
          <a:lstStyle/>
          <a:p>
            <a:pPr marL="0" indent="0">
              <a:buNone/>
            </a:pPr>
            <a:r>
              <a:rPr lang="en-US" sz="1600" dirty="0">
                <a:solidFill>
                  <a:schemeClr val="accent3"/>
                </a:solidFill>
                <a:latin typeface="Calibri" pitchFamily="34" charset="0"/>
                <a:ea typeface="Calibri" pitchFamily="34" charset="-122"/>
                <a:cs typeface="Calibri" pitchFamily="34" charset="-120"/>
              </a:rPr>
              <a:t>Grupo 3 · CIIN1021P · Universidad Privada del Norte</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chemeClr val="accent3"/>
                </a:solidFill>
                <a:latin typeface="Calibri"/>
                <a:ea typeface="Calibri"/>
                <a:cs typeface="Calibri"/>
              </a:defRPr>
            </a:lvl1pPr>
          </a:lstStyle>
          <a:p>
            <a:pPr algn="r"/>
            <a:fld id="{F7021451-1387-4CA6-816F-3879F97B5CBC}" type="slidenum">
              <a:rPr lang="en-US" b="0"/>
              <a:t>24</a:t>
            </a:fld>
            <a:endParaRPr lang="en-US"/>
          </a:p>
        </p:txBody>
      </p:sp>
    </p:spTree>
  </p:cSld>
  <p:clrMapOvr>
    <a:masterClrMapping/>
  </p:clrMapOvr>
</p:sld>
</file>

<file path=ppt/theme/theme1.xml><?xml version="1.0" encoding="utf-8"?>
<a:theme xmlns:a="http://schemas.openxmlformats.org/drawingml/2006/main" name="UPN Cevicheria 2">
  <a:themeElements>
    <a:clrScheme name="UPN Cevicheria 2">
      <a:dk1>
        <a:srgbClr val="111111"/>
      </a:dk1>
      <a:lt1>
        <a:srgbClr val="FFFFFF"/>
      </a:lt1>
      <a:dk2>
        <a:srgbClr val="5A5A5A"/>
      </a:dk2>
      <a:lt2>
        <a:srgbClr val="F2F2F2"/>
      </a:lt2>
      <a:accent1>
        <a:srgbClr val="D7263D"/>
      </a:accent1>
      <a:accent2>
        <a:srgbClr val="1B998B"/>
      </a:accent2>
      <a:accent3>
        <a:srgbClr val="8C8C8C"/>
      </a:accent3>
      <a:accent4>
        <a:srgbClr val="111111"/>
      </a:accent4>
      <a:accent5>
        <a:srgbClr val="F4A261"/>
      </a:accent5>
      <a:accent6>
        <a:srgbClr val="3D5A80"/>
      </a:accent6>
      <a:hlink>
        <a:srgbClr val="D7263D"/>
      </a:hlink>
      <a:folHlink>
        <a:srgbClr val="5A5A5A"/>
      </a:folHlink>
    </a:clrScheme>
    <a:fontScheme name="UPN Cevicheria 2">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178</TotalTime>
  <Words>4528</Words>
  <Application>Microsoft Office PowerPoint</Application>
  <PresentationFormat>Panorámica</PresentationFormat>
  <Paragraphs>411</Paragraphs>
  <Slides>24</Slides>
  <Notes>24</Notes>
  <HiddenSlides>0</HiddenSlides>
  <MMClips>0</MMClips>
  <ScaleCrop>false</ScaleCrop>
  <HeadingPairs>
    <vt:vector size="6" baseType="variant">
      <vt:variant>
        <vt:lpstr>Fuentes usadas</vt:lpstr>
      </vt:variant>
      <vt:variant>
        <vt:i4>3</vt:i4>
      </vt:variant>
      <vt:variant>
        <vt:lpstr>Tema</vt:lpstr>
      </vt:variant>
      <vt:variant>
        <vt:i4>1</vt:i4>
      </vt:variant>
      <vt:variant>
        <vt:lpstr>Títulos de diapositiva</vt:lpstr>
      </vt:variant>
      <vt:variant>
        <vt:i4>24</vt:i4>
      </vt:variant>
    </vt:vector>
  </HeadingPairs>
  <TitlesOfParts>
    <vt:vector size="28" baseType="lpstr">
      <vt:lpstr>Arial</vt:lpstr>
      <vt:lpstr>Calibri</vt:lpstr>
      <vt:lpstr>Cambria</vt:lpstr>
      <vt:lpstr>UPN Cevicheria 2</vt:lpstr>
      <vt:lpstr>Base de datos integrada para la cevichería La Esquina</vt:lpstr>
      <vt:lpstr>La organización y el problema</vt:lpstr>
      <vt:lpstr>Objetivo general</vt:lpstr>
      <vt:lpstr>Objetivos específicos</vt:lpstr>
      <vt:lpstr>Los datos</vt:lpstr>
      <vt:lpstr>Problemas de calidad detectados</vt:lpstr>
      <vt:lpstr>Modelo entidad-relación</vt:lpstr>
      <vt:lpstr>Automatización en SQL Server</vt:lpstr>
      <vt:lpstr>Seguridad</vt:lpstr>
      <vt:lpstr>Riesgos y mitigación</vt:lpstr>
      <vt:lpstr>Objetivo de toma de decisiones</vt:lpstr>
      <vt:lpstr>Data Warehouse en estrella</vt:lpstr>
      <vt:lpstr>Métricas: 11 KPIs gobernados</vt:lpstr>
      <vt:lpstr>Dashboard en Power BI</vt:lpstr>
      <vt:lpstr>Análisis OLAP: 5 operaciones</vt:lpstr>
      <vt:lpstr>Conclusiones del dashboard</vt:lpstr>
      <vt:lpstr>Estrategias</vt:lpstr>
      <vt:lpstr>SQL Server + MongoDB</vt:lpstr>
      <vt:lpstr>Gráfico 1: ventas por día de la semana</vt:lpstr>
      <vt:lpstr>Gráfico 3: ventas por categoría</vt:lpstr>
      <vt:lpstr>Gráfico 3: reseñas frente a ventas por plato</vt:lpstr>
      <vt:lpstr>Reflexión ética: tres dilemas</vt:lpstr>
      <vt:lpstr>Conclusiones</vt:lpstr>
      <vt:lpstr>Gracias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Sustentación final: base de datos integrada para la cevichería La Esquina</dc:title>
  <dc:subject>PptxGenJS Presentation</dc:subject>
  <dc:creator>Grupo 3</dc:creator>
  <cp:lastModifiedBy>Elmer Lizandro Vasquez Marin</cp:lastModifiedBy>
  <cp:revision>9</cp:revision>
  <dcterms:created xsi:type="dcterms:W3CDTF">2026-10-05T22:54:11Z</dcterms:created>
  <dcterms:modified xsi:type="dcterms:W3CDTF">2026-10-06T03:48:35Z</dcterms:modified>
</cp:coreProperties>
</file>